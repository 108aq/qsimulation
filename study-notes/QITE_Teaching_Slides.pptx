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teaches normalized imaginary-time evolution, the local-unitary QITE construction, and a fair comparison with a specified quantum Krylov method. It accompanies a longer PDF with derivations, a self-contained LaTeX source, and a reproducible Python script. The sequence is designed for someone comfortable with basic matrix algebra. None of the numerical examples is a hardware experiment. The deck does not assume the exact setup of the colleague’s Krylov project.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deck in three passes. First understand why normalized imaginary time is a ground-state filter. Next understand the first-order tangent fit and verify the one-qubit sign convention. Finally inspect the toy model and the molecular example before designing a hardware experiment. The main question is not merely whether an energy decreases. Ask which directions the pool permits, which data determine those directions, and which resources the experiment actually spends.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quantum state is a normalized complex vector. The computational basis is the basis in which circuits normally prepare and measure qubits; it is not generally the energy eigenbasis. A Hermitian Hamiltonian has real eigenvalues. The goal is the lowest eigenvalue within the chosen physical sector, not automatically the lowest eigenvalue across all particle-number sectors. Pauli strings are tensor products of I, X, Y, and Z, and form a basis for qubit operators.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Molecular energy estimation requires fixing a geometry, orbital basis, electron count, spin sector, and any active-space approximation. A Hartree–Fock determinant is a natural initial state, but its overlap with the target must not be assumed to be universally good. The qubit Hamiltonian contains the information to be measured. Preparing a ground-state circuit and merely extracting a low-energy estimate are different output tasks; this distinction becomes important for Krylov methods.
[6] Google Quantum AI: OpenFermion electronic-structure tutorial (accessed 8 Oct 2026).
https://quantumai.google/openfermion/tutorials/intro_workshop_exercises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the state in the Hamiltonian eigenbasis. Under real time each amplitude is multiplied by a complex number of unit magnitude, so the populations remain fixed. Imaginary time uses real exponential weights. Do not say that every weight shrinks: a negative energy produces a growing weight. What matters is suppression relative to a lower-energy component, followed by normalization. Real-time states can still be useful as a Krylov basis even though their individual energy populations are unchanged.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expression exp(-tau H)|psi0&gt; is an unnormalized vector. Its norm may grow or shrink. A physical state is obtained by dividing by the norm, giving the displayed formula. Squaring the amplitudes explains why the population weights contain twice the exponent. This normalization is not a minor cosmetic correction: it makes the state transformation nonlinear as a map on arbitrary input vectors.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analytic plot uses H=Z and the initial plus state. Here |1&gt; has energy -1 and is the ground state; |0&gt; has energy +1. Initially both populations equal one half. The ground population becomes 1/(1+exp(-4 tau)). This is a derived mathematical curve, not measurement data. The associated energy is -tanh(2 tau). It is a useful test because every sign and normalization factor can be checked by hand.
Original calculation for this guide. Exact statevectors; no device noise, shots, or gate-synthesis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state must contain a component in the desired ground eigenspace. Exact imaginary time cannot create a missing spectral component. A smaller gap slows filtering, and a smaller initial ground population worsens the bound shown. With a degenerate ground space, the limit is the normalized initial projection into that space. The normalized state is unchanged by an energy shift. These statements describe exact filtering, not a generic efficiency guarantee for practical QITE.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deterministic closed-system circuit is unitary and preserves every norm and inner product. The imaginary-time filter does not have that property for a generic Hamiltonian. Normalizing it does not fix the operator issue, because normalization depends on the input. Ancillas and conditioned measurements can implement non-unitary transformations on a subsystem, but this introduces success probabilities and overhead. The local-unitary QITE method studied here takes another route.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specified normalized input and a specified normalized target, some unitary connects them. This is a state-to-state existence statement, not an efficient construction. QITE fits a useful approximate unitary by measuring the current state and restricting the generator to a manageable pool or domain. Once the state changes, its fitted generator generally changes. The equation should never be read as an operator identity U≈exp(-dt H).
[1] Motta et al., Nature Physics 16, 205–210 (2020); arXiv:1901.07653.
https://arxiv.org/abs/1901.07653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Differentiate the normalized state. The derivative of the normalization contributes +E|psi&gt;, giving -(H-E)|psi&gt;. Since the expectation of H-E is zero, this direction is orthogonal to the current state in the relevant normalization sense. The centering removes changes that would merely rescale the vector. The identity term in a Hamiltonian cancels from this target direction, though it must remain in the reported energy.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time-independent H, differentiate the energy using the normalized flow. The two terms combine to minus twice the variance. Therefore exact continuous imaginary time has nonincreasing energy. Zero variance means an energy eigenstate, not necessarily the ground state. In practice, finite steps, local approximations, synthesis errors, and noisy measurements can violate pointwise monotonicity. Judge measured upward fluctuations against uncertainty and repetition, and investigate persistent increases.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Expand both the normalized imaginary-time target and the proposed unitary to first order in the time step. Matching their linear terms gives iA|psi&gt;≈(H-E)|psi&gt;. This sign convention is used throughout the notes and code. It is a tangent-space fit: the chosen generator approximates the instantaneous direction. The finite-step exponential is a separate approximation, and eventually compiling that exponential to native gates adds another layer.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A as a real linear combination of Hermitian pool operators. The Hamiltonian Pauli strings describe energy, while the generator operators describe accessible directions of state motion. There is no reason for the two lists to coincide. H=Z with a plus-state input needs the Y generator. Restricting the pool to Z alone produces no useful first-order direction. The choice of pool is an algorithmic assumption, not a bookkeeping decision.
[1] Motta et al., Nature Physics 16, 205–210 (2020); arXiv:1901.07653.
https://arxiv.org/abs/1901.07653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Minimize the squared residual over real coefficients. Expanding the square gives Var(H)+aᵀSa−2aᵀb. The real Gram matrix contains Re⟨sigma_mu sigma_nu⟩, and b contains Im⟨sigma_mu H⟩. The expectation-value centering term has no imaginary contribution because each pool operator is Hermitian. Differentiating gives Sa=b. Some papers use different signs and factors; always match their convention for the exponent and residual before copying equations.
[1] Motta et al., Nature Physics 16, 205–210 (2020); arXiv:1901.07653.
https://arxiv.org/abs/1901.07653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displayed quadratic form proves that S is real symmetric and positive semidefinite in exact arithmetic. A zero eigenvalue can mean that different operators act identically on the current state. Hence singularity is often structural, not a defect that more shots can remove. Use a pseudoinverse or a noise-aware spectral cutoff and report retained rank. Very small eigenvalues amplify noise when inverted. Matrix entries estimated independently can also produce asymmetry or nonphysical negative eigenvalues.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pool order is X,Y,Z. Pauli anticommutation gives the identity Gram matrix. For the plus state, the only nonzero component of b is b_Y=Im⟨YZ⟩=⟨X⟩=1. Therefore A=Y, and exp(-i dt Y) equals a Y rotation by angle 2dt. At dt=0.1 the QITE energy is -sin(0.2), approximately -0.198669, while exact normalized imaginary time gives -tanh(0.2), approximately -0.197375. The small difference is expected; a positive sign on the energy change would not be.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solid line is the analytic energy -tanh(2 tau). Markers come from repeated QITE updates with exact expectation values and step size 0.1. The generator is recalculated at every step. Agreement need not be exact at finite step size, and one should compare states or trajectories at fixed total time when studying discretization. This tiny example is also a check that the code prepares a normalized state and uses the correct rotation angle.
Original calculation for this guide. Exact statevectors; no device noise, shots, or gate-synthesis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deliberately chosen toy Hamiltonian, not a molecular Hamiltonian. At |00&gt;, the energy is -2, so the centered target is 0.6|11&gt;. A single-qubit operator can leave the state unchanged or flip only one bit; it cannot produce |11&gt; to first order. The one-qubit-only pool therefore has b=0 and stalls. The two-qubit generator shown provides the missing direction. Decreasing the time step cannot fix a zero projected direction.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restricted pool stays at energy -2, whereas the exact ground energy is -sqrt(4.36), approximately -2.0880613. Full-pool QITE follows a useful trajectory toward the ground state. The plotted full-pool trajectory has step 0.05 and exact matrix exponentials. Domain restriction is different from step-size error. This is why a parameter study should vary step size and pool or domain separately rather than treating a plateau as automatic convergence.
Original calculation for this guide. Exact statevectors; no device noise, shots, or gate-synthesis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term-by-term implementation first splits the Hamiltonian filter into a product of term filters. It then fits each normalized term update with a unitary from a pool. Finally it synthesizes the fitted unitary into device gates, possibly with another product formula. Each approximation has its own control parameters. One full sweep through the terms represents imaginary time dt; L term updates do not represent Ldt. The teaching script omits Hamiltonian splitting and uses dense exponentials to isolate the QITE fit.
[1] Motta et al., Nature Physics 16, 205–210 (2020); arXiv:1901.07653.
https://arxiv.org/abs/1901.07653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small update can be local, yet the complete circuit preparing the current state includes all previous updates. Every expectation-value measurement generally requires a new preparation of that accumulated circuit. The diagram shows that a later measurement is not just a run of the newest gate. Compression, cancellation, recompilation, or a fixed variational ansatz can reduce depth, but those choices and their costs must be explicit. Do not infer a shallow hardware workload solely from the locality of one update.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Pauli products reduce to another Pauli string multiplied by ±1 or ±i. Real and imaginary parts therefore become ordinary signed Pauli expectations. The displayed YZ example explains the one-qubit sign test. Each Pauli outcome is ±1, yielding the standard-error formula. A naive Gram matrix has M squared entries, but many entries require the same expectation or vanish by symmetry. Deduplicate and group compatible measurements before allocating shots. Shared measurement data have covariance, which matters for uncertainty propagation.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Symmetrize the estimated Gram matrix and inspect its spectrum. Use a documented spectral cutoff or a ridge penalty on generator coefficients. The displayed ridge equation comes from adding lambda times the squared coefficient norm to the original tangent objective; it is not the same as ridge regression on the already formed system residual Sa-b. Log coefficient norm, retained rank, and conditioning. The tangent residual distinguishes representation error from finite-step error, but evaluating it can require an H-squared measurement. Validate the selected final state independently instead of reporting the minimum noisy energy.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loop applies at each local term in a term-by-term QITE sweep. Prepare copies of the current state, measure the expectations needed for S and b, solve classically, compile and append the update, and then move to the next term. The state used for the next fit must include all preceding updates. After a complete sweep, measure total energy and check the stopping rule. Final independent evaluation, diagnostics, and failed attempts all belong in the resource ledger. A full-Hamiltonian small-statevector implementation simplifies the first learning pass.
[1] Motta et al., Nature Physics 16, 205–210 (2020); arXiv:1901.07653.
https://arxiv.org/abs/1901.07653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molecular Hamiltonian is produced by a chain of modeling choices. Geometry, charge, spin, orbital basis, active space, frozen core, orbital ordering, mapping, and tapering all affect the final representation or reference. The nuclear contribution may already be in the identity coefficient. Hartree–Fock provides a starting determinant; FCI is exact only within the selected finite orbital model and sector. A benchmark is not meaningful if the two methods solve different Hamiltonians or use different energy offsets.
[6] Google Quantum AI: OpenFermion electronic-structure tutorial (accessed 8 Oct 2026).
https://quantumai.google/openfermion/tutorials/intro_workshop_exercises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coefficients are reproduced in the notes and companion script from the official OpenFermion tutorial. This is neutral singlet H2 at 0.8 angstrom in STO-3G, with a four-qubit Jordan–Wigner mapping and nuclear repulsion included. The leftmost tensor factor is q0 and the HF basis state is |1100&gt;. Since the Hamiltonian and state are real, all four-qubit Pauli strings with an odd number of Y factors form a complete real-state generator pool of size 120. This is a global, redundant teaching pool, not a scalable small-domain method.
[6] Google Quantum AI: OpenFermion electronic-structure tutorial (accessed 8 Oct 2026).
https://quantumai.google/openfermion/tutorials/intro_workshop_exercises
Original calculation for this guide. Exact statevectors; no device noise, shots, or gate-synthesis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ideal QITE energy after 80 updates, total imaginary time 4 inverse Hartree, is -1.134147564737410 Hartree. The matching finite-basis reference is -1.134147666677096 Hartree, so the error is approximately 1.02e-7 Hartree. There are no shots, device errors, or synthesis errors in this calculation. The 1.6 millihartree line is an illustrative target, not a universal scientific criterion. The actual HF trajectory occupies a two-dimensional invariant subspace, so two noiseless real-time Krylov vectors also recover the ground energy. H2 is a debugging example, not a demonstration of comparative advantage.
Original calculation for this guide. Exact statevectors; no device noise, shots, or gate-synthesis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companion code has error checking, exact reference evolution, model definitions, and diagnostic assertions. Here B has columns sigma_mu|psi&gt;. Its Gram product gives S; projecting H|psi&gt; onto those columns gives b after taking the imaginary part. A spectral pseudoinverse is used in the full script rather than blindly inverting S. Dense exponentiation is only practical for tiny systems, and the program evaluates expectations classically. It is a reference for correctness, not a hardware resource model.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local-unitary QITE construction fits a generator and appends its update. Variational imaginary-time evolution instead assumes a parameterized circuit and solves for a velocity in its parameter space. VQE also uses an ansatz but minimizes energy through an explicitly selected optimizer rather than necessarily following imaginary time. The simple variational equation shown has a metric built from ansatz derivatives and an energy-force vector; gauge and phase conventions must be chosen consistently. A software class named VarQITE should not automatically be described as the original local-unitary algorithm.
[2] McArdle et al., npj Quantum Information 5, 75 (2019); arXiv:1804.03023.
https://arxiv.org/abs/1804.03023
[3] Yuan et al., Quantum 3, 191 (2019).
https://quantum-journal.org/papers/q-2019-10-07-191/
[7] Qiskit Algorithms: Variational Quantum Time Evolution tutorial (accessed 8 Oct 2026).
https://qiskit-community.github.io/qiskit-algorithms/tutorials/11_VarQTE.html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quantum Krylov construction uses states generated by real-time evolution. Their linear combinations can change energy populations even though individual real-time states do not. Minimizing the Rayleigh quotient in their span yields a generalized eigenvalue problem. O is the basis-state overlap matrix and script-H is the Hamiltonian projected into that basis. They are not the same objects as the QITE tangent Gram matrix. There are other Krylov variants, so the colleague’s precise protocol is an input to the benchmark.
[4] Cortes &amp; Gray, Quantum Krylov subspace algorithms; arXiv:2109.06868.
https://arxiv.org/abs/2109.06868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prepared basis states are nearly dependent, the overlap matrix has tiny eigenvalues and noisy data can lead to unstable energies. Diagonalize O, retain reliable eigenvalues, whiten that retained subspace, and solve an ordinary Hermitian eigenproblem. The cutoff changes the effective subspace and must be reported. A low Ritz energy is an estimate from projected matrices. The coefficients specifying the Ritz state do not by themselves provide a circuit that prepares the corresponding coherent superposition. Include that extra cost only when state preparation is part of the target.
[5] Epperly, Lin &amp; Nakatsukasa, SIAM J. Matrix Anal. Appl. 43, 1263–1290 (2022).
https://arxiv.org/abs/2110.07492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QITE directly updates a preparation circuit, while real-time Krylov prepares a family of basis states and extracts a subspace estimate. Their dominant numerical problems differ, but both can be measurement intensive and ill-conditioned. QITE-generated imaginary-time states can also be used in a quantum Lanczos subspace, a connection already in the original QITE work. Consequently the methods are not fundamentally unrelated. No universal rule orders their shot counts, total depth, or robustness. The implementation and the physical problem decide.
[1] Motta et al., Nature Physics 16, 205–210 (2020); arXiv:1901.07653.
https://arxiv.org/abs/1901.07653
[4] Cortes &amp; Gray, Quantum Krylov subspace algorithms; arXiv:2109.06868.
https://arxiv.org/abs/2109.06868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protocol, not a claim about an existing hardware experiment. First establish correctness with deterministic simulations of the same Hamiltonian and sector. Then add finite sampling alone to isolate statistical sensitivity. Next use a documented device-informed noise model. Finally execute on the same selected hardware with comparable compilation and mitigation policies. Hyperparameters need not be identical, but tuning effort and accounting rules should be declared. The exact Krylov basis, measurement procedure, and output target must be confirmed before finalizing the comparison.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shots are the sum over every circuit execution, including all fitting iterations, diagnostics, final evaluation, and any included mitigation or calibration. Shot-weighted native two-qubit gate count measures cumulative gate workload. Peak depth is a separate constraint because two workloads with equal gate totals can have very different sensitivity to long circuits. Distinguish unique settings from repeated executions and record ancillas. On Quantinuum, use the selected system’s current cost estimator and compilation route; do not hard-code a platform-wide shot-to-credit formula.
[8–9] Quantinuum Systems and Job Costing documentation (accessed 8 Oct 2026).
https://docs.quantinuum.com/systems/ ; https://docs.quantinuum.com/systems/trainings/helios/getting_started/costing.html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same matching FCI or exact-diagonalization reference. Plot absolute error versus cumulative cost with uncertainty or repeated-run quantiles. Add the probability of meeting the target tolerance within budget, including failed runs. Do not select the lowest of many noisy estimates and call it the algorithm’s accuracy. Use a prespecified stopping rule and independent final evaluation. Save the Hamiltonian, all hyperparameters, circuit costs, measured matrices or generators, seeds, and software versions. A simulation-only curve must not be assigned guessed hardware costs.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statement on this slide confuses distinct levels of the problem. The normalized state is the target, not the unnormalized vector. A constant energy curve may indicate an excited eigenstate or a missing tangent direction. A small update domain does not bound the accumulated preparation depth. An energy below the matching exact ground energy in noisy reconstruction is not a better physical ground state; it indicates estimation, mitigation, conditioning, or reference issues. These checks are useful before attributing an apparent advantage to an algorithm.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First, negative energies can make absolute amplitudes grow, but ratios relative to the ground component still decay, and normalization removes the common scale. Second, with H=Z and a plus-state input, a pool containing only Z gives b=0, so it cannot reproduce the target tangent. Third, fewer shots do not imply lower total gate workload. Multiply shots by native gate count for each setting and also inspect peak depth, ancillas, mitigation, and feedback costs. The notes contain ten exercises with worked solutions and a simulation investigation.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filter defines a desired state direction. The chosen operator pool determines whether that direction can be represented. Measurements estimate the Gram system, and the classical solve specifies a unitary update. Subsequent measurements must pay for the complete state-preparation circuit. These five statements connect the mathematics to the experimental resource question. Reproduce the small demonstrations first, then use the benchmark ledger to identify which resource is actually limiting your proposed comparison.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primary sources underlying the algorithmic discussion. Begin with Motta and collaborators after understanding the one-qubit example. McArdle and Yuan explain variational imaginary-time evolution and phase or metric issues. Cortes and Gray provide a real-time Krylov perspective. Epperly, Lin, and Nakatsukasa focus on the conditioning of noisy projected eigenproblems. The longer notes include clickable references and a guided order. No paper figures were reproduced in this deck.
[1] Motta et al., Nature Physics 16, 205–210 (2020); arXiv:1901.07653.
https://arxiv.org/abs/1901.07653
[2] McArdle et al., npj Quantum Information 5, 75 (2019); arXiv:1804.03023.
https://arxiv.org/abs/1804.03023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OpenFermion electronic-structure tutorial is the source of the explicit H2 Hamiltonian in the notes and Python script. The Qiskit Algorithms page is an example of variational quantum time evolution, which should not be confused with the local-unitary formulation. Quantinuum documentation supplies current system-specific workflow and costing guidance; actual benchmark choices must be verified for the selected backend. The accompanying code, plots, CSV files, LaTeX source, notes, and presentation source are included in the archive. Documentation was checked on 8 October 2026.
[6] Google Quantum AI: OpenFermion electronic-structure tutorial (accessed 8 Oct 2026).
https://quantumai.google/openfermion/tutorials/intro_workshop_exercises
[7] Qiskit Algorithms: Variational Quantum Time Evolution tutorial (accessed 8 Oct 2026).
https://qiskit-community.github.io/qiskit-algorithms/tutorials/11_VarQTE.html
[8–9] Quantinuum Systems and Job Costing documentation (accessed 8 Oct 2026).
https://docs.quantinuum.com/systems/ ; https://docs.quantinuum.com/systems/trainings/helios/getting_started/costing.html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C46"/>
        </a:solidFill>
      </p:bgPr>
    </p:bg>
    <p:spTree>
      <p:nvGrpSpPr>
        <p:cNvPr id="1" name=""/>
        <p:cNvGrpSpPr/>
        <p:nvPr/>
      </p:nvGrpSpPr>
      <p:grpSpPr>
        <a:xfrm>
          <a:off x="0" y="0"/>
          <a:ext cx="0" cy="0"/>
          <a:chOff x="0" y="0"/>
          <a:chExt cx="0" cy="0"/>
        </a:xfrm>
      </p:grpSpPr>
      <p:sp>
        <p:nvSpPr>
          <p:cNvPr id="3" name="Text 0"/>
          <p:cNvSpPr/>
          <p:nvPr/>
        </p:nvSpPr>
        <p:spPr>
          <a:xfrm>
            <a:off x="658368" y="438912"/>
            <a:ext cx="10789920" cy="320040"/>
          </a:xfrm>
          <a:prstGeom prst="rect">
            <a:avLst/>
          </a:prstGeom>
          <a:noFill/>
          <a:ln/>
        </p:spPr>
        <p:txBody>
          <a:bodyPr wrap="square" lIns="0" tIns="0" rIns="0" bIns="0" rtlCol="0" anchor="ctr">
            <a:normAutofit/>
          </a:bodyPr>
          <a:lstStyle/>
          <a:p>
            <a:pPr indent="0" marL="0">
              <a:buNone/>
            </a:pPr>
            <a:r>
              <a:rPr lang="en-US" sz="1200" b="1" spc="200" kern="0" dirty="0">
                <a:solidFill>
                  <a:srgbClr val="83CFD0"/>
                </a:solidFill>
                <a:latin typeface="Arial" pitchFamily="34" charset="0"/>
                <a:ea typeface="Arial" pitchFamily="34" charset="-122"/>
                <a:cs typeface="Arial" pitchFamily="34" charset="-120"/>
              </a:rPr>
              <a:t>A SELF-STUDY &amp; TEACHING DECK</a:t>
            </a:r>
            <a:endParaRPr lang="en-US" sz="1200" dirty="0"/>
          </a:p>
        </p:txBody>
      </p:sp>
      <p:sp>
        <p:nvSpPr>
          <p:cNvPr id="4" name="Text 1"/>
          <p:cNvSpPr/>
          <p:nvPr/>
        </p:nvSpPr>
        <p:spPr>
          <a:xfrm>
            <a:off x="658368" y="1143000"/>
            <a:ext cx="10607040" cy="219456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rial" pitchFamily="34" charset="0"/>
                <a:ea typeface="Arial" pitchFamily="34" charset="-122"/>
                <a:cs typeface="Arial" pitchFamily="34" charset="-120"/>
              </a:rPr>
              <a:t>Quantum</a:t>
            </a:r>
            <a:endParaRPr lang="en-US" sz="4600" dirty="0"/>
          </a:p>
          <a:p>
            <a:pPr indent="0" marL="0">
              <a:buNone/>
            </a:pPr>
            <a:r>
              <a:rPr lang="en-US" sz="4600" b="1" dirty="0">
                <a:solidFill>
                  <a:srgbClr val="FFFFFF"/>
                </a:solidFill>
                <a:latin typeface="Arial" pitchFamily="34" charset="0"/>
                <a:ea typeface="Arial" pitchFamily="34" charset="-122"/>
                <a:cs typeface="Arial" pitchFamily="34" charset="-120"/>
              </a:rPr>
              <a:t>Imaginary-Time</a:t>
            </a:r>
            <a:endParaRPr lang="en-US" sz="4600" dirty="0"/>
          </a:p>
          <a:p>
            <a:pPr indent="0" marL="0">
              <a:buNone/>
            </a:pPr>
            <a:r>
              <a:rPr lang="en-US" sz="4600" b="1" dirty="0">
                <a:solidFill>
                  <a:srgbClr val="FFFFFF"/>
                </a:solidFill>
                <a:latin typeface="Arial" pitchFamily="34" charset="0"/>
                <a:ea typeface="Arial" pitchFamily="34" charset="-122"/>
                <a:cs typeface="Arial" pitchFamily="34" charset="-120"/>
              </a:rPr>
              <a:t>Evolution</a:t>
            </a:r>
            <a:endParaRPr lang="en-US" sz="4600" dirty="0"/>
          </a:p>
        </p:txBody>
      </p:sp>
      <p:sp>
        <p:nvSpPr>
          <p:cNvPr id="5" name="Text 2"/>
          <p:cNvSpPr/>
          <p:nvPr/>
        </p:nvSpPr>
        <p:spPr>
          <a:xfrm>
            <a:off x="713232" y="3538728"/>
            <a:ext cx="2743200" cy="594360"/>
          </a:xfrm>
          <a:prstGeom prst="rect">
            <a:avLst/>
          </a:prstGeom>
          <a:noFill/>
          <a:ln/>
        </p:spPr>
        <p:txBody>
          <a:bodyPr wrap="square" lIns="0" tIns="0" rIns="0" bIns="0" rtlCol="0" anchor="ctr">
            <a:normAutofit/>
          </a:bodyPr>
          <a:lstStyle/>
          <a:p>
            <a:pPr indent="0" marL="0">
              <a:buNone/>
            </a:pPr>
            <a:r>
              <a:rPr lang="en-US" sz="3600" b="1" dirty="0">
                <a:solidFill>
                  <a:srgbClr val="83CFD0"/>
                </a:solidFill>
                <a:latin typeface="Arial" pitchFamily="34" charset="0"/>
                <a:ea typeface="Arial" pitchFamily="34" charset="-122"/>
                <a:cs typeface="Arial" pitchFamily="34" charset="-120"/>
              </a:rPr>
              <a:t>QITE</a:t>
            </a:r>
            <a:endParaRPr lang="en-US" sz="3600" dirty="0"/>
          </a:p>
        </p:txBody>
      </p:sp>
      <p:pic>
        <p:nvPicPr>
          <p:cNvPr id="6" name="Image 0" descr="/mnt/data/qite_package/slides_source/equations/cover.png">    </p:cNvPr>
          <p:cNvPicPr>
            <a:picLocks noChangeAspect="1"/>
          </p:cNvPicPr>
          <p:nvPr/>
        </p:nvPicPr>
        <p:blipFill>
          <a:blip r:embed="rId1"/>
          <a:stretch>
            <a:fillRect/>
          </a:stretch>
        </p:blipFill>
        <p:spPr>
          <a:xfrm>
            <a:off x="4200910" y="4325112"/>
            <a:ext cx="3284212" cy="941832"/>
          </a:xfrm>
          <a:prstGeom prst="rect">
            <a:avLst/>
          </a:prstGeom>
        </p:spPr>
      </p:pic>
      <p:sp>
        <p:nvSpPr>
          <p:cNvPr id="7" name="Text 3"/>
          <p:cNvSpPr/>
          <p:nvPr/>
        </p:nvSpPr>
        <p:spPr>
          <a:xfrm>
            <a:off x="713232" y="5687568"/>
            <a:ext cx="10789920" cy="457200"/>
          </a:xfrm>
          <a:prstGeom prst="rect">
            <a:avLst/>
          </a:prstGeom>
          <a:noFill/>
          <a:ln/>
        </p:spPr>
        <p:txBody>
          <a:bodyPr wrap="square" lIns="0" tIns="0" rIns="0" bIns="0" rtlCol="0" anchor="ctr">
            <a:normAutofit/>
          </a:bodyPr>
          <a:lstStyle/>
          <a:p>
            <a:pPr indent="0" marL="0">
              <a:buNone/>
            </a:pPr>
            <a:r>
              <a:rPr lang="en-US" sz="1900" dirty="0">
                <a:solidFill>
                  <a:srgbClr val="DCECEE"/>
                </a:solidFill>
                <a:latin typeface="Arial" pitchFamily="34" charset="0"/>
                <a:ea typeface="Arial" pitchFamily="34" charset="-122"/>
                <a:cs typeface="Arial" pitchFamily="34" charset="-120"/>
              </a:rPr>
              <a:t>Ground-state filtering  →  measured linear algebra  →  quantum circuits</a:t>
            </a:r>
            <a:endParaRPr lang="en-US" sz="1900" dirty="0"/>
          </a:p>
        </p:txBody>
      </p:sp>
      <p:sp>
        <p:nvSpPr>
          <p:cNvPr id="8" name="Text 4"/>
          <p:cNvSpPr/>
          <p:nvPr/>
        </p:nvSpPr>
        <p:spPr>
          <a:xfrm>
            <a:off x="713232" y="6318504"/>
            <a:ext cx="10789920" cy="219456"/>
          </a:xfrm>
          <a:prstGeom prst="rect">
            <a:avLst/>
          </a:prstGeom>
          <a:noFill/>
          <a:ln/>
        </p:spPr>
        <p:txBody>
          <a:bodyPr wrap="square" lIns="0" tIns="0" rIns="0" bIns="0" rtlCol="0" anchor="ctr">
            <a:normAutofit/>
          </a:bodyPr>
          <a:lstStyle/>
          <a:p>
            <a:pPr indent="0" marL="0">
              <a:buNone/>
            </a:pPr>
            <a:r>
              <a:rPr lang="en-US" sz="1300" dirty="0">
                <a:solidFill>
                  <a:srgbClr val="B4CDD8"/>
                </a:solidFill>
                <a:latin typeface="Arial" pitchFamily="34" charset="0"/>
                <a:ea typeface="Arial" pitchFamily="34" charset="-122"/>
                <a:cs typeface="Arial" pitchFamily="34" charset="-120"/>
              </a:rPr>
              <a:t>Worked examples • Molecular hydrogen • QITE–Krylov benchmark design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LEARNING MAP</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Five questions organize the whole topic</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02</a:t>
            </a:r>
            <a:endParaRPr lang="en-US" sz="1100" dirty="0"/>
          </a:p>
        </p:txBody>
      </p:sp>
      <p:sp>
        <p:nvSpPr>
          <p:cNvPr id="10" name="Shape 7"/>
          <p:cNvSpPr/>
          <p:nvPr/>
        </p:nvSpPr>
        <p:spPr>
          <a:xfrm>
            <a:off x="548640" y="1673352"/>
            <a:ext cx="5394960" cy="1188720"/>
          </a:xfrm>
          <a:prstGeom prst="roundRect">
            <a:avLst>
              <a:gd name="adj" fmla="val 7692"/>
            </a:avLst>
          </a:prstGeom>
          <a:solidFill>
            <a:srgbClr val="EEF6F6"/>
          </a:solidFill>
          <a:ln w="12700">
            <a:solidFill>
              <a:srgbClr val="EEF6F6">
                <a:alpha val="0"/>
              </a:srgbClr>
            </a:solidFill>
            <a:prstDash val="solid"/>
          </a:ln>
        </p:spPr>
      </p:sp>
      <p:sp>
        <p:nvSpPr>
          <p:cNvPr id="11" name="Text 8"/>
          <p:cNvSpPr/>
          <p:nvPr/>
        </p:nvSpPr>
        <p:spPr>
          <a:xfrm>
            <a:off x="731520" y="1819656"/>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01</a:t>
            </a:r>
            <a:endParaRPr lang="en-US" sz="2200" dirty="0"/>
          </a:p>
        </p:txBody>
      </p:sp>
      <p:sp>
        <p:nvSpPr>
          <p:cNvPr id="12" name="Text 9"/>
          <p:cNvSpPr/>
          <p:nvPr/>
        </p:nvSpPr>
        <p:spPr>
          <a:xfrm>
            <a:off x="1307592" y="1810512"/>
            <a:ext cx="4480560"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Why does it work?</a:t>
            </a:r>
            <a:endParaRPr lang="en-US" sz="2200" dirty="0"/>
          </a:p>
        </p:txBody>
      </p:sp>
      <p:sp>
        <p:nvSpPr>
          <p:cNvPr id="13" name="Text 10"/>
          <p:cNvSpPr/>
          <p:nvPr/>
        </p:nvSpPr>
        <p:spPr>
          <a:xfrm>
            <a:off x="758952" y="2286000"/>
            <a:ext cx="4974336" cy="475488"/>
          </a:xfrm>
          <a:prstGeom prst="rect">
            <a:avLst/>
          </a:prstGeom>
          <a:noFill/>
          <a:ln/>
        </p:spPr>
        <p:txBody>
          <a:bodyPr wrap="square" lIns="0" tIns="0" rIns="0" bIns="0" rtlCol="0" anchor="t">
            <a:normAutofit/>
          </a:bodyPr>
          <a:lstStyle/>
          <a:p>
            <a:pPr indent="0" marL="0">
              <a:buNone/>
            </a:pPr>
            <a:r>
              <a:rPr lang="en-US" sz="1800" dirty="0">
                <a:solidFill>
                  <a:srgbClr val="203449"/>
                </a:solidFill>
                <a:latin typeface="Arial" pitchFamily="34" charset="0"/>
                <a:ea typeface="Arial" pitchFamily="34" charset="-122"/>
                <a:cs typeface="Arial" pitchFamily="34" charset="-120"/>
              </a:rPr>
              <a:t>Relative suppression of excited-state amplitudes.</a:t>
            </a:r>
            <a:endParaRPr lang="en-US" sz="1800" dirty="0"/>
          </a:p>
        </p:txBody>
      </p:sp>
      <p:sp>
        <p:nvSpPr>
          <p:cNvPr id="14" name="Shape 11"/>
          <p:cNvSpPr/>
          <p:nvPr/>
        </p:nvSpPr>
        <p:spPr>
          <a:xfrm>
            <a:off x="6217920" y="1673352"/>
            <a:ext cx="5422392" cy="1188720"/>
          </a:xfrm>
          <a:prstGeom prst="roundRect">
            <a:avLst>
              <a:gd name="adj" fmla="val 7692"/>
            </a:avLst>
          </a:prstGeom>
          <a:solidFill>
            <a:srgbClr val="EEF6F6"/>
          </a:solidFill>
          <a:ln w="12700">
            <a:solidFill>
              <a:srgbClr val="EEF6F6">
                <a:alpha val="0"/>
              </a:srgbClr>
            </a:solidFill>
            <a:prstDash val="solid"/>
          </a:ln>
        </p:spPr>
      </p:sp>
      <p:sp>
        <p:nvSpPr>
          <p:cNvPr id="15" name="Text 12"/>
          <p:cNvSpPr/>
          <p:nvPr/>
        </p:nvSpPr>
        <p:spPr>
          <a:xfrm>
            <a:off x="6400800" y="1819656"/>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02</a:t>
            </a:r>
            <a:endParaRPr lang="en-US" sz="2200" dirty="0"/>
          </a:p>
        </p:txBody>
      </p:sp>
      <p:sp>
        <p:nvSpPr>
          <p:cNvPr id="16" name="Text 13"/>
          <p:cNvSpPr/>
          <p:nvPr/>
        </p:nvSpPr>
        <p:spPr>
          <a:xfrm>
            <a:off x="6976872" y="1810512"/>
            <a:ext cx="4507992"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What can a circuit do?</a:t>
            </a:r>
            <a:endParaRPr lang="en-US" sz="2200" dirty="0"/>
          </a:p>
        </p:txBody>
      </p:sp>
      <p:sp>
        <p:nvSpPr>
          <p:cNvPr id="17" name="Text 14"/>
          <p:cNvSpPr/>
          <p:nvPr/>
        </p:nvSpPr>
        <p:spPr>
          <a:xfrm>
            <a:off x="6428232" y="2286000"/>
            <a:ext cx="5001768" cy="475488"/>
          </a:xfrm>
          <a:prstGeom prst="rect">
            <a:avLst/>
          </a:prstGeom>
          <a:noFill/>
          <a:ln/>
        </p:spPr>
        <p:txBody>
          <a:bodyPr wrap="square" lIns="0" tIns="0" rIns="0" bIns="0" rtlCol="0" anchor="t">
            <a:normAutofit/>
          </a:bodyPr>
          <a:lstStyle/>
          <a:p>
            <a:pPr indent="0" marL="0">
              <a:buNone/>
            </a:pPr>
            <a:r>
              <a:rPr lang="en-US" sz="1800" dirty="0">
                <a:solidFill>
                  <a:srgbClr val="203449"/>
                </a:solidFill>
                <a:latin typeface="Arial" pitchFamily="34" charset="0"/>
                <a:ea typeface="Arial" pitchFamily="34" charset="-122"/>
                <a:cs typeface="Arial" pitchFamily="34" charset="-120"/>
              </a:rPr>
              <a:t>A state-dependent unitary, not the universal filter.</a:t>
            </a:r>
            <a:endParaRPr lang="en-US" sz="1800" dirty="0"/>
          </a:p>
        </p:txBody>
      </p:sp>
      <p:sp>
        <p:nvSpPr>
          <p:cNvPr id="18" name="Shape 15"/>
          <p:cNvSpPr/>
          <p:nvPr/>
        </p:nvSpPr>
        <p:spPr>
          <a:xfrm>
            <a:off x="548640" y="3108960"/>
            <a:ext cx="5394960" cy="1188720"/>
          </a:xfrm>
          <a:prstGeom prst="roundRect">
            <a:avLst>
              <a:gd name="adj" fmla="val 7692"/>
            </a:avLst>
          </a:prstGeom>
          <a:solidFill>
            <a:srgbClr val="EEF6F6"/>
          </a:solidFill>
          <a:ln w="12700">
            <a:solidFill>
              <a:srgbClr val="EEF6F6">
                <a:alpha val="0"/>
              </a:srgbClr>
            </a:solidFill>
            <a:prstDash val="solid"/>
          </a:ln>
        </p:spPr>
      </p:sp>
      <p:sp>
        <p:nvSpPr>
          <p:cNvPr id="19" name="Text 16"/>
          <p:cNvSpPr/>
          <p:nvPr/>
        </p:nvSpPr>
        <p:spPr>
          <a:xfrm>
            <a:off x="731520" y="3255264"/>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03</a:t>
            </a:r>
            <a:endParaRPr lang="en-US" sz="2200" dirty="0"/>
          </a:p>
        </p:txBody>
      </p:sp>
      <p:sp>
        <p:nvSpPr>
          <p:cNvPr id="20" name="Text 17"/>
          <p:cNvSpPr/>
          <p:nvPr/>
        </p:nvSpPr>
        <p:spPr>
          <a:xfrm>
            <a:off x="1307592" y="3246120"/>
            <a:ext cx="4480560"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What must be learned?</a:t>
            </a:r>
            <a:endParaRPr lang="en-US" sz="2200" dirty="0"/>
          </a:p>
        </p:txBody>
      </p:sp>
      <p:sp>
        <p:nvSpPr>
          <p:cNvPr id="21" name="Text 18"/>
          <p:cNvSpPr/>
          <p:nvPr/>
        </p:nvSpPr>
        <p:spPr>
          <a:xfrm>
            <a:off x="758952" y="3721608"/>
            <a:ext cx="4974336" cy="475488"/>
          </a:xfrm>
          <a:prstGeom prst="rect">
            <a:avLst/>
          </a:prstGeom>
          <a:noFill/>
          <a:ln/>
        </p:spPr>
        <p:txBody>
          <a:bodyPr wrap="square" lIns="0" tIns="0" rIns="0" bIns="0" rtlCol="0" anchor="t">
            <a:normAutofit/>
          </a:bodyPr>
          <a:lstStyle/>
          <a:p>
            <a:pPr indent="0" marL="0">
              <a:buNone/>
            </a:pPr>
            <a:r>
              <a:rPr lang="en-US" sz="1800" dirty="0">
                <a:solidFill>
                  <a:srgbClr val="203449"/>
                </a:solidFill>
                <a:latin typeface="Arial" pitchFamily="34" charset="0"/>
                <a:ea typeface="Arial" pitchFamily="34" charset="-122"/>
                <a:cs typeface="Arial" pitchFamily="34" charset="-120"/>
              </a:rPr>
              <a:t>A real linear system from Pauli expectations.</a:t>
            </a:r>
            <a:endParaRPr lang="en-US" sz="1800" dirty="0"/>
          </a:p>
        </p:txBody>
      </p:sp>
      <p:sp>
        <p:nvSpPr>
          <p:cNvPr id="22" name="Shape 19"/>
          <p:cNvSpPr/>
          <p:nvPr/>
        </p:nvSpPr>
        <p:spPr>
          <a:xfrm>
            <a:off x="6217920" y="3108960"/>
            <a:ext cx="5422392" cy="1188720"/>
          </a:xfrm>
          <a:prstGeom prst="roundRect">
            <a:avLst>
              <a:gd name="adj" fmla="val 7692"/>
            </a:avLst>
          </a:prstGeom>
          <a:solidFill>
            <a:srgbClr val="EEF6F6"/>
          </a:solidFill>
          <a:ln w="12700">
            <a:solidFill>
              <a:srgbClr val="EEF6F6">
                <a:alpha val="0"/>
              </a:srgbClr>
            </a:solidFill>
            <a:prstDash val="solid"/>
          </a:ln>
        </p:spPr>
      </p:sp>
      <p:sp>
        <p:nvSpPr>
          <p:cNvPr id="23" name="Text 20"/>
          <p:cNvSpPr/>
          <p:nvPr/>
        </p:nvSpPr>
        <p:spPr>
          <a:xfrm>
            <a:off x="6400800" y="3255264"/>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04</a:t>
            </a:r>
            <a:endParaRPr lang="en-US" sz="2200" dirty="0"/>
          </a:p>
        </p:txBody>
      </p:sp>
      <p:sp>
        <p:nvSpPr>
          <p:cNvPr id="24" name="Text 21"/>
          <p:cNvSpPr/>
          <p:nvPr/>
        </p:nvSpPr>
        <p:spPr>
          <a:xfrm>
            <a:off x="6976872" y="3246120"/>
            <a:ext cx="4507992"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Where can it fail?</a:t>
            </a:r>
            <a:endParaRPr lang="en-US" sz="2200" dirty="0"/>
          </a:p>
        </p:txBody>
      </p:sp>
      <p:sp>
        <p:nvSpPr>
          <p:cNvPr id="25" name="Text 22"/>
          <p:cNvSpPr/>
          <p:nvPr/>
        </p:nvSpPr>
        <p:spPr>
          <a:xfrm>
            <a:off x="6428232" y="3721608"/>
            <a:ext cx="5001768" cy="475488"/>
          </a:xfrm>
          <a:prstGeom prst="rect">
            <a:avLst/>
          </a:prstGeom>
          <a:noFill/>
          <a:ln/>
        </p:spPr>
        <p:txBody>
          <a:bodyPr wrap="square" lIns="0" tIns="0" rIns="0" bIns="0" rtlCol="0" anchor="t">
            <a:normAutofit/>
          </a:bodyPr>
          <a:lstStyle/>
          <a:p>
            <a:pPr indent="0" marL="0">
              <a:buNone/>
            </a:pPr>
            <a:r>
              <a:rPr lang="en-US" sz="1800" dirty="0">
                <a:solidFill>
                  <a:srgbClr val="203449"/>
                </a:solidFill>
                <a:latin typeface="Arial" pitchFamily="34" charset="0"/>
                <a:ea typeface="Arial" pitchFamily="34" charset="-122"/>
                <a:cs typeface="Arial" pitchFamily="34" charset="-120"/>
              </a:rPr>
              <a:t>Missing directions, noise, conditioning, and depth.</a:t>
            </a:r>
            <a:endParaRPr lang="en-US" sz="1800" dirty="0"/>
          </a:p>
        </p:txBody>
      </p:sp>
      <p:sp>
        <p:nvSpPr>
          <p:cNvPr id="26" name="Shape 23"/>
          <p:cNvSpPr/>
          <p:nvPr/>
        </p:nvSpPr>
        <p:spPr>
          <a:xfrm>
            <a:off x="548640" y="4937760"/>
            <a:ext cx="11091672" cy="539496"/>
          </a:xfrm>
          <a:prstGeom prst="roundRect">
            <a:avLst>
              <a:gd name="adj" fmla="val 16949"/>
            </a:avLst>
          </a:prstGeom>
          <a:solidFill>
            <a:srgbClr val="EEF6F6"/>
          </a:solidFill>
          <a:ln w="12700">
            <a:solidFill>
              <a:srgbClr val="EEF6F6">
                <a:alpha val="0"/>
              </a:srgbClr>
            </a:solidFill>
            <a:prstDash val="solid"/>
          </a:ln>
        </p:spPr>
      </p:sp>
      <p:sp>
        <p:nvSpPr>
          <p:cNvPr id="27" name="Text 24"/>
          <p:cNvSpPr/>
          <p:nvPr/>
        </p:nvSpPr>
        <p:spPr>
          <a:xfrm>
            <a:off x="749808" y="5010912"/>
            <a:ext cx="10680192" cy="393192"/>
          </a:xfrm>
          <a:prstGeom prst="rect">
            <a:avLst/>
          </a:prstGeom>
          <a:noFill/>
          <a:ln/>
        </p:spPr>
        <p:txBody>
          <a:bodyPr wrap="square" lIns="0" tIns="0" rIns="0" bIns="0" rtlCol="0" anchor="ctr">
            <a:normAutofit/>
          </a:bodyPr>
          <a:lstStyle/>
          <a:p>
            <a:pPr indent="0" marL="0">
              <a:buNone/>
            </a:pPr>
            <a:r>
              <a:rPr lang="en-US" sz="2100" dirty="0">
                <a:solidFill>
                  <a:srgbClr val="203449"/>
                </a:solidFill>
                <a:latin typeface="Arial" pitchFamily="34" charset="0"/>
                <a:ea typeface="Arial" pitchFamily="34" charset="-122"/>
                <a:cs typeface="Arial" pitchFamily="34" charset="-120"/>
              </a:rPr>
              <a:t>5  How do we compare it fairly?  Match the scientific problem and count the full cost.</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FOUNDATIONS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minimum quantum vocabulary</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03</a:t>
            </a:r>
            <a:endParaRPr lang="en-US" sz="1100" dirty="0"/>
          </a:p>
        </p:txBody>
      </p:sp>
      <p:pic>
        <p:nvPicPr>
          <p:cNvPr id="10" name="Image 0" descr="/mnt/data/qite_package/slides_source/equations/state.png">    </p:cNvPr>
          <p:cNvPicPr>
            <a:picLocks noChangeAspect="1"/>
          </p:cNvPicPr>
          <p:nvPr/>
        </p:nvPicPr>
        <p:blipFill>
          <a:blip r:embed="rId1"/>
          <a:stretch>
            <a:fillRect/>
          </a:stretch>
        </p:blipFill>
        <p:spPr>
          <a:xfrm>
            <a:off x="2133911" y="1746504"/>
            <a:ext cx="7802258" cy="676656"/>
          </a:xfrm>
          <a:prstGeom prst="rect">
            <a:avLst/>
          </a:prstGeom>
        </p:spPr>
      </p:pic>
      <p:pic>
        <p:nvPicPr>
          <p:cNvPr id="11" name="Image 1" descr="/mnt/data/qite_package/slides_source/equations/eigen.png">    </p:cNvPr>
          <p:cNvPicPr>
            <a:picLocks noChangeAspect="1"/>
          </p:cNvPicPr>
          <p:nvPr/>
        </p:nvPicPr>
        <p:blipFill>
          <a:blip r:embed="rId2"/>
          <a:stretch>
            <a:fillRect/>
          </a:stretch>
        </p:blipFill>
        <p:spPr>
          <a:xfrm>
            <a:off x="1743750" y="2734056"/>
            <a:ext cx="8582580" cy="658368"/>
          </a:xfrm>
          <a:prstGeom prst="rect">
            <a:avLst/>
          </a:prstGeom>
        </p:spPr>
      </p:pic>
      <p:sp>
        <p:nvSpPr>
          <p:cNvPr id="12" name="Shape 7"/>
          <p:cNvSpPr/>
          <p:nvPr/>
        </p:nvSpPr>
        <p:spPr>
          <a:xfrm>
            <a:off x="548640" y="3831336"/>
            <a:ext cx="3502152" cy="1490472"/>
          </a:xfrm>
          <a:prstGeom prst="roundRect">
            <a:avLst>
              <a:gd name="adj" fmla="val 6135"/>
            </a:avLst>
          </a:prstGeom>
          <a:solidFill>
            <a:srgbClr val="EEF6F6"/>
          </a:solidFill>
          <a:ln w="12700">
            <a:solidFill>
              <a:srgbClr val="EEF6F6">
                <a:alpha val="0"/>
              </a:srgbClr>
            </a:solidFill>
            <a:prstDash val="solid"/>
          </a:ln>
        </p:spPr>
      </p:sp>
      <p:sp>
        <p:nvSpPr>
          <p:cNvPr id="13" name="Text 8"/>
          <p:cNvSpPr/>
          <p:nvPr/>
        </p:nvSpPr>
        <p:spPr>
          <a:xfrm>
            <a:off x="758952" y="3977640"/>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A STATE</a:t>
            </a:r>
            <a:endParaRPr lang="en-US" sz="1800" dirty="0"/>
          </a:p>
        </p:txBody>
      </p:sp>
      <p:sp>
        <p:nvSpPr>
          <p:cNvPr id="14" name="Text 9"/>
          <p:cNvSpPr/>
          <p:nvPr/>
        </p:nvSpPr>
        <p:spPr>
          <a:xfrm>
            <a:off x="758952" y="4425696"/>
            <a:ext cx="3081528" cy="795528"/>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A normalized vector. N qubits have 2ᴺ basis amplitudes.</a:t>
            </a:r>
            <a:endParaRPr lang="en-US" sz="1900" dirty="0"/>
          </a:p>
        </p:txBody>
      </p:sp>
      <p:sp>
        <p:nvSpPr>
          <p:cNvPr id="15" name="Shape 10"/>
          <p:cNvSpPr/>
          <p:nvPr/>
        </p:nvSpPr>
        <p:spPr>
          <a:xfrm>
            <a:off x="4343400" y="3831336"/>
            <a:ext cx="3502152" cy="1490472"/>
          </a:xfrm>
          <a:prstGeom prst="roundRect">
            <a:avLst>
              <a:gd name="adj" fmla="val 6135"/>
            </a:avLst>
          </a:prstGeom>
          <a:solidFill>
            <a:srgbClr val="EEF6F6"/>
          </a:solidFill>
          <a:ln w="12700">
            <a:solidFill>
              <a:srgbClr val="EEF6F6">
                <a:alpha val="0"/>
              </a:srgbClr>
            </a:solidFill>
            <a:prstDash val="solid"/>
          </a:ln>
        </p:spPr>
      </p:sp>
      <p:sp>
        <p:nvSpPr>
          <p:cNvPr id="16" name="Text 11"/>
          <p:cNvSpPr/>
          <p:nvPr/>
        </p:nvSpPr>
        <p:spPr>
          <a:xfrm>
            <a:off x="4553712" y="3977640"/>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A HAMILTONIAN</a:t>
            </a:r>
            <a:endParaRPr lang="en-US" sz="1800" dirty="0"/>
          </a:p>
        </p:txBody>
      </p:sp>
      <p:sp>
        <p:nvSpPr>
          <p:cNvPr id="17" name="Text 12"/>
          <p:cNvSpPr/>
          <p:nvPr/>
        </p:nvSpPr>
        <p:spPr>
          <a:xfrm>
            <a:off x="4553712" y="4425696"/>
            <a:ext cx="3081528" cy="795528"/>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A Hermitian energy operator. Its eigenvectors define energy levels.</a:t>
            </a:r>
            <a:endParaRPr lang="en-US" sz="1900" dirty="0"/>
          </a:p>
        </p:txBody>
      </p:sp>
      <p:sp>
        <p:nvSpPr>
          <p:cNvPr id="18" name="Shape 13"/>
          <p:cNvSpPr/>
          <p:nvPr/>
        </p:nvSpPr>
        <p:spPr>
          <a:xfrm>
            <a:off x="8138160" y="3831336"/>
            <a:ext cx="3502152" cy="1490472"/>
          </a:xfrm>
          <a:prstGeom prst="roundRect">
            <a:avLst>
              <a:gd name="adj" fmla="val 6135"/>
            </a:avLst>
          </a:prstGeom>
          <a:solidFill>
            <a:srgbClr val="EEF6F6"/>
          </a:solidFill>
          <a:ln w="12700">
            <a:solidFill>
              <a:srgbClr val="EEF6F6">
                <a:alpha val="0"/>
              </a:srgbClr>
            </a:solidFill>
            <a:prstDash val="solid"/>
          </a:ln>
        </p:spPr>
      </p:sp>
      <p:sp>
        <p:nvSpPr>
          <p:cNvPr id="19" name="Text 14"/>
          <p:cNvSpPr/>
          <p:nvPr/>
        </p:nvSpPr>
        <p:spPr>
          <a:xfrm>
            <a:off x="8348472" y="3977640"/>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AN EXPECTATION</a:t>
            </a:r>
            <a:endParaRPr lang="en-US" sz="1800" dirty="0"/>
          </a:p>
        </p:txBody>
      </p:sp>
      <p:sp>
        <p:nvSpPr>
          <p:cNvPr id="20" name="Text 15"/>
          <p:cNvSpPr/>
          <p:nvPr/>
        </p:nvSpPr>
        <p:spPr>
          <a:xfrm>
            <a:off x="8348472" y="4425696"/>
            <a:ext cx="3081528" cy="795528"/>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An average estimated over repeated state preparations.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THE TARGET</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molecular objective is easy to state</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04</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[6] Google Quantum AI: OpenFermion electronic-structure tutorial (accessed 8 Oct 2026).</a:t>
            </a:r>
            <a:endParaRPr lang="en-US" sz="920" dirty="0"/>
          </a:p>
        </p:txBody>
      </p:sp>
      <p:sp>
        <p:nvSpPr>
          <p:cNvPr id="11" name="Text 8"/>
          <p:cNvSpPr/>
          <p:nvPr/>
        </p:nvSpPr>
        <p:spPr>
          <a:xfrm>
            <a:off x="822960" y="1783080"/>
            <a:ext cx="10607040" cy="886968"/>
          </a:xfrm>
          <a:prstGeom prst="rect">
            <a:avLst/>
          </a:prstGeom>
          <a:noFill/>
          <a:ln/>
        </p:spPr>
        <p:txBody>
          <a:bodyPr wrap="square" lIns="0" tIns="0" rIns="0" bIns="0" rtlCol="0" anchor="ctr">
            <a:normAutofit/>
          </a:bodyPr>
          <a:lstStyle/>
          <a:p>
            <a:pPr algn="ctr" indent="0" marL="0">
              <a:buNone/>
            </a:pPr>
            <a:r>
              <a:rPr lang="en-US" sz="3100" b="1" dirty="0">
                <a:solidFill>
                  <a:srgbClr val="142C46"/>
                </a:solidFill>
                <a:latin typeface="Arial" pitchFamily="34" charset="0"/>
                <a:ea typeface="Arial" pitchFamily="34" charset="-122"/>
                <a:cs typeface="Arial" pitchFamily="34" charset="-120"/>
              </a:rPr>
              <a:t>Find the ground-state energy of the chosen molecular model.</a:t>
            </a:r>
            <a:endParaRPr lang="en-US" sz="3100" dirty="0"/>
          </a:p>
        </p:txBody>
      </p:sp>
      <p:pic>
        <p:nvPicPr>
          <p:cNvPr id="12" name="Image 0" descr="/mnt/data/qite_package/slides_source/equations/pauliH.png">    </p:cNvPr>
          <p:cNvPicPr>
            <a:picLocks noChangeAspect="1"/>
          </p:cNvPicPr>
          <p:nvPr/>
        </p:nvPicPr>
        <p:blipFill>
          <a:blip r:embed="rId1"/>
          <a:stretch>
            <a:fillRect/>
          </a:stretch>
        </p:blipFill>
        <p:spPr>
          <a:xfrm>
            <a:off x="1964895" y="2807208"/>
            <a:ext cx="8259161" cy="950976"/>
          </a:xfrm>
          <a:prstGeom prst="rect">
            <a:avLst/>
          </a:prstGeom>
        </p:spPr>
      </p:pic>
      <p:sp>
        <p:nvSpPr>
          <p:cNvPr id="13" name="Shape 9"/>
          <p:cNvSpPr/>
          <p:nvPr/>
        </p:nvSpPr>
        <p:spPr>
          <a:xfrm>
            <a:off x="548640" y="4059936"/>
            <a:ext cx="3511296" cy="1481328"/>
          </a:xfrm>
          <a:prstGeom prst="roundRect">
            <a:avLst>
              <a:gd name="adj" fmla="val 6173"/>
            </a:avLst>
          </a:prstGeom>
          <a:solidFill>
            <a:srgbClr val="EEF6F6"/>
          </a:solidFill>
          <a:ln w="12700">
            <a:solidFill>
              <a:srgbClr val="EEF6F6">
                <a:alpha val="0"/>
              </a:srgbClr>
            </a:solidFill>
            <a:prstDash val="solid"/>
          </a:ln>
        </p:spPr>
      </p:sp>
      <p:sp>
        <p:nvSpPr>
          <p:cNvPr id="14" name="Text 10"/>
          <p:cNvSpPr/>
          <p:nvPr/>
        </p:nvSpPr>
        <p:spPr>
          <a:xfrm>
            <a:off x="758952" y="4206240"/>
            <a:ext cx="3090672"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MODEL</a:t>
            </a:r>
            <a:endParaRPr lang="en-US" sz="1800" dirty="0"/>
          </a:p>
        </p:txBody>
      </p:sp>
      <p:sp>
        <p:nvSpPr>
          <p:cNvPr id="15" name="Text 11"/>
          <p:cNvSpPr/>
          <p:nvPr/>
        </p:nvSpPr>
        <p:spPr>
          <a:xfrm>
            <a:off x="758952" y="4654296"/>
            <a:ext cx="3090672" cy="786384"/>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Geometry, basis, active space, electron and spin sector.</a:t>
            </a:r>
            <a:endParaRPr lang="en-US" sz="1900" dirty="0"/>
          </a:p>
        </p:txBody>
      </p:sp>
      <p:sp>
        <p:nvSpPr>
          <p:cNvPr id="16" name="Shape 12"/>
          <p:cNvSpPr/>
          <p:nvPr/>
        </p:nvSpPr>
        <p:spPr>
          <a:xfrm>
            <a:off x="4343400" y="4059936"/>
            <a:ext cx="3511296" cy="1481328"/>
          </a:xfrm>
          <a:prstGeom prst="roundRect">
            <a:avLst>
              <a:gd name="adj" fmla="val 6173"/>
            </a:avLst>
          </a:prstGeom>
          <a:solidFill>
            <a:srgbClr val="EEF6F6"/>
          </a:solidFill>
          <a:ln w="12700">
            <a:solidFill>
              <a:srgbClr val="EEF6F6">
                <a:alpha val="0"/>
              </a:srgbClr>
            </a:solidFill>
            <a:prstDash val="solid"/>
          </a:ln>
        </p:spPr>
      </p:sp>
      <p:sp>
        <p:nvSpPr>
          <p:cNvPr id="17" name="Text 13"/>
          <p:cNvSpPr/>
          <p:nvPr/>
        </p:nvSpPr>
        <p:spPr>
          <a:xfrm>
            <a:off x="4553712" y="4206240"/>
            <a:ext cx="3090672"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START</a:t>
            </a:r>
            <a:endParaRPr lang="en-US" sz="1800" dirty="0"/>
          </a:p>
        </p:txBody>
      </p:sp>
      <p:sp>
        <p:nvSpPr>
          <p:cNvPr id="18" name="Text 14"/>
          <p:cNvSpPr/>
          <p:nvPr/>
        </p:nvSpPr>
        <p:spPr>
          <a:xfrm>
            <a:off x="4553712" y="4654296"/>
            <a:ext cx="3090672" cy="786384"/>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An explicitly defined initial state, often Hartree–Fock.</a:t>
            </a:r>
            <a:endParaRPr lang="en-US" sz="1900" dirty="0"/>
          </a:p>
        </p:txBody>
      </p:sp>
      <p:sp>
        <p:nvSpPr>
          <p:cNvPr id="19" name="Shape 15"/>
          <p:cNvSpPr/>
          <p:nvPr/>
        </p:nvSpPr>
        <p:spPr>
          <a:xfrm>
            <a:off x="8138160" y="4059936"/>
            <a:ext cx="3511296" cy="1481328"/>
          </a:xfrm>
          <a:prstGeom prst="roundRect">
            <a:avLst>
              <a:gd name="adj" fmla="val 6173"/>
            </a:avLst>
          </a:prstGeom>
          <a:solidFill>
            <a:srgbClr val="EEF6F6"/>
          </a:solidFill>
          <a:ln w="12700">
            <a:solidFill>
              <a:srgbClr val="EEF6F6">
                <a:alpha val="0"/>
              </a:srgbClr>
            </a:solidFill>
            <a:prstDash val="solid"/>
          </a:ln>
        </p:spPr>
      </p:sp>
      <p:sp>
        <p:nvSpPr>
          <p:cNvPr id="20" name="Text 16"/>
          <p:cNvSpPr/>
          <p:nvPr/>
        </p:nvSpPr>
        <p:spPr>
          <a:xfrm>
            <a:off x="8348472" y="4206240"/>
            <a:ext cx="3090672"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REFERENCE</a:t>
            </a:r>
            <a:endParaRPr lang="en-US" sz="1800" dirty="0"/>
          </a:p>
        </p:txBody>
      </p:sp>
      <p:sp>
        <p:nvSpPr>
          <p:cNvPr id="21" name="Text 17"/>
          <p:cNvSpPr/>
          <p:nvPr/>
        </p:nvSpPr>
        <p:spPr>
          <a:xfrm>
            <a:off x="8348472" y="4654296"/>
            <a:ext cx="3090672" cy="786384"/>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FCI or exact diagonalization in the same finite model.</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THE PHYSICS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Real time changes phases; imaginary time filters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05</a:t>
            </a:r>
            <a:endParaRPr lang="en-US" sz="1100" dirty="0"/>
          </a:p>
        </p:txBody>
      </p:sp>
      <p:sp>
        <p:nvSpPr>
          <p:cNvPr id="10" name="Shape 7"/>
          <p:cNvSpPr/>
          <p:nvPr/>
        </p:nvSpPr>
        <p:spPr>
          <a:xfrm>
            <a:off x="548640" y="1764792"/>
            <a:ext cx="5394960" cy="2313432"/>
          </a:xfrm>
          <a:prstGeom prst="roundRect">
            <a:avLst>
              <a:gd name="adj" fmla="val 3953"/>
            </a:avLst>
          </a:prstGeom>
          <a:solidFill>
            <a:srgbClr val="EEF6F6"/>
          </a:solidFill>
          <a:ln w="12700">
            <a:solidFill>
              <a:srgbClr val="EEF6F6">
                <a:alpha val="0"/>
              </a:srgbClr>
            </a:solidFill>
            <a:prstDash val="solid"/>
          </a:ln>
        </p:spPr>
      </p:sp>
      <p:sp>
        <p:nvSpPr>
          <p:cNvPr id="11" name="Text 8"/>
          <p:cNvSpPr/>
          <p:nvPr/>
        </p:nvSpPr>
        <p:spPr>
          <a:xfrm>
            <a:off x="758952" y="1911096"/>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REAL TIME</a:t>
            </a:r>
            <a:endParaRPr lang="en-US" sz="1800" dirty="0"/>
          </a:p>
        </p:txBody>
      </p:sp>
      <p:sp>
        <p:nvSpPr>
          <p:cNvPr id="12" name="Text 9"/>
          <p:cNvSpPr/>
          <p:nvPr/>
        </p:nvSpPr>
        <p:spPr>
          <a:xfrm>
            <a:off x="758952" y="2359152"/>
            <a:ext cx="4974336" cy="1618488"/>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Populations stay fixed. Only phases rotate.</a:t>
            </a:r>
            <a:endParaRPr lang="en-US" sz="2100" dirty="0"/>
          </a:p>
        </p:txBody>
      </p:sp>
      <p:sp>
        <p:nvSpPr>
          <p:cNvPr id="13" name="Shape 10"/>
          <p:cNvSpPr/>
          <p:nvPr/>
        </p:nvSpPr>
        <p:spPr>
          <a:xfrm>
            <a:off x="6236208" y="1764792"/>
            <a:ext cx="5394960" cy="2313432"/>
          </a:xfrm>
          <a:prstGeom prst="roundRect">
            <a:avLst>
              <a:gd name="adj" fmla="val 3953"/>
            </a:avLst>
          </a:prstGeom>
          <a:solidFill>
            <a:srgbClr val="EEF6F6"/>
          </a:solidFill>
          <a:ln w="12700">
            <a:solidFill>
              <a:srgbClr val="EEF6F6">
                <a:alpha val="0"/>
              </a:srgbClr>
            </a:solidFill>
            <a:prstDash val="solid"/>
          </a:ln>
        </p:spPr>
      </p:sp>
      <p:sp>
        <p:nvSpPr>
          <p:cNvPr id="14" name="Text 11"/>
          <p:cNvSpPr/>
          <p:nvPr/>
        </p:nvSpPr>
        <p:spPr>
          <a:xfrm>
            <a:off x="6446520" y="1911096"/>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IMAGINARY TIME</a:t>
            </a:r>
            <a:endParaRPr lang="en-US" sz="1800" dirty="0"/>
          </a:p>
        </p:txBody>
      </p:sp>
      <p:sp>
        <p:nvSpPr>
          <p:cNvPr id="15" name="Text 12"/>
          <p:cNvSpPr/>
          <p:nvPr/>
        </p:nvSpPr>
        <p:spPr>
          <a:xfrm>
            <a:off x="6446520" y="2359152"/>
            <a:ext cx="4974336" cy="1618488"/>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Relative populations change. Lower energies gain weight.</a:t>
            </a:r>
            <a:endParaRPr lang="en-US" sz="2100" dirty="0"/>
          </a:p>
        </p:txBody>
      </p:sp>
      <p:pic>
        <p:nvPicPr>
          <p:cNvPr id="16" name="Image 0" descr="/mnt/data/qite_package/slides_source/equations/real.png">    </p:cNvPr>
          <p:cNvPicPr>
            <a:picLocks noChangeAspect="1"/>
          </p:cNvPicPr>
          <p:nvPr/>
        </p:nvPicPr>
        <p:blipFill>
          <a:blip r:embed="rId1"/>
          <a:stretch>
            <a:fillRect/>
          </a:stretch>
        </p:blipFill>
        <p:spPr>
          <a:xfrm>
            <a:off x="1038719" y="3044952"/>
            <a:ext cx="4414801" cy="566928"/>
          </a:xfrm>
          <a:prstGeom prst="rect">
            <a:avLst/>
          </a:prstGeom>
        </p:spPr>
      </p:pic>
      <p:pic>
        <p:nvPicPr>
          <p:cNvPr id="17" name="Image 1" descr="/mnt/data/qite_package/slides_source/equations/imag.png">    </p:cNvPr>
          <p:cNvPicPr>
            <a:picLocks noChangeAspect="1"/>
          </p:cNvPicPr>
          <p:nvPr/>
        </p:nvPicPr>
        <p:blipFill>
          <a:blip r:embed="rId2"/>
          <a:stretch>
            <a:fillRect/>
          </a:stretch>
        </p:blipFill>
        <p:spPr>
          <a:xfrm>
            <a:off x="6759459" y="3044952"/>
            <a:ext cx="4348458" cy="566928"/>
          </a:xfrm>
          <a:prstGeom prst="rect">
            <a:avLst/>
          </a:prstGeom>
        </p:spPr>
      </p:pic>
      <p:sp>
        <p:nvSpPr>
          <p:cNvPr id="18" name="Shape 13"/>
          <p:cNvSpPr/>
          <p:nvPr/>
        </p:nvSpPr>
        <p:spPr>
          <a:xfrm>
            <a:off x="548640" y="4818888"/>
            <a:ext cx="11091672" cy="539496"/>
          </a:xfrm>
          <a:prstGeom prst="roundRect">
            <a:avLst>
              <a:gd name="adj" fmla="val 16949"/>
            </a:avLst>
          </a:prstGeom>
          <a:solidFill>
            <a:srgbClr val="EEF6F6"/>
          </a:solidFill>
          <a:ln w="12700">
            <a:solidFill>
              <a:srgbClr val="EEF6F6">
                <a:alpha val="0"/>
              </a:srgbClr>
            </a:solidFill>
            <a:prstDash val="solid"/>
          </a:ln>
        </p:spPr>
      </p:sp>
      <p:sp>
        <p:nvSpPr>
          <p:cNvPr id="19" name="Text 14"/>
          <p:cNvSpPr/>
          <p:nvPr/>
        </p:nvSpPr>
        <p:spPr>
          <a:xfrm>
            <a:off x="749808" y="4892040"/>
            <a:ext cx="10680192" cy="393192"/>
          </a:xfrm>
          <a:prstGeom prst="rect">
            <a:avLst/>
          </a:prstGeom>
          <a:noFill/>
          <a:ln/>
        </p:spPr>
        <p:txBody>
          <a:bodyPr wrap="square" lIns="0" tIns="0" rIns="0" bIns="0" rtlCol="0" anchor="ctr">
            <a:normAutofit/>
          </a:bodyPr>
          <a:lstStyle/>
          <a:p>
            <a:pPr indent="0" marL="0">
              <a:buNone/>
            </a:pPr>
            <a:r>
              <a:rPr lang="en-US" sz="2100" dirty="0">
                <a:solidFill>
                  <a:srgbClr val="203449"/>
                </a:solidFill>
                <a:latin typeface="Arial" pitchFamily="34" charset="0"/>
                <a:ea typeface="Arial" pitchFamily="34" charset="-122"/>
                <a:cs typeface="Arial" pitchFamily="34" charset="-120"/>
              </a:rPr>
              <a:t>The useful quantity is an energy difference—not the arbitrary zero of energy.</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EXACT IMAGINARY TIME</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Normalize the filter before interpreting the state</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06</a:t>
            </a:r>
            <a:endParaRPr lang="en-US" sz="1100" dirty="0"/>
          </a:p>
        </p:txBody>
      </p:sp>
      <p:pic>
        <p:nvPicPr>
          <p:cNvPr id="10" name="Image 0" descr="/mnt/data/qite_package/slides_source/equations/normalized.png">    </p:cNvPr>
          <p:cNvPicPr>
            <a:picLocks noChangeAspect="1"/>
          </p:cNvPicPr>
          <p:nvPr/>
        </p:nvPicPr>
        <p:blipFill>
          <a:blip r:embed="rId1"/>
          <a:stretch>
            <a:fillRect/>
          </a:stretch>
        </p:blipFill>
        <p:spPr>
          <a:xfrm>
            <a:off x="4307249" y="1764792"/>
            <a:ext cx="3583597" cy="1005840"/>
          </a:xfrm>
          <a:prstGeom prst="rect">
            <a:avLst/>
          </a:prstGeom>
        </p:spPr>
      </p:pic>
      <p:pic>
        <p:nvPicPr>
          <p:cNvPr id="11" name="Image 1" descr="/mnt/data/qite_package/slides_source/equations/population.png">    </p:cNvPr>
          <p:cNvPicPr>
            <a:picLocks noChangeAspect="1"/>
          </p:cNvPicPr>
          <p:nvPr/>
        </p:nvPicPr>
        <p:blipFill>
          <a:blip r:embed="rId2"/>
          <a:stretch>
            <a:fillRect/>
          </a:stretch>
        </p:blipFill>
        <p:spPr>
          <a:xfrm>
            <a:off x="4457862" y="3227832"/>
            <a:ext cx="3273227" cy="886968"/>
          </a:xfrm>
          <a:prstGeom prst="rect">
            <a:avLst/>
          </a:prstGeom>
        </p:spPr>
      </p:pic>
      <p:sp>
        <p:nvSpPr>
          <p:cNvPr id="12" name="Shape 7"/>
          <p:cNvSpPr/>
          <p:nvPr/>
        </p:nvSpPr>
        <p:spPr>
          <a:xfrm>
            <a:off x="548640" y="4901184"/>
            <a:ext cx="11091672" cy="539496"/>
          </a:xfrm>
          <a:prstGeom prst="roundRect">
            <a:avLst>
              <a:gd name="adj" fmla="val 16949"/>
            </a:avLst>
          </a:prstGeom>
          <a:solidFill>
            <a:srgbClr val="EEF6F6"/>
          </a:solidFill>
          <a:ln w="12700">
            <a:solidFill>
              <a:srgbClr val="EEF6F6">
                <a:alpha val="0"/>
              </a:srgbClr>
            </a:solidFill>
            <a:prstDash val="solid"/>
          </a:ln>
        </p:spPr>
      </p:sp>
      <p:sp>
        <p:nvSpPr>
          <p:cNvPr id="13" name="Text 8"/>
          <p:cNvSpPr/>
          <p:nvPr/>
        </p:nvSpPr>
        <p:spPr>
          <a:xfrm>
            <a:off x="749808" y="4974336"/>
            <a:ext cx="10680192" cy="393192"/>
          </a:xfrm>
          <a:prstGeom prst="rect">
            <a:avLst/>
          </a:prstGeom>
          <a:noFill/>
          <a:ln/>
        </p:spPr>
        <p:txBody>
          <a:bodyPr wrap="square" lIns="0" tIns="0" rIns="0" bIns="0" rtlCol="0" anchor="ctr">
            <a:normAutofit/>
          </a:bodyPr>
          <a:lstStyle/>
          <a:p>
            <a:pPr indent="0" marL="0">
              <a:buNone/>
            </a:pPr>
            <a:r>
              <a:rPr lang="en-US" sz="2100" dirty="0">
                <a:solidFill>
                  <a:srgbClr val="203449"/>
                </a:solidFill>
                <a:latin typeface="Arial" pitchFamily="34" charset="0"/>
                <a:ea typeface="Arial" pitchFamily="34" charset="-122"/>
                <a:cs typeface="Arial" pitchFamily="34" charset="-120"/>
              </a:rPr>
              <a:t>Amplitude ratios decay with exp(−τΔE); population ratios with exp(−2τΔE).</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A FIRST VISUAL EXAMPLE</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Watch the excited-state weight disappear</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07</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Original calculation for this guide. Exact statevectors; no device noise, shots, or gate-synthesis error.</a:t>
            </a:r>
            <a:endParaRPr lang="en-US" sz="920" dirty="0"/>
          </a:p>
        </p:txBody>
      </p:sp>
      <p:pic>
        <p:nvPicPr>
          <p:cNvPr id="11" name="Image 0" descr="/mnt/data/qite_package/figures/one_qubit_filter.png">    </p:cNvPr>
          <p:cNvPicPr>
            <a:picLocks noChangeAspect="1"/>
          </p:cNvPicPr>
          <p:nvPr/>
        </p:nvPicPr>
        <p:blipFill>
          <a:blip r:embed="rId1"/>
          <a:stretch>
            <a:fillRect/>
          </a:stretch>
        </p:blipFill>
        <p:spPr>
          <a:xfrm>
            <a:off x="977587" y="1591056"/>
            <a:ext cx="7746609" cy="4315968"/>
          </a:xfrm>
          <a:prstGeom prst="rect">
            <a:avLst/>
          </a:prstGeom>
        </p:spPr>
      </p:pic>
      <p:sp>
        <p:nvSpPr>
          <p:cNvPr id="12" name="Text 8"/>
          <p:cNvSpPr/>
          <p:nvPr/>
        </p:nvSpPr>
        <p:spPr>
          <a:xfrm>
            <a:off x="9208008" y="1938528"/>
            <a:ext cx="2157984" cy="3337560"/>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H = Z</a:t>
            </a:r>
            <a:endParaRPr lang="en-US" sz="2200" dirty="0"/>
          </a:p>
          <a:p>
            <a:pPr indent="0" marL="0">
              <a:buNone/>
            </a:pPr>
            <a:endParaRPr lang="en-US" sz="2200" dirty="0"/>
          </a:p>
          <a:p>
            <a:pPr indent="0" marL="0">
              <a:buNone/>
            </a:pPr>
            <a:r>
              <a:rPr lang="en-US" sz="2200" b="1" dirty="0">
                <a:solidFill>
                  <a:srgbClr val="142C46"/>
                </a:solidFill>
                <a:latin typeface="Arial" pitchFamily="34" charset="0"/>
                <a:ea typeface="Arial" pitchFamily="34" charset="-122"/>
                <a:cs typeface="Arial" pitchFamily="34" charset="-120"/>
              </a:rPr>
              <a:t>Start: |+⟩</a:t>
            </a:r>
            <a:endParaRPr lang="en-US" sz="2200" dirty="0"/>
          </a:p>
          <a:p>
            <a:pPr indent="0" marL="0">
              <a:buNone/>
            </a:pPr>
            <a:endParaRPr lang="en-US" sz="2200" dirty="0"/>
          </a:p>
          <a:p>
            <a:pPr indent="0" marL="0">
              <a:buNone/>
            </a:pPr>
            <a:r>
              <a:rPr lang="en-US" sz="2200" b="1" dirty="0">
                <a:solidFill>
                  <a:srgbClr val="142C46"/>
                </a:solidFill>
                <a:latin typeface="Arial" pitchFamily="34" charset="0"/>
                <a:ea typeface="Arial" pitchFamily="34" charset="-122"/>
                <a:cs typeface="Arial" pitchFamily="34" charset="-120"/>
              </a:rPr>
              <a:t>Ground: |1⟩</a:t>
            </a:r>
            <a:endParaRPr lang="en-US" sz="2200" dirty="0"/>
          </a:p>
          <a:p>
            <a:pPr indent="0" marL="0">
              <a:buNone/>
            </a:pPr>
            <a:endParaRPr lang="en-US" sz="2200" dirty="0"/>
          </a:p>
          <a:p>
            <a:pPr indent="0" marL="0">
              <a:buNone/>
            </a:pPr>
            <a:r>
              <a:rPr lang="en-US" sz="2200" b="1" dirty="0">
                <a:solidFill>
                  <a:srgbClr val="142C46"/>
                </a:solidFill>
                <a:latin typeface="Arial" pitchFamily="34" charset="0"/>
                <a:ea typeface="Arial" pitchFamily="34" charset="-122"/>
                <a:cs typeface="Arial" pitchFamily="34" charset="-120"/>
              </a:rPr>
              <a:t>Energy: −1</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ASSUMPTIONS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Convergence has conditions—not a universal promise</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08</a:t>
            </a:r>
            <a:endParaRPr lang="en-US" sz="1100" dirty="0"/>
          </a:p>
        </p:txBody>
      </p:sp>
      <p:pic>
        <p:nvPicPr>
          <p:cNvPr id="10" name="Image 0" descr="/mnt/data/qite_package/slides_source/equations/gap.png">    </p:cNvPr>
          <p:cNvPicPr>
            <a:picLocks noChangeAspect="1"/>
          </p:cNvPicPr>
          <p:nvPr/>
        </p:nvPicPr>
        <p:blipFill>
          <a:blip r:embed="rId1"/>
          <a:stretch>
            <a:fillRect/>
          </a:stretch>
        </p:blipFill>
        <p:spPr>
          <a:xfrm>
            <a:off x="2883941" y="1792224"/>
            <a:ext cx="6421069" cy="832104"/>
          </a:xfrm>
          <a:prstGeom prst="rect">
            <a:avLst/>
          </a:prstGeom>
        </p:spPr>
      </p:pic>
      <p:sp>
        <p:nvSpPr>
          <p:cNvPr id="11" name="Shape 7"/>
          <p:cNvSpPr/>
          <p:nvPr/>
        </p:nvSpPr>
        <p:spPr>
          <a:xfrm>
            <a:off x="548640" y="2971800"/>
            <a:ext cx="3502152" cy="1746504"/>
          </a:xfrm>
          <a:prstGeom prst="roundRect">
            <a:avLst>
              <a:gd name="adj" fmla="val 5236"/>
            </a:avLst>
          </a:prstGeom>
          <a:solidFill>
            <a:srgbClr val="EEF6F6"/>
          </a:solidFill>
          <a:ln w="12700">
            <a:solidFill>
              <a:srgbClr val="EEF6F6">
                <a:alpha val="0"/>
              </a:srgbClr>
            </a:solidFill>
            <a:prstDash val="solid"/>
          </a:ln>
        </p:spPr>
      </p:sp>
      <p:sp>
        <p:nvSpPr>
          <p:cNvPr id="12" name="Text 8"/>
          <p:cNvSpPr/>
          <p:nvPr/>
        </p:nvSpPr>
        <p:spPr>
          <a:xfrm>
            <a:off x="758952" y="311810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OVERLAP</a:t>
            </a:r>
            <a:endParaRPr lang="en-US" sz="1800" dirty="0"/>
          </a:p>
        </p:txBody>
      </p:sp>
      <p:sp>
        <p:nvSpPr>
          <p:cNvPr id="13" name="Text 9"/>
          <p:cNvSpPr/>
          <p:nvPr/>
        </p:nvSpPr>
        <p:spPr>
          <a:xfrm>
            <a:off x="758952" y="3566160"/>
            <a:ext cx="3081528" cy="1051560"/>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A ground-space component must be present initially.</a:t>
            </a:r>
            <a:endParaRPr lang="en-US" sz="2100" dirty="0"/>
          </a:p>
        </p:txBody>
      </p:sp>
      <p:sp>
        <p:nvSpPr>
          <p:cNvPr id="14" name="Shape 10"/>
          <p:cNvSpPr/>
          <p:nvPr/>
        </p:nvSpPr>
        <p:spPr>
          <a:xfrm>
            <a:off x="4343400" y="2971800"/>
            <a:ext cx="3502152" cy="1746504"/>
          </a:xfrm>
          <a:prstGeom prst="roundRect">
            <a:avLst>
              <a:gd name="adj" fmla="val 5236"/>
            </a:avLst>
          </a:prstGeom>
          <a:solidFill>
            <a:srgbClr val="EEF6F6"/>
          </a:solidFill>
          <a:ln w="12700">
            <a:solidFill>
              <a:srgbClr val="EEF6F6">
                <a:alpha val="0"/>
              </a:srgbClr>
            </a:solidFill>
            <a:prstDash val="solid"/>
          </a:ln>
        </p:spPr>
      </p:sp>
      <p:sp>
        <p:nvSpPr>
          <p:cNvPr id="15" name="Text 11"/>
          <p:cNvSpPr/>
          <p:nvPr/>
        </p:nvSpPr>
        <p:spPr>
          <a:xfrm>
            <a:off x="4553712" y="311810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GAP</a:t>
            </a:r>
            <a:endParaRPr lang="en-US" sz="1800" dirty="0"/>
          </a:p>
        </p:txBody>
      </p:sp>
      <p:sp>
        <p:nvSpPr>
          <p:cNvPr id="16" name="Text 12"/>
          <p:cNvSpPr/>
          <p:nvPr/>
        </p:nvSpPr>
        <p:spPr>
          <a:xfrm>
            <a:off x="4553712" y="3566160"/>
            <a:ext cx="3081528" cy="1051560"/>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A small relevant gap requires longer imaginary time.</a:t>
            </a:r>
            <a:endParaRPr lang="en-US" sz="2100" dirty="0"/>
          </a:p>
        </p:txBody>
      </p:sp>
      <p:sp>
        <p:nvSpPr>
          <p:cNvPr id="17" name="Shape 13"/>
          <p:cNvSpPr/>
          <p:nvPr/>
        </p:nvSpPr>
        <p:spPr>
          <a:xfrm>
            <a:off x="8138160" y="2971800"/>
            <a:ext cx="3502152" cy="1746504"/>
          </a:xfrm>
          <a:prstGeom prst="roundRect">
            <a:avLst>
              <a:gd name="adj" fmla="val 5236"/>
            </a:avLst>
          </a:prstGeom>
          <a:solidFill>
            <a:srgbClr val="EEF6F6"/>
          </a:solidFill>
          <a:ln w="12700">
            <a:solidFill>
              <a:srgbClr val="EEF6F6">
                <a:alpha val="0"/>
              </a:srgbClr>
            </a:solidFill>
            <a:prstDash val="solid"/>
          </a:ln>
        </p:spPr>
      </p:sp>
      <p:sp>
        <p:nvSpPr>
          <p:cNvPr id="18" name="Text 14"/>
          <p:cNvSpPr/>
          <p:nvPr/>
        </p:nvSpPr>
        <p:spPr>
          <a:xfrm>
            <a:off x="8348472" y="311810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SECTOR</a:t>
            </a:r>
            <a:endParaRPr lang="en-US" sz="1800" dirty="0"/>
          </a:p>
        </p:txBody>
      </p:sp>
      <p:sp>
        <p:nvSpPr>
          <p:cNvPr id="19" name="Text 15"/>
          <p:cNvSpPr/>
          <p:nvPr/>
        </p:nvSpPr>
        <p:spPr>
          <a:xfrm>
            <a:off x="8348472" y="3566160"/>
            <a:ext cx="3081528" cy="1051560"/>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Use the correct electron number and symmetry sector.</a:t>
            </a:r>
            <a:endParaRPr lang="en-US" sz="2100" dirty="0"/>
          </a:p>
        </p:txBody>
      </p:sp>
      <p:sp>
        <p:nvSpPr>
          <p:cNvPr id="20" name="Shape 16"/>
          <p:cNvSpPr/>
          <p:nvPr/>
        </p:nvSpPr>
        <p:spPr>
          <a:xfrm>
            <a:off x="548640" y="5184648"/>
            <a:ext cx="11091672" cy="539496"/>
          </a:xfrm>
          <a:prstGeom prst="roundRect">
            <a:avLst>
              <a:gd name="adj" fmla="val 16949"/>
            </a:avLst>
          </a:prstGeom>
          <a:solidFill>
            <a:srgbClr val="FFF3DD"/>
          </a:solidFill>
          <a:ln w="12700">
            <a:solidFill>
              <a:srgbClr val="FFF3DD">
                <a:alpha val="0"/>
              </a:srgbClr>
            </a:solidFill>
            <a:prstDash val="solid"/>
          </a:ln>
        </p:spPr>
      </p:sp>
      <p:sp>
        <p:nvSpPr>
          <p:cNvPr id="21" name="Text 17"/>
          <p:cNvSpPr/>
          <p:nvPr/>
        </p:nvSpPr>
        <p:spPr>
          <a:xfrm>
            <a:off x="749808" y="5257800"/>
            <a:ext cx="10680192" cy="393192"/>
          </a:xfrm>
          <a:prstGeom prst="rect">
            <a:avLst/>
          </a:prstGeom>
          <a:noFill/>
          <a:ln/>
        </p:spPr>
        <p:txBody>
          <a:bodyPr wrap="square" lIns="0" tIns="0" rIns="0" bIns="0" rtlCol="0" anchor="ctr">
            <a:normAutofit/>
          </a:bodyPr>
          <a:lstStyle/>
          <a:p>
            <a:pPr indent="0" marL="0">
              <a:buNone/>
            </a:pPr>
            <a:r>
              <a:rPr lang="en-US" sz="2000" dirty="0">
                <a:solidFill>
                  <a:srgbClr val="203449"/>
                </a:solidFill>
                <a:latin typeface="Arial" pitchFamily="34" charset="0"/>
                <a:ea typeface="Arial" pitchFamily="34" charset="-122"/>
                <a:cs typeface="Arial" pitchFamily="34" charset="-120"/>
              </a:rPr>
              <a:t>Degenerate ground energy → projection into the ground space, not a unique eigenvector.</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THE IMPLEMENTATION OBSTACLE</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Why not implement exp(−τH) as an ordinary circuit?</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09</a:t>
            </a:r>
            <a:endParaRPr lang="en-US" sz="1100" dirty="0"/>
          </a:p>
        </p:txBody>
      </p:sp>
      <p:pic>
        <p:nvPicPr>
          <p:cNvPr id="10" name="Image 0" descr="/mnt/data/qite_package/slides_source/equations/nonunitary.png">    </p:cNvPr>
          <p:cNvPicPr>
            <a:picLocks noChangeAspect="1"/>
          </p:cNvPicPr>
          <p:nvPr/>
        </p:nvPicPr>
        <p:blipFill>
          <a:blip r:embed="rId1"/>
          <a:stretch>
            <a:fillRect/>
          </a:stretch>
        </p:blipFill>
        <p:spPr>
          <a:xfrm>
            <a:off x="768096" y="1885950"/>
            <a:ext cx="10698480" cy="891540"/>
          </a:xfrm>
          <a:prstGeom prst="rect">
            <a:avLst/>
          </a:prstGeom>
        </p:spPr>
      </p:pic>
      <p:sp>
        <p:nvSpPr>
          <p:cNvPr id="11" name="Shape 7"/>
          <p:cNvSpPr/>
          <p:nvPr/>
        </p:nvSpPr>
        <p:spPr>
          <a:xfrm>
            <a:off x="548640" y="3346704"/>
            <a:ext cx="5394960" cy="1719072"/>
          </a:xfrm>
          <a:prstGeom prst="roundRect">
            <a:avLst>
              <a:gd name="adj" fmla="val 5319"/>
            </a:avLst>
          </a:prstGeom>
          <a:solidFill>
            <a:srgbClr val="EEF6F6"/>
          </a:solidFill>
          <a:ln w="12700">
            <a:solidFill>
              <a:srgbClr val="EEF6F6">
                <a:alpha val="0"/>
              </a:srgbClr>
            </a:solidFill>
            <a:prstDash val="solid"/>
          </a:ln>
        </p:spPr>
      </p:sp>
      <p:sp>
        <p:nvSpPr>
          <p:cNvPr id="12" name="Text 8"/>
          <p:cNvSpPr/>
          <p:nvPr/>
        </p:nvSpPr>
        <p:spPr>
          <a:xfrm>
            <a:off x="758952" y="349300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ORDINARY CIRCUIT</a:t>
            </a:r>
            <a:endParaRPr lang="en-US" sz="1800" dirty="0"/>
          </a:p>
        </p:txBody>
      </p:sp>
      <p:sp>
        <p:nvSpPr>
          <p:cNvPr id="13" name="Text 9"/>
          <p:cNvSpPr/>
          <p:nvPr/>
        </p:nvSpPr>
        <p:spPr>
          <a:xfrm>
            <a:off x="758952" y="3941064"/>
            <a:ext cx="4974336" cy="1024128"/>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One unitary must preserve inner products for all input states.</a:t>
            </a:r>
            <a:endParaRPr lang="en-US" sz="2100" dirty="0"/>
          </a:p>
        </p:txBody>
      </p:sp>
      <p:sp>
        <p:nvSpPr>
          <p:cNvPr id="14" name="Shape 10"/>
          <p:cNvSpPr/>
          <p:nvPr/>
        </p:nvSpPr>
        <p:spPr>
          <a:xfrm>
            <a:off x="6236208" y="3346704"/>
            <a:ext cx="5394960" cy="1719072"/>
          </a:xfrm>
          <a:prstGeom prst="roundRect">
            <a:avLst>
              <a:gd name="adj" fmla="val 5319"/>
            </a:avLst>
          </a:prstGeom>
          <a:solidFill>
            <a:srgbClr val="EEF6F6"/>
          </a:solidFill>
          <a:ln w="12700">
            <a:solidFill>
              <a:srgbClr val="EEF6F6">
                <a:alpha val="0"/>
              </a:srgbClr>
            </a:solidFill>
            <a:prstDash val="solid"/>
          </a:ln>
        </p:spPr>
      </p:sp>
      <p:sp>
        <p:nvSpPr>
          <p:cNvPr id="15" name="Text 11"/>
          <p:cNvSpPr/>
          <p:nvPr/>
        </p:nvSpPr>
        <p:spPr>
          <a:xfrm>
            <a:off x="6446520" y="349300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NORMALIZED FILTER</a:t>
            </a:r>
            <a:endParaRPr lang="en-US" sz="1800" dirty="0"/>
          </a:p>
        </p:txBody>
      </p:sp>
      <p:sp>
        <p:nvSpPr>
          <p:cNvPr id="16" name="Text 12"/>
          <p:cNvSpPr/>
          <p:nvPr/>
        </p:nvSpPr>
        <p:spPr>
          <a:xfrm>
            <a:off x="6446520" y="3941064"/>
            <a:ext cx="4974336" cy="1024128"/>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The normalization depends on the input state; the map is nonlinear.</a:t>
            </a:r>
            <a:endParaRPr lang="en-US" sz="2100" dirty="0"/>
          </a:p>
        </p:txBody>
      </p:sp>
      <p:sp>
        <p:nvSpPr>
          <p:cNvPr id="17" name="Shape 13"/>
          <p:cNvSpPr/>
          <p:nvPr/>
        </p:nvSpPr>
        <p:spPr>
          <a:xfrm>
            <a:off x="548640" y="5349240"/>
            <a:ext cx="11091672" cy="539496"/>
          </a:xfrm>
          <a:prstGeom prst="roundRect">
            <a:avLst>
              <a:gd name="adj" fmla="val 16949"/>
            </a:avLst>
          </a:prstGeom>
          <a:solidFill>
            <a:srgbClr val="FFF3DD"/>
          </a:solidFill>
          <a:ln w="12700">
            <a:solidFill>
              <a:srgbClr val="FFF3DD">
                <a:alpha val="0"/>
              </a:srgbClr>
            </a:solidFill>
            <a:prstDash val="solid"/>
          </a:ln>
        </p:spPr>
      </p:sp>
      <p:sp>
        <p:nvSpPr>
          <p:cNvPr id="18" name="Text 14"/>
          <p:cNvSpPr/>
          <p:nvPr/>
        </p:nvSpPr>
        <p:spPr>
          <a:xfrm>
            <a:off x="749808" y="5422392"/>
            <a:ext cx="10680192" cy="393192"/>
          </a:xfrm>
          <a:prstGeom prst="rect">
            <a:avLst/>
          </a:prstGeom>
          <a:noFill/>
          <a:ln/>
        </p:spPr>
        <p:txBody>
          <a:bodyPr wrap="square" lIns="0" tIns="0" rIns="0" bIns="0" rtlCol="0" anchor="ctr">
            <a:normAutofit/>
          </a:bodyPr>
          <a:lstStyle/>
          <a:p>
            <a:pPr indent="0" marL="0">
              <a:buNone/>
            </a:pPr>
            <a:r>
              <a:rPr lang="en-US" sz="1900" dirty="0">
                <a:solidFill>
                  <a:srgbClr val="203449"/>
                </a:solidFill>
                <a:latin typeface="Arial" pitchFamily="34" charset="0"/>
                <a:ea typeface="Arial" pitchFamily="34" charset="-122"/>
                <a:cs typeface="Arial" pitchFamily="34" charset="-120"/>
              </a:rPr>
              <a:t>Non-unitarity is not “forbidden physics”: measurement-based protocols have different costs.</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THE KEY IDEA</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QITE unitary is tailored to the current state</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10</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[1] Motta et al., Nature Physics 16, 205–210 (2020); arXiv:1901.07653.</a:t>
            </a:r>
            <a:endParaRPr lang="en-US" sz="920" dirty="0"/>
          </a:p>
        </p:txBody>
      </p:sp>
      <p:pic>
        <p:nvPicPr>
          <p:cNvPr id="11" name="Image 0" descr="/mnt/data/qite_package/slides_source/equations/unitarystate.png">    </p:cNvPr>
          <p:cNvPicPr>
            <a:picLocks noChangeAspect="1"/>
          </p:cNvPicPr>
          <p:nvPr/>
        </p:nvPicPr>
        <p:blipFill>
          <a:blip r:embed="rId1"/>
          <a:stretch>
            <a:fillRect/>
          </a:stretch>
        </p:blipFill>
        <p:spPr>
          <a:xfrm>
            <a:off x="4303190" y="1792224"/>
            <a:ext cx="3564284" cy="1005840"/>
          </a:xfrm>
          <a:prstGeom prst="rect">
            <a:avLst/>
          </a:prstGeom>
        </p:spPr>
      </p:pic>
      <p:sp>
        <p:nvSpPr>
          <p:cNvPr id="12" name="Shape 8"/>
          <p:cNvSpPr/>
          <p:nvPr/>
        </p:nvSpPr>
        <p:spPr>
          <a:xfrm>
            <a:off x="548640" y="3227832"/>
            <a:ext cx="5394960" cy="1664208"/>
          </a:xfrm>
          <a:prstGeom prst="roundRect">
            <a:avLst>
              <a:gd name="adj" fmla="val 5495"/>
            </a:avLst>
          </a:prstGeom>
          <a:solidFill>
            <a:srgbClr val="EEF6F6"/>
          </a:solidFill>
          <a:ln w="12700">
            <a:solidFill>
              <a:srgbClr val="EEF6F6">
                <a:alpha val="0"/>
              </a:srgbClr>
            </a:solidFill>
            <a:prstDash val="solid"/>
          </a:ln>
        </p:spPr>
      </p:sp>
      <p:sp>
        <p:nvSpPr>
          <p:cNvPr id="13" name="Text 9"/>
          <p:cNvSpPr/>
          <p:nvPr/>
        </p:nvSpPr>
        <p:spPr>
          <a:xfrm>
            <a:off x="758952" y="3374136"/>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WHAT IS MATCHED?</a:t>
            </a:r>
            <a:endParaRPr lang="en-US" sz="1800" dirty="0"/>
          </a:p>
        </p:txBody>
      </p:sp>
      <p:sp>
        <p:nvSpPr>
          <p:cNvPr id="14" name="Text 10"/>
          <p:cNvSpPr/>
          <p:nvPr/>
        </p:nvSpPr>
        <p:spPr>
          <a:xfrm>
            <a:off x="758952" y="3822192"/>
            <a:ext cx="4974336" cy="969264"/>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The action on one current state—not on every possible input.</a:t>
            </a:r>
            <a:endParaRPr lang="en-US" sz="1900" dirty="0"/>
          </a:p>
        </p:txBody>
      </p:sp>
      <p:sp>
        <p:nvSpPr>
          <p:cNvPr id="15" name="Shape 11"/>
          <p:cNvSpPr/>
          <p:nvPr/>
        </p:nvSpPr>
        <p:spPr>
          <a:xfrm>
            <a:off x="6236208" y="3227832"/>
            <a:ext cx="5394960" cy="1664208"/>
          </a:xfrm>
          <a:prstGeom prst="roundRect">
            <a:avLst>
              <a:gd name="adj" fmla="val 5495"/>
            </a:avLst>
          </a:prstGeom>
          <a:solidFill>
            <a:srgbClr val="EEF6F6"/>
          </a:solidFill>
          <a:ln w="12700">
            <a:solidFill>
              <a:srgbClr val="EEF6F6">
                <a:alpha val="0"/>
              </a:srgbClr>
            </a:solidFill>
            <a:prstDash val="solid"/>
          </a:ln>
        </p:spPr>
      </p:sp>
      <p:sp>
        <p:nvSpPr>
          <p:cNvPr id="16" name="Text 12"/>
          <p:cNvSpPr/>
          <p:nvPr/>
        </p:nvSpPr>
        <p:spPr>
          <a:xfrm>
            <a:off x="6446520" y="3374136"/>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WHAT MUST BE RELEARNED?</a:t>
            </a:r>
            <a:endParaRPr lang="en-US" sz="1800" dirty="0"/>
          </a:p>
        </p:txBody>
      </p:sp>
      <p:sp>
        <p:nvSpPr>
          <p:cNvPr id="17" name="Text 13"/>
          <p:cNvSpPr/>
          <p:nvPr/>
        </p:nvSpPr>
        <p:spPr>
          <a:xfrm>
            <a:off x="6446520" y="3822192"/>
            <a:ext cx="4974336" cy="969264"/>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The generator after the state changes, usually at each update.</a:t>
            </a:r>
            <a:endParaRPr lang="en-US" sz="1900" dirty="0"/>
          </a:p>
        </p:txBody>
      </p:sp>
      <p:sp>
        <p:nvSpPr>
          <p:cNvPr id="18" name="Shape 14"/>
          <p:cNvSpPr/>
          <p:nvPr/>
        </p:nvSpPr>
        <p:spPr>
          <a:xfrm>
            <a:off x="548640" y="5330952"/>
            <a:ext cx="11091672" cy="539496"/>
          </a:xfrm>
          <a:prstGeom prst="roundRect">
            <a:avLst>
              <a:gd name="adj" fmla="val 16949"/>
            </a:avLst>
          </a:prstGeom>
          <a:solidFill>
            <a:srgbClr val="EEF6F6"/>
          </a:solidFill>
          <a:ln w="12700">
            <a:solidFill>
              <a:srgbClr val="EEF6F6">
                <a:alpha val="0"/>
              </a:srgbClr>
            </a:solidFill>
            <a:prstDash val="solid"/>
          </a:ln>
        </p:spPr>
      </p:sp>
      <p:sp>
        <p:nvSpPr>
          <p:cNvPr id="19" name="Text 15"/>
          <p:cNvSpPr/>
          <p:nvPr/>
        </p:nvSpPr>
        <p:spPr>
          <a:xfrm>
            <a:off x="749808" y="5404104"/>
            <a:ext cx="10680192" cy="393192"/>
          </a:xfrm>
          <a:prstGeom prst="rect">
            <a:avLst/>
          </a:prstGeom>
          <a:noFill/>
          <a:ln/>
        </p:spPr>
        <p:txBody>
          <a:bodyPr wrap="square" lIns="0" tIns="0" rIns="0" bIns="0" rtlCol="0" anchor="ctr">
            <a:normAutofit/>
          </a:bodyPr>
          <a:lstStyle/>
          <a:p>
            <a:pPr indent="0" marL="0">
              <a:buNone/>
            </a:pPr>
            <a:r>
              <a:rPr lang="en-US" sz="2100" dirty="0">
                <a:solidFill>
                  <a:srgbClr val="203449"/>
                </a:solidFill>
                <a:latin typeface="Arial" pitchFamily="34" charset="0"/>
                <a:ea typeface="Arial" pitchFamily="34" charset="-122"/>
                <a:cs typeface="Arial" pitchFamily="34" charset="-120"/>
              </a:rPr>
              <a:t>State dependence is the way around the universal-unitary obstruction.</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THE DIFFERENTIAL EQUATION</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Normalization gives a centered flow</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11</a:t>
            </a:r>
            <a:endParaRPr lang="en-US" sz="1100" dirty="0"/>
          </a:p>
        </p:txBody>
      </p:sp>
      <p:pic>
        <p:nvPicPr>
          <p:cNvPr id="10" name="Image 0" descr="/mnt/data/qite_package/slides_source/equations/flow.png">    </p:cNvPr>
          <p:cNvPicPr>
            <a:picLocks noChangeAspect="1"/>
          </p:cNvPicPr>
          <p:nvPr/>
        </p:nvPicPr>
        <p:blipFill>
          <a:blip r:embed="rId1"/>
          <a:stretch>
            <a:fillRect/>
          </a:stretch>
        </p:blipFill>
        <p:spPr>
          <a:xfrm>
            <a:off x="832104" y="1968218"/>
            <a:ext cx="10515600" cy="727004"/>
          </a:xfrm>
          <a:prstGeom prst="rect">
            <a:avLst/>
          </a:prstGeom>
        </p:spPr>
      </p:pic>
      <p:sp>
        <p:nvSpPr>
          <p:cNvPr id="11" name="Shape 7"/>
          <p:cNvSpPr/>
          <p:nvPr/>
        </p:nvSpPr>
        <p:spPr>
          <a:xfrm>
            <a:off x="548640" y="3328416"/>
            <a:ext cx="5394960" cy="1691640"/>
          </a:xfrm>
          <a:prstGeom prst="roundRect">
            <a:avLst>
              <a:gd name="adj" fmla="val 5405"/>
            </a:avLst>
          </a:prstGeom>
          <a:solidFill>
            <a:srgbClr val="EEF6F6"/>
          </a:solidFill>
          <a:ln w="12700">
            <a:solidFill>
              <a:srgbClr val="EEF6F6">
                <a:alpha val="0"/>
              </a:srgbClr>
            </a:solidFill>
            <a:prstDash val="solid"/>
          </a:ln>
        </p:spPr>
      </p:sp>
      <p:sp>
        <p:nvSpPr>
          <p:cNvPr id="12" name="Text 8"/>
          <p:cNvSpPr/>
          <p:nvPr/>
        </p:nvSpPr>
        <p:spPr>
          <a:xfrm>
            <a:off x="758952" y="3474720"/>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H |ψ⟩</a:t>
            </a:r>
            <a:endParaRPr lang="en-US" sz="1800" dirty="0"/>
          </a:p>
        </p:txBody>
      </p:sp>
      <p:sp>
        <p:nvSpPr>
          <p:cNvPr id="13" name="Text 9"/>
          <p:cNvSpPr/>
          <p:nvPr/>
        </p:nvSpPr>
        <p:spPr>
          <a:xfrm>
            <a:off x="758952" y="3922776"/>
            <a:ext cx="4974336" cy="996696"/>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Contains both state-changing and norm-changing components.</a:t>
            </a:r>
            <a:endParaRPr lang="en-US" sz="2100" dirty="0"/>
          </a:p>
        </p:txBody>
      </p:sp>
      <p:sp>
        <p:nvSpPr>
          <p:cNvPr id="14" name="Shape 10"/>
          <p:cNvSpPr/>
          <p:nvPr/>
        </p:nvSpPr>
        <p:spPr>
          <a:xfrm>
            <a:off x="6236208" y="3328416"/>
            <a:ext cx="5394960" cy="1691640"/>
          </a:xfrm>
          <a:prstGeom prst="roundRect">
            <a:avLst>
              <a:gd name="adj" fmla="val 5405"/>
            </a:avLst>
          </a:prstGeom>
          <a:solidFill>
            <a:srgbClr val="EEF6F6"/>
          </a:solidFill>
          <a:ln w="12700">
            <a:solidFill>
              <a:srgbClr val="EEF6F6">
                <a:alpha val="0"/>
              </a:srgbClr>
            </a:solidFill>
            <a:prstDash val="solid"/>
          </a:ln>
        </p:spPr>
      </p:sp>
      <p:sp>
        <p:nvSpPr>
          <p:cNvPr id="15" name="Text 11"/>
          <p:cNvSpPr/>
          <p:nvPr/>
        </p:nvSpPr>
        <p:spPr>
          <a:xfrm>
            <a:off x="6446520" y="3474720"/>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(H − E) |ψ⟩</a:t>
            </a:r>
            <a:endParaRPr lang="en-US" sz="1800" dirty="0"/>
          </a:p>
        </p:txBody>
      </p:sp>
      <p:sp>
        <p:nvSpPr>
          <p:cNvPr id="16" name="Text 12"/>
          <p:cNvSpPr/>
          <p:nvPr/>
        </p:nvSpPr>
        <p:spPr>
          <a:xfrm>
            <a:off x="6446520" y="3922776"/>
            <a:ext cx="4974336" cy="996696"/>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Removes the component that only changes normalization.</a:t>
            </a:r>
            <a:endParaRPr lang="en-US" sz="2100" dirty="0"/>
          </a:p>
        </p:txBody>
      </p:sp>
      <p:sp>
        <p:nvSpPr>
          <p:cNvPr id="17" name="Shape 13"/>
          <p:cNvSpPr/>
          <p:nvPr/>
        </p:nvSpPr>
        <p:spPr>
          <a:xfrm>
            <a:off x="548640" y="5330952"/>
            <a:ext cx="11091672" cy="539496"/>
          </a:xfrm>
          <a:prstGeom prst="roundRect">
            <a:avLst>
              <a:gd name="adj" fmla="val 16949"/>
            </a:avLst>
          </a:prstGeom>
          <a:solidFill>
            <a:srgbClr val="EEF6F6"/>
          </a:solidFill>
          <a:ln w="12700">
            <a:solidFill>
              <a:srgbClr val="EEF6F6">
                <a:alpha val="0"/>
              </a:srgbClr>
            </a:solidFill>
            <a:prstDash val="solid"/>
          </a:ln>
        </p:spPr>
      </p:sp>
      <p:sp>
        <p:nvSpPr>
          <p:cNvPr id="18" name="Text 14"/>
          <p:cNvSpPr/>
          <p:nvPr/>
        </p:nvSpPr>
        <p:spPr>
          <a:xfrm>
            <a:off x="749808" y="5404104"/>
            <a:ext cx="10680192" cy="393192"/>
          </a:xfrm>
          <a:prstGeom prst="rect">
            <a:avLst/>
          </a:prstGeom>
          <a:noFill/>
          <a:ln/>
        </p:spPr>
        <p:txBody>
          <a:bodyPr wrap="square" lIns="0" tIns="0" rIns="0" bIns="0" rtlCol="0" anchor="ctr">
            <a:normAutofit/>
          </a:bodyPr>
          <a:lstStyle/>
          <a:p>
            <a:pPr indent="0" marL="0">
              <a:buNone/>
            </a:pPr>
            <a:r>
              <a:rPr lang="en-US" sz="2100" dirty="0">
                <a:solidFill>
                  <a:srgbClr val="203449"/>
                </a:solidFill>
                <a:latin typeface="Arial" pitchFamily="34" charset="0"/>
                <a:ea typeface="Arial" pitchFamily="34" charset="-122"/>
                <a:cs typeface="Arial" pitchFamily="34" charset="-120"/>
              </a:rPr>
              <a:t>A scalar energy offset changes the energy label, not the normalized trajectory.</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A DIAGNOSTIC WITH LIMITS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Exact imaginary time cannot increase energy</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12</a:t>
            </a:r>
            <a:endParaRPr lang="en-US" sz="1100" dirty="0"/>
          </a:p>
        </p:txBody>
      </p:sp>
      <p:pic>
        <p:nvPicPr>
          <p:cNvPr id="10" name="Image 0" descr="/mnt/data/qite_package/slides_source/equations/variance.png">    </p:cNvPr>
          <p:cNvPicPr>
            <a:picLocks noChangeAspect="1"/>
          </p:cNvPicPr>
          <p:nvPr/>
        </p:nvPicPr>
        <p:blipFill>
          <a:blip r:embed="rId1"/>
          <a:stretch>
            <a:fillRect/>
          </a:stretch>
        </p:blipFill>
        <p:spPr>
          <a:xfrm>
            <a:off x="2742594" y="1819656"/>
            <a:ext cx="6703764" cy="914400"/>
          </a:xfrm>
          <a:prstGeom prst="rect">
            <a:avLst/>
          </a:prstGeom>
        </p:spPr>
      </p:pic>
      <p:sp>
        <p:nvSpPr>
          <p:cNvPr id="11" name="Shape 7"/>
          <p:cNvSpPr/>
          <p:nvPr/>
        </p:nvSpPr>
        <p:spPr>
          <a:xfrm>
            <a:off x="548640" y="3282696"/>
            <a:ext cx="3502152" cy="1563624"/>
          </a:xfrm>
          <a:prstGeom prst="roundRect">
            <a:avLst>
              <a:gd name="adj" fmla="val 5848"/>
            </a:avLst>
          </a:prstGeom>
          <a:solidFill>
            <a:srgbClr val="EEF6F6"/>
          </a:solidFill>
          <a:ln w="12700">
            <a:solidFill>
              <a:srgbClr val="EEF6F6">
                <a:alpha val="0"/>
              </a:srgbClr>
            </a:solidFill>
            <a:prstDash val="solid"/>
          </a:ln>
        </p:spPr>
      </p:sp>
      <p:sp>
        <p:nvSpPr>
          <p:cNvPr id="12" name="Text 8"/>
          <p:cNvSpPr/>
          <p:nvPr/>
        </p:nvSpPr>
        <p:spPr>
          <a:xfrm>
            <a:off x="758952" y="3429000"/>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LARGE VARIANCE</a:t>
            </a:r>
            <a:endParaRPr lang="en-US" sz="1800" dirty="0"/>
          </a:p>
        </p:txBody>
      </p:sp>
      <p:sp>
        <p:nvSpPr>
          <p:cNvPr id="13" name="Text 9"/>
          <p:cNvSpPr/>
          <p:nvPr/>
        </p:nvSpPr>
        <p:spPr>
          <a:xfrm>
            <a:off x="758952" y="3877056"/>
            <a:ext cx="3081528" cy="868680"/>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The ideal state is still changing strongly.</a:t>
            </a:r>
            <a:endParaRPr lang="en-US" sz="1900" dirty="0"/>
          </a:p>
        </p:txBody>
      </p:sp>
      <p:sp>
        <p:nvSpPr>
          <p:cNvPr id="14" name="Shape 10"/>
          <p:cNvSpPr/>
          <p:nvPr/>
        </p:nvSpPr>
        <p:spPr>
          <a:xfrm>
            <a:off x="4343400" y="3282696"/>
            <a:ext cx="3502152" cy="1563624"/>
          </a:xfrm>
          <a:prstGeom prst="roundRect">
            <a:avLst>
              <a:gd name="adj" fmla="val 5848"/>
            </a:avLst>
          </a:prstGeom>
          <a:solidFill>
            <a:srgbClr val="EEF6F6"/>
          </a:solidFill>
          <a:ln w="12700">
            <a:solidFill>
              <a:srgbClr val="EEF6F6">
                <a:alpha val="0"/>
              </a:srgbClr>
            </a:solidFill>
            <a:prstDash val="solid"/>
          </a:ln>
        </p:spPr>
      </p:sp>
      <p:sp>
        <p:nvSpPr>
          <p:cNvPr id="15" name="Text 11"/>
          <p:cNvSpPr/>
          <p:nvPr/>
        </p:nvSpPr>
        <p:spPr>
          <a:xfrm>
            <a:off x="4553712" y="3429000"/>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ZERO VARIANCE</a:t>
            </a:r>
            <a:endParaRPr lang="en-US" sz="1800" dirty="0"/>
          </a:p>
        </p:txBody>
      </p:sp>
      <p:sp>
        <p:nvSpPr>
          <p:cNvPr id="16" name="Text 12"/>
          <p:cNvSpPr/>
          <p:nvPr/>
        </p:nvSpPr>
        <p:spPr>
          <a:xfrm>
            <a:off x="4553712" y="3877056"/>
            <a:ext cx="3081528" cy="868680"/>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An energy eigenstate—possibly an excited state.</a:t>
            </a:r>
            <a:endParaRPr lang="en-US" sz="1900" dirty="0"/>
          </a:p>
        </p:txBody>
      </p:sp>
      <p:sp>
        <p:nvSpPr>
          <p:cNvPr id="17" name="Shape 13"/>
          <p:cNvSpPr/>
          <p:nvPr/>
        </p:nvSpPr>
        <p:spPr>
          <a:xfrm>
            <a:off x="8138160" y="3282696"/>
            <a:ext cx="3502152" cy="1563624"/>
          </a:xfrm>
          <a:prstGeom prst="roundRect">
            <a:avLst>
              <a:gd name="adj" fmla="val 5848"/>
            </a:avLst>
          </a:prstGeom>
          <a:solidFill>
            <a:srgbClr val="EEF6F6"/>
          </a:solidFill>
          <a:ln w="12700">
            <a:solidFill>
              <a:srgbClr val="EEF6F6">
                <a:alpha val="0"/>
              </a:srgbClr>
            </a:solidFill>
            <a:prstDash val="solid"/>
          </a:ln>
        </p:spPr>
      </p:sp>
      <p:sp>
        <p:nvSpPr>
          <p:cNvPr id="18" name="Text 14"/>
          <p:cNvSpPr/>
          <p:nvPr/>
        </p:nvSpPr>
        <p:spPr>
          <a:xfrm>
            <a:off x="8348472" y="3429000"/>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NOISY ENERGY</a:t>
            </a:r>
            <a:endParaRPr lang="en-US" sz="1800" dirty="0"/>
          </a:p>
        </p:txBody>
      </p:sp>
      <p:sp>
        <p:nvSpPr>
          <p:cNvPr id="19" name="Text 15"/>
          <p:cNvSpPr/>
          <p:nvPr/>
        </p:nvSpPr>
        <p:spPr>
          <a:xfrm>
            <a:off x="8348472" y="3877056"/>
            <a:ext cx="3081528" cy="868680"/>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Small upward fluctuations do not alone prove a bug.</a:t>
            </a:r>
            <a:endParaRPr lang="en-US" sz="1900" dirty="0"/>
          </a:p>
        </p:txBody>
      </p:sp>
      <p:sp>
        <p:nvSpPr>
          <p:cNvPr id="20" name="Shape 16"/>
          <p:cNvSpPr/>
          <p:nvPr/>
        </p:nvSpPr>
        <p:spPr>
          <a:xfrm>
            <a:off x="548640" y="5303520"/>
            <a:ext cx="11091672" cy="539496"/>
          </a:xfrm>
          <a:prstGeom prst="roundRect">
            <a:avLst>
              <a:gd name="adj" fmla="val 16949"/>
            </a:avLst>
          </a:prstGeom>
          <a:solidFill>
            <a:srgbClr val="FFF3DD"/>
          </a:solidFill>
          <a:ln w="12700">
            <a:solidFill>
              <a:srgbClr val="FFF3DD">
                <a:alpha val="0"/>
              </a:srgbClr>
            </a:solidFill>
            <a:prstDash val="solid"/>
          </a:ln>
        </p:spPr>
      </p:sp>
      <p:sp>
        <p:nvSpPr>
          <p:cNvPr id="21" name="Text 17"/>
          <p:cNvSpPr/>
          <p:nvPr/>
        </p:nvSpPr>
        <p:spPr>
          <a:xfrm>
            <a:off x="749808" y="5376672"/>
            <a:ext cx="10680192" cy="393192"/>
          </a:xfrm>
          <a:prstGeom prst="rect">
            <a:avLst/>
          </a:prstGeom>
          <a:noFill/>
          <a:ln/>
        </p:spPr>
        <p:txBody>
          <a:bodyPr wrap="square" lIns="0" tIns="0" rIns="0" bIns="0" rtlCol="0" anchor="ctr">
            <a:normAutofit/>
          </a:bodyPr>
          <a:lstStyle/>
          <a:p>
            <a:pPr indent="0" marL="0">
              <a:buNone/>
            </a:pPr>
            <a:r>
              <a:rPr lang="en-US" sz="2000" dirty="0">
                <a:solidFill>
                  <a:srgbClr val="203449"/>
                </a:solidFill>
                <a:latin typeface="Arial" pitchFamily="34" charset="0"/>
                <a:ea typeface="Arial" pitchFamily="34" charset="-122"/>
                <a:cs typeface="Arial" pitchFamily="34" charset="-120"/>
              </a:rPr>
              <a:t>An exact identity is a diagnostic baseline, not a promise about each noisy data point.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FROM FILTERING TO A GENERATOR</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Match the first-order state change</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13</a:t>
            </a:r>
            <a:endParaRPr lang="en-US" sz="1100" dirty="0"/>
          </a:p>
        </p:txBody>
      </p:sp>
      <p:sp>
        <p:nvSpPr>
          <p:cNvPr id="10" name="Text 7"/>
          <p:cNvSpPr/>
          <p:nvPr/>
        </p:nvSpPr>
        <p:spPr>
          <a:xfrm>
            <a:off x="685800" y="1664208"/>
            <a:ext cx="10817352" cy="228600"/>
          </a:xfrm>
          <a:prstGeom prst="rect">
            <a:avLst/>
          </a:prstGeom>
          <a:noFill/>
          <a:ln/>
        </p:spPr>
        <p:txBody>
          <a:bodyPr wrap="square" lIns="0" tIns="0" rIns="0" bIns="0" rtlCol="0" anchor="ctr">
            <a:normAutofit/>
          </a:bodyPr>
          <a:lstStyle/>
          <a:p>
            <a:pPr indent="0" marL="0">
              <a:buNone/>
            </a:pPr>
            <a:r>
              <a:rPr lang="en-US" sz="1200" b="1" spc="110" kern="0" dirty="0">
                <a:solidFill>
                  <a:srgbClr val="007F86"/>
                </a:solidFill>
                <a:latin typeface="Arial" pitchFamily="34" charset="0"/>
                <a:ea typeface="Arial" pitchFamily="34" charset="-122"/>
                <a:cs typeface="Arial" pitchFamily="34" charset="-120"/>
              </a:rPr>
              <a:t>NORMALIZED TARGET</a:t>
            </a:r>
            <a:endParaRPr lang="en-US" sz="1200" dirty="0"/>
          </a:p>
        </p:txBody>
      </p:sp>
      <p:pic>
        <p:nvPicPr>
          <p:cNvPr id="11" name="Image 0" descr="/mnt/data/qite_package/slides_source/equations/smalltarget.png">    </p:cNvPr>
          <p:cNvPicPr>
            <a:picLocks noChangeAspect="1"/>
          </p:cNvPicPr>
          <p:nvPr/>
        </p:nvPicPr>
        <p:blipFill>
          <a:blip r:embed="rId1"/>
          <a:stretch>
            <a:fillRect/>
          </a:stretch>
        </p:blipFill>
        <p:spPr>
          <a:xfrm>
            <a:off x="3245187" y="1965960"/>
            <a:ext cx="5579706" cy="594360"/>
          </a:xfrm>
          <a:prstGeom prst="rect">
            <a:avLst/>
          </a:prstGeom>
        </p:spPr>
      </p:pic>
      <p:sp>
        <p:nvSpPr>
          <p:cNvPr id="12" name="Text 8"/>
          <p:cNvSpPr/>
          <p:nvPr/>
        </p:nvSpPr>
        <p:spPr>
          <a:xfrm>
            <a:off x="685800" y="2788920"/>
            <a:ext cx="10817352" cy="228600"/>
          </a:xfrm>
          <a:prstGeom prst="rect">
            <a:avLst/>
          </a:prstGeom>
          <a:noFill/>
          <a:ln/>
        </p:spPr>
        <p:txBody>
          <a:bodyPr wrap="square" lIns="0" tIns="0" rIns="0" bIns="0" rtlCol="0" anchor="ctr">
            <a:normAutofit/>
          </a:bodyPr>
          <a:lstStyle/>
          <a:p>
            <a:pPr indent="0" marL="0">
              <a:buNone/>
            </a:pPr>
            <a:r>
              <a:rPr lang="en-US" sz="1200" b="1" spc="110" kern="0" dirty="0">
                <a:solidFill>
                  <a:srgbClr val="007F86"/>
                </a:solidFill>
                <a:latin typeface="Arial" pitchFamily="34" charset="0"/>
                <a:ea typeface="Arial" pitchFamily="34" charset="-122"/>
                <a:cs typeface="Arial" pitchFamily="34" charset="-120"/>
              </a:rPr>
              <a:t>UNITARY UPDATE</a:t>
            </a:r>
            <a:endParaRPr lang="en-US" sz="1200" dirty="0"/>
          </a:p>
        </p:txBody>
      </p:sp>
      <p:pic>
        <p:nvPicPr>
          <p:cNvPr id="13" name="Image 1" descr="/mnt/data/qite_package/slides_source/equations/smallunitary.png">    </p:cNvPr>
          <p:cNvPicPr>
            <a:picLocks noChangeAspect="1"/>
          </p:cNvPicPr>
          <p:nvPr/>
        </p:nvPicPr>
        <p:blipFill>
          <a:blip r:embed="rId2"/>
          <a:stretch>
            <a:fillRect/>
          </a:stretch>
        </p:blipFill>
        <p:spPr>
          <a:xfrm>
            <a:off x="2086138" y="3136392"/>
            <a:ext cx="7989243" cy="704088"/>
          </a:xfrm>
          <a:prstGeom prst="rect">
            <a:avLst/>
          </a:prstGeom>
        </p:spPr>
      </p:pic>
      <p:sp>
        <p:nvSpPr>
          <p:cNvPr id="14" name="Shape 9"/>
          <p:cNvSpPr/>
          <p:nvPr/>
        </p:nvSpPr>
        <p:spPr>
          <a:xfrm>
            <a:off x="804672" y="4498848"/>
            <a:ext cx="10588752" cy="932688"/>
          </a:xfrm>
          <a:prstGeom prst="roundRect">
            <a:avLst>
              <a:gd name="adj" fmla="val 9804"/>
            </a:avLst>
          </a:prstGeom>
          <a:solidFill>
            <a:srgbClr val="EEF6F6"/>
          </a:solidFill>
          <a:ln w="12700">
            <a:solidFill>
              <a:srgbClr val="EEF6F6">
                <a:alpha val="0"/>
              </a:srgbClr>
            </a:solidFill>
            <a:prstDash val="solid"/>
          </a:ln>
        </p:spPr>
      </p:sp>
      <p:pic>
        <p:nvPicPr>
          <p:cNvPr id="15" name="Image 2" descr="/mnt/data/qite_package/slides_source/equations/match.png">    </p:cNvPr>
          <p:cNvPicPr>
            <a:picLocks noChangeAspect="1"/>
          </p:cNvPicPr>
          <p:nvPr/>
        </p:nvPicPr>
        <p:blipFill>
          <a:blip r:embed="rId3"/>
          <a:stretch>
            <a:fillRect/>
          </a:stretch>
        </p:blipFill>
        <p:spPr>
          <a:xfrm>
            <a:off x="3621459" y="4617720"/>
            <a:ext cx="4946033" cy="67665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CHOOSING DIRECTIONS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generator pool is not the Hamiltonian term list</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14</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[1] Motta et al., Nature Physics 16, 205–210 (2020); arXiv:1901.07653.</a:t>
            </a:r>
            <a:endParaRPr lang="en-US" sz="920" dirty="0"/>
          </a:p>
        </p:txBody>
      </p:sp>
      <p:pic>
        <p:nvPicPr>
          <p:cNvPr id="11" name="Image 0" descr="/mnt/data/qite_package/slides_source/equations/pool.png">    </p:cNvPr>
          <p:cNvPicPr>
            <a:picLocks noChangeAspect="1"/>
          </p:cNvPicPr>
          <p:nvPr/>
        </p:nvPicPr>
        <p:blipFill>
          <a:blip r:embed="rId1"/>
          <a:stretch>
            <a:fillRect/>
          </a:stretch>
        </p:blipFill>
        <p:spPr>
          <a:xfrm>
            <a:off x="3435008" y="1755648"/>
            <a:ext cx="5318936" cy="941832"/>
          </a:xfrm>
          <a:prstGeom prst="rect">
            <a:avLst/>
          </a:prstGeom>
        </p:spPr>
      </p:pic>
      <p:sp>
        <p:nvSpPr>
          <p:cNvPr id="12" name="Shape 8"/>
          <p:cNvSpPr/>
          <p:nvPr/>
        </p:nvSpPr>
        <p:spPr>
          <a:xfrm>
            <a:off x="548640" y="3099816"/>
            <a:ext cx="5394960" cy="1527048"/>
          </a:xfrm>
          <a:prstGeom prst="roundRect">
            <a:avLst>
              <a:gd name="adj" fmla="val 5988"/>
            </a:avLst>
          </a:prstGeom>
          <a:solidFill>
            <a:srgbClr val="EEF6F6"/>
          </a:solidFill>
          <a:ln w="12700">
            <a:solidFill>
              <a:srgbClr val="EEF6F6">
                <a:alpha val="0"/>
              </a:srgbClr>
            </a:solidFill>
            <a:prstDash val="solid"/>
          </a:ln>
        </p:spPr>
      </p:sp>
      <p:sp>
        <p:nvSpPr>
          <p:cNvPr id="13" name="Text 9"/>
          <p:cNvSpPr/>
          <p:nvPr/>
        </p:nvSpPr>
        <p:spPr>
          <a:xfrm>
            <a:off x="758952" y="3246120"/>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HAMILTONIAN STRINGS</a:t>
            </a:r>
            <a:endParaRPr lang="en-US" sz="1800" dirty="0"/>
          </a:p>
        </p:txBody>
      </p:sp>
      <p:sp>
        <p:nvSpPr>
          <p:cNvPr id="14" name="Text 10"/>
          <p:cNvSpPr/>
          <p:nvPr/>
        </p:nvSpPr>
        <p:spPr>
          <a:xfrm>
            <a:off x="758952" y="3694176"/>
            <a:ext cx="4974336" cy="832104"/>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What determines the energy?</a:t>
            </a:r>
            <a:endParaRPr lang="en-US" sz="1900" dirty="0"/>
          </a:p>
        </p:txBody>
      </p:sp>
      <p:sp>
        <p:nvSpPr>
          <p:cNvPr id="15" name="Shape 11"/>
          <p:cNvSpPr/>
          <p:nvPr/>
        </p:nvSpPr>
        <p:spPr>
          <a:xfrm>
            <a:off x="6236208" y="3099816"/>
            <a:ext cx="5394960" cy="1527048"/>
          </a:xfrm>
          <a:prstGeom prst="roundRect">
            <a:avLst>
              <a:gd name="adj" fmla="val 5988"/>
            </a:avLst>
          </a:prstGeom>
          <a:solidFill>
            <a:srgbClr val="EEF6F6"/>
          </a:solidFill>
          <a:ln w="12700">
            <a:solidFill>
              <a:srgbClr val="EEF6F6">
                <a:alpha val="0"/>
              </a:srgbClr>
            </a:solidFill>
            <a:prstDash val="solid"/>
          </a:ln>
        </p:spPr>
      </p:sp>
      <p:sp>
        <p:nvSpPr>
          <p:cNvPr id="16" name="Text 12"/>
          <p:cNvSpPr/>
          <p:nvPr/>
        </p:nvSpPr>
        <p:spPr>
          <a:xfrm>
            <a:off x="6446520" y="3246120"/>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GENERATOR STRINGS</a:t>
            </a:r>
            <a:endParaRPr lang="en-US" sz="1800" dirty="0"/>
          </a:p>
        </p:txBody>
      </p:sp>
      <p:sp>
        <p:nvSpPr>
          <p:cNvPr id="17" name="Text 13"/>
          <p:cNvSpPr/>
          <p:nvPr/>
        </p:nvSpPr>
        <p:spPr>
          <a:xfrm>
            <a:off x="6446520" y="3694176"/>
            <a:ext cx="4974336" cy="832104"/>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What directions can the state move in?</a:t>
            </a:r>
            <a:endParaRPr lang="en-US" sz="1900" dirty="0"/>
          </a:p>
        </p:txBody>
      </p:sp>
      <p:sp>
        <p:nvSpPr>
          <p:cNvPr id="18" name="Shape 14"/>
          <p:cNvSpPr/>
          <p:nvPr/>
        </p:nvSpPr>
        <p:spPr>
          <a:xfrm>
            <a:off x="548640" y="5157216"/>
            <a:ext cx="11091672" cy="539496"/>
          </a:xfrm>
          <a:prstGeom prst="roundRect">
            <a:avLst>
              <a:gd name="adj" fmla="val 16949"/>
            </a:avLst>
          </a:prstGeom>
          <a:solidFill>
            <a:srgbClr val="FFF3DD"/>
          </a:solidFill>
          <a:ln w="12700">
            <a:solidFill>
              <a:srgbClr val="FFF3DD">
                <a:alpha val="0"/>
              </a:srgbClr>
            </a:solidFill>
            <a:prstDash val="solid"/>
          </a:ln>
        </p:spPr>
      </p:sp>
      <p:sp>
        <p:nvSpPr>
          <p:cNvPr id="19" name="Text 15"/>
          <p:cNvSpPr/>
          <p:nvPr/>
        </p:nvSpPr>
        <p:spPr>
          <a:xfrm>
            <a:off x="749808" y="5230368"/>
            <a:ext cx="10680192" cy="393192"/>
          </a:xfrm>
          <a:prstGeom prst="rect">
            <a:avLst/>
          </a:prstGeom>
          <a:noFill/>
          <a:ln/>
        </p:spPr>
        <p:txBody>
          <a:bodyPr wrap="square" lIns="0" tIns="0" rIns="0" bIns="0" rtlCol="0" anchor="ctr">
            <a:normAutofit/>
          </a:bodyPr>
          <a:lstStyle/>
          <a:p>
            <a:pPr indent="0" marL="0">
              <a:buNone/>
            </a:pPr>
            <a:r>
              <a:rPr lang="en-US" sz="2400" dirty="0">
                <a:solidFill>
                  <a:srgbClr val="203449"/>
                </a:solidFill>
                <a:latin typeface="Arial" pitchFamily="34" charset="0"/>
                <a:ea typeface="Arial" pitchFamily="34" charset="-122"/>
                <a:cs typeface="Arial" pitchFamily="34" charset="-120"/>
              </a:rPr>
              <a:t>Example: H = Z and |ψ⟩ = |+⟩ require A = Y, not A = Z.</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THE CENTRAL COMPUTATION</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Measurements determine a real linear system</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15</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[1] Motta et al., Nature Physics 16, 205–210 (2020); arXiv:1901.07653.</a:t>
            </a:r>
            <a:endParaRPr lang="en-US" sz="920" dirty="0"/>
          </a:p>
        </p:txBody>
      </p:sp>
      <p:pic>
        <p:nvPicPr>
          <p:cNvPr id="11" name="Image 0" descr="/mnt/data/qite_package/slides_source/equations/objective.png">    </p:cNvPr>
          <p:cNvPicPr>
            <a:picLocks noChangeAspect="1"/>
          </p:cNvPicPr>
          <p:nvPr/>
        </p:nvPicPr>
        <p:blipFill>
          <a:blip r:embed="rId1"/>
          <a:stretch>
            <a:fillRect/>
          </a:stretch>
        </p:blipFill>
        <p:spPr>
          <a:xfrm>
            <a:off x="2740763" y="1682496"/>
            <a:ext cx="6707425" cy="914400"/>
          </a:xfrm>
          <a:prstGeom prst="rect">
            <a:avLst/>
          </a:prstGeom>
        </p:spPr>
      </p:pic>
      <p:pic>
        <p:nvPicPr>
          <p:cNvPr id="12" name="Image 1" descr="/mnt/data/qite_package/slides_source/equations/linear.png">    </p:cNvPr>
          <p:cNvPicPr>
            <a:picLocks noChangeAspect="1"/>
          </p:cNvPicPr>
          <p:nvPr/>
        </p:nvPicPr>
        <p:blipFill>
          <a:blip r:embed="rId2"/>
          <a:stretch>
            <a:fillRect/>
          </a:stretch>
        </p:blipFill>
        <p:spPr>
          <a:xfrm>
            <a:off x="1031120" y="2825496"/>
            <a:ext cx="3533887" cy="1097280"/>
          </a:xfrm>
          <a:prstGeom prst="rect">
            <a:avLst/>
          </a:prstGeom>
        </p:spPr>
      </p:pic>
      <p:pic>
        <p:nvPicPr>
          <p:cNvPr id="13" name="Image 2" descr="/mnt/data/qite_package/slides_source/equations/Sb.png">    </p:cNvPr>
          <p:cNvPicPr>
            <a:picLocks noChangeAspect="1"/>
          </p:cNvPicPr>
          <p:nvPr/>
        </p:nvPicPr>
        <p:blipFill>
          <a:blip r:embed="rId3"/>
          <a:stretch>
            <a:fillRect/>
          </a:stretch>
        </p:blipFill>
        <p:spPr>
          <a:xfrm>
            <a:off x="6678456" y="2651760"/>
            <a:ext cx="3340031" cy="1453896"/>
          </a:xfrm>
          <a:prstGeom prst="rect">
            <a:avLst/>
          </a:prstGeom>
        </p:spPr>
      </p:pic>
      <p:sp>
        <p:nvSpPr>
          <p:cNvPr id="14" name="Shape 8"/>
          <p:cNvSpPr/>
          <p:nvPr/>
        </p:nvSpPr>
        <p:spPr>
          <a:xfrm>
            <a:off x="548640" y="5157216"/>
            <a:ext cx="11091672" cy="539496"/>
          </a:xfrm>
          <a:prstGeom prst="roundRect">
            <a:avLst>
              <a:gd name="adj" fmla="val 16949"/>
            </a:avLst>
          </a:prstGeom>
          <a:solidFill>
            <a:srgbClr val="FFF3DD"/>
          </a:solidFill>
          <a:ln w="12700">
            <a:solidFill>
              <a:srgbClr val="FFF3DD">
                <a:alpha val="0"/>
              </a:srgbClr>
            </a:solidFill>
            <a:prstDash val="solid"/>
          </a:ln>
        </p:spPr>
      </p:sp>
      <p:sp>
        <p:nvSpPr>
          <p:cNvPr id="15" name="Text 9"/>
          <p:cNvSpPr/>
          <p:nvPr/>
        </p:nvSpPr>
        <p:spPr>
          <a:xfrm>
            <a:off x="749808" y="5230368"/>
            <a:ext cx="10680192" cy="393192"/>
          </a:xfrm>
          <a:prstGeom prst="rect">
            <a:avLst/>
          </a:prstGeom>
          <a:noFill/>
          <a:ln/>
        </p:spPr>
        <p:txBody>
          <a:bodyPr wrap="square" lIns="0" tIns="0" rIns="0" bIns="0" rtlCol="0" anchor="ctr">
            <a:normAutofit/>
          </a:bodyPr>
          <a:lstStyle/>
          <a:p>
            <a:pPr indent="0" marL="0">
              <a:buNone/>
            </a:pPr>
            <a:r>
              <a:rPr lang="en-US" sz="2000" dirty="0">
                <a:solidFill>
                  <a:srgbClr val="203449"/>
                </a:solidFill>
                <a:latin typeface="Arial" pitchFamily="34" charset="0"/>
                <a:ea typeface="Arial" pitchFamily="34" charset="-122"/>
                <a:cs typeface="Arial" pitchFamily="34" charset="-120"/>
              </a:rPr>
              <a:t>Convention used here: U = exp(−i Δτ A).  The sign of b is tied to this choice.</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NUMERICAL LINEAR ALGEBRA</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Gram matrix can be singular for a good reason</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16</a:t>
            </a:r>
            <a:endParaRPr lang="en-US" sz="1100" dirty="0"/>
          </a:p>
        </p:txBody>
      </p:sp>
      <p:pic>
        <p:nvPicPr>
          <p:cNvPr id="10" name="Image 0" descr="/mnt/data/qite_package/slides_source/equations/gram.png">    </p:cNvPr>
          <p:cNvPicPr>
            <a:picLocks noChangeAspect="1"/>
          </p:cNvPicPr>
          <p:nvPr/>
        </p:nvPicPr>
        <p:blipFill>
          <a:blip r:embed="rId1"/>
          <a:stretch>
            <a:fillRect/>
          </a:stretch>
        </p:blipFill>
        <p:spPr>
          <a:xfrm>
            <a:off x="3252389" y="1737360"/>
            <a:ext cx="5684173" cy="1124712"/>
          </a:xfrm>
          <a:prstGeom prst="rect">
            <a:avLst/>
          </a:prstGeom>
        </p:spPr>
      </p:pic>
      <p:sp>
        <p:nvSpPr>
          <p:cNvPr id="11" name="Shape 7"/>
          <p:cNvSpPr/>
          <p:nvPr/>
        </p:nvSpPr>
        <p:spPr>
          <a:xfrm>
            <a:off x="548640" y="3264408"/>
            <a:ext cx="3502152" cy="1828800"/>
          </a:xfrm>
          <a:prstGeom prst="roundRect">
            <a:avLst>
              <a:gd name="adj" fmla="val 5000"/>
            </a:avLst>
          </a:prstGeom>
          <a:solidFill>
            <a:srgbClr val="EEF6F6"/>
          </a:solidFill>
          <a:ln w="12700">
            <a:solidFill>
              <a:srgbClr val="EEF6F6">
                <a:alpha val="0"/>
              </a:srgbClr>
            </a:solidFill>
            <a:prstDash val="solid"/>
          </a:ln>
        </p:spPr>
      </p:sp>
      <p:sp>
        <p:nvSpPr>
          <p:cNvPr id="12" name="Text 8"/>
          <p:cNvSpPr/>
          <p:nvPr/>
        </p:nvSpPr>
        <p:spPr>
          <a:xfrm>
            <a:off x="758952" y="3410712"/>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REDUNDANCY</a:t>
            </a:r>
            <a:endParaRPr lang="en-US" sz="1800" dirty="0"/>
          </a:p>
        </p:txBody>
      </p:sp>
      <p:sp>
        <p:nvSpPr>
          <p:cNvPr id="13" name="Text 9"/>
          <p:cNvSpPr/>
          <p:nvPr/>
        </p:nvSpPr>
        <p:spPr>
          <a:xfrm>
            <a:off x="758952" y="3858768"/>
            <a:ext cx="3081528" cy="1133856"/>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Different operator coefficients can produce the same state motion.</a:t>
            </a:r>
            <a:endParaRPr lang="en-US" sz="2100" dirty="0"/>
          </a:p>
        </p:txBody>
      </p:sp>
      <p:sp>
        <p:nvSpPr>
          <p:cNvPr id="14" name="Shape 10"/>
          <p:cNvSpPr/>
          <p:nvPr/>
        </p:nvSpPr>
        <p:spPr>
          <a:xfrm>
            <a:off x="4343400" y="3264408"/>
            <a:ext cx="3502152" cy="1828800"/>
          </a:xfrm>
          <a:prstGeom prst="roundRect">
            <a:avLst>
              <a:gd name="adj" fmla="val 5000"/>
            </a:avLst>
          </a:prstGeom>
          <a:solidFill>
            <a:srgbClr val="EEF6F6"/>
          </a:solidFill>
          <a:ln w="12700">
            <a:solidFill>
              <a:srgbClr val="EEF6F6">
                <a:alpha val="0"/>
              </a:srgbClr>
            </a:solidFill>
            <a:prstDash val="solid"/>
          </a:ln>
        </p:spPr>
      </p:sp>
      <p:sp>
        <p:nvSpPr>
          <p:cNvPr id="15" name="Text 11"/>
          <p:cNvSpPr/>
          <p:nvPr/>
        </p:nvSpPr>
        <p:spPr>
          <a:xfrm>
            <a:off x="4553712" y="3410712"/>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CONDITIONING</a:t>
            </a:r>
            <a:endParaRPr lang="en-US" sz="1800" dirty="0"/>
          </a:p>
        </p:txBody>
      </p:sp>
      <p:sp>
        <p:nvSpPr>
          <p:cNvPr id="16" name="Text 12"/>
          <p:cNvSpPr/>
          <p:nvPr/>
        </p:nvSpPr>
        <p:spPr>
          <a:xfrm>
            <a:off x="4553712" y="3858768"/>
            <a:ext cx="3081528" cy="1133856"/>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Tiny eigenvalues can turn modest data noise into large updates.</a:t>
            </a:r>
            <a:endParaRPr lang="en-US" sz="2100" dirty="0"/>
          </a:p>
        </p:txBody>
      </p:sp>
      <p:sp>
        <p:nvSpPr>
          <p:cNvPr id="17" name="Shape 13"/>
          <p:cNvSpPr/>
          <p:nvPr/>
        </p:nvSpPr>
        <p:spPr>
          <a:xfrm>
            <a:off x="8138160" y="3264408"/>
            <a:ext cx="3502152" cy="1828800"/>
          </a:xfrm>
          <a:prstGeom prst="roundRect">
            <a:avLst>
              <a:gd name="adj" fmla="val 5000"/>
            </a:avLst>
          </a:prstGeom>
          <a:solidFill>
            <a:srgbClr val="EEF6F6"/>
          </a:solidFill>
          <a:ln w="12700">
            <a:solidFill>
              <a:srgbClr val="EEF6F6">
                <a:alpha val="0"/>
              </a:srgbClr>
            </a:solidFill>
            <a:prstDash val="solid"/>
          </a:ln>
        </p:spPr>
      </p:sp>
      <p:sp>
        <p:nvSpPr>
          <p:cNvPr id="18" name="Text 14"/>
          <p:cNvSpPr/>
          <p:nvPr/>
        </p:nvSpPr>
        <p:spPr>
          <a:xfrm>
            <a:off x="8348472" y="3410712"/>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REPAIR</a:t>
            </a:r>
            <a:endParaRPr lang="en-US" sz="1800" dirty="0"/>
          </a:p>
        </p:txBody>
      </p:sp>
      <p:sp>
        <p:nvSpPr>
          <p:cNvPr id="19" name="Text 15"/>
          <p:cNvSpPr/>
          <p:nvPr/>
        </p:nvSpPr>
        <p:spPr>
          <a:xfrm>
            <a:off x="8348472" y="3858768"/>
            <a:ext cx="3081528" cy="1133856"/>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Inspect the spectrum. Truncate or regularize; do not invert blindly.</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WORKED EXAMPLE 1</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One qubit: calculate the first QITE step by hand</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17</a:t>
            </a:r>
            <a:endParaRPr lang="en-US" sz="1100" dirty="0"/>
          </a:p>
        </p:txBody>
      </p:sp>
      <p:pic>
        <p:nvPicPr>
          <p:cNvPr id="10" name="Image 0" descr="/mnt/data/qite_package/slides_source/equations/one.png">    </p:cNvPr>
          <p:cNvPicPr>
            <a:picLocks noChangeAspect="1"/>
          </p:cNvPicPr>
          <p:nvPr/>
        </p:nvPicPr>
        <p:blipFill>
          <a:blip r:embed="rId1"/>
          <a:stretch>
            <a:fillRect/>
          </a:stretch>
        </p:blipFill>
        <p:spPr>
          <a:xfrm>
            <a:off x="777240" y="1866308"/>
            <a:ext cx="10643616" cy="674791"/>
          </a:xfrm>
          <a:prstGeom prst="rect">
            <a:avLst/>
          </a:prstGeom>
        </p:spPr>
      </p:pic>
      <p:pic>
        <p:nvPicPr>
          <p:cNvPr id="11" name="Image 1" descr="/mnt/data/qite_package/slides_source/equations/oney.png">    </p:cNvPr>
          <p:cNvPicPr>
            <a:picLocks noChangeAspect="1"/>
          </p:cNvPicPr>
          <p:nvPr/>
        </p:nvPicPr>
        <p:blipFill>
          <a:blip r:embed="rId2"/>
          <a:stretch>
            <a:fillRect/>
          </a:stretch>
        </p:blipFill>
        <p:spPr>
          <a:xfrm>
            <a:off x="1972361" y="3063240"/>
            <a:ext cx="8244230" cy="841248"/>
          </a:xfrm>
          <a:prstGeom prst="rect">
            <a:avLst/>
          </a:prstGeom>
        </p:spPr>
      </p:pic>
      <p:sp>
        <p:nvSpPr>
          <p:cNvPr id="12" name="Shape 7"/>
          <p:cNvSpPr/>
          <p:nvPr/>
        </p:nvSpPr>
        <p:spPr>
          <a:xfrm>
            <a:off x="795528" y="4562856"/>
            <a:ext cx="10607040" cy="1033272"/>
          </a:xfrm>
          <a:prstGeom prst="roundRect">
            <a:avLst>
              <a:gd name="adj" fmla="val 8850"/>
            </a:avLst>
          </a:prstGeom>
          <a:solidFill>
            <a:srgbClr val="EEF6F6"/>
          </a:solidFill>
          <a:ln w="12700">
            <a:solidFill>
              <a:srgbClr val="EEF6F6">
                <a:alpha val="0"/>
              </a:srgbClr>
            </a:solidFill>
            <a:prstDash val="solid"/>
          </a:ln>
        </p:spPr>
      </p:sp>
      <p:sp>
        <p:nvSpPr>
          <p:cNvPr id="13" name="Text 8"/>
          <p:cNvSpPr/>
          <p:nvPr/>
        </p:nvSpPr>
        <p:spPr>
          <a:xfrm>
            <a:off x="1005840" y="4709160"/>
            <a:ext cx="1018641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AT Δτ = 0.1</a:t>
            </a:r>
            <a:endParaRPr lang="en-US" sz="1800" dirty="0"/>
          </a:p>
        </p:txBody>
      </p:sp>
      <p:sp>
        <p:nvSpPr>
          <p:cNvPr id="14" name="Text 9"/>
          <p:cNvSpPr/>
          <p:nvPr/>
        </p:nvSpPr>
        <p:spPr>
          <a:xfrm>
            <a:off x="1005840" y="5157216"/>
            <a:ext cx="10186416" cy="338328"/>
          </a:xfrm>
          <a:prstGeom prst="rect">
            <a:avLst/>
          </a:prstGeom>
          <a:noFill/>
          <a:ln/>
        </p:spPr>
        <p:txBody>
          <a:bodyPr wrap="square" lIns="0" tIns="0" rIns="0" bIns="0" rtlCol="0" anchor="t">
            <a:normAutofit/>
          </a:bodyPr>
          <a:lstStyle/>
          <a:p>
            <a:pPr indent="0" marL="0">
              <a:buNone/>
            </a:pPr>
            <a:r>
              <a:rPr lang="en-US" sz="1850" dirty="0">
                <a:solidFill>
                  <a:srgbClr val="203449"/>
                </a:solidFill>
                <a:latin typeface="Arial" pitchFamily="34" charset="0"/>
                <a:ea typeface="Arial" pitchFamily="34" charset="-122"/>
                <a:cs typeface="Arial" pitchFamily="34" charset="-120"/>
              </a:rPr>
              <a:t>QITE: −0.198669    |    Exact ITE: −0.197375</a:t>
            </a:r>
            <a:endParaRPr lang="en-US" sz="1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WORKED EXAMPLE 1 / RESULT</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one-qubit energy tends to −1</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18</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Original calculation for this guide. Exact statevectors; no device noise, shots, or gate-synthesis error.</a:t>
            </a:r>
            <a:endParaRPr lang="en-US" sz="920" dirty="0"/>
          </a:p>
        </p:txBody>
      </p:sp>
      <p:pic>
        <p:nvPicPr>
          <p:cNvPr id="11" name="Image 0" descr="/mnt/data/qite_package/figures/one_qubit_energy.png">    </p:cNvPr>
          <p:cNvPicPr>
            <a:picLocks noChangeAspect="1"/>
          </p:cNvPicPr>
          <p:nvPr/>
        </p:nvPicPr>
        <p:blipFill>
          <a:blip r:embed="rId1"/>
          <a:stretch>
            <a:fillRect/>
          </a:stretch>
        </p:blipFill>
        <p:spPr>
          <a:xfrm>
            <a:off x="977705" y="1618488"/>
            <a:ext cx="7828671" cy="4361688"/>
          </a:xfrm>
          <a:prstGeom prst="rect">
            <a:avLst/>
          </a:prstGeom>
        </p:spPr>
      </p:pic>
      <p:pic>
        <p:nvPicPr>
          <p:cNvPr id="12" name="Image 1" descr="/mnt/data/qite_package/slides_source/equations/oneexact.png">    </p:cNvPr>
          <p:cNvPicPr>
            <a:picLocks noChangeAspect="1"/>
          </p:cNvPicPr>
          <p:nvPr/>
        </p:nvPicPr>
        <p:blipFill>
          <a:blip r:embed="rId2"/>
          <a:stretch>
            <a:fillRect/>
          </a:stretch>
        </p:blipFill>
        <p:spPr>
          <a:xfrm>
            <a:off x="9144000" y="2125509"/>
            <a:ext cx="2221992" cy="275262"/>
          </a:xfrm>
          <a:prstGeom prst="rect">
            <a:avLst/>
          </a:prstGeom>
        </p:spPr>
      </p:pic>
      <p:sp>
        <p:nvSpPr>
          <p:cNvPr id="13" name="Text 8"/>
          <p:cNvSpPr/>
          <p:nvPr/>
        </p:nvSpPr>
        <p:spPr>
          <a:xfrm>
            <a:off x="9189720" y="2898648"/>
            <a:ext cx="2194560" cy="2286000"/>
          </a:xfrm>
          <a:prstGeom prst="rect">
            <a:avLst/>
          </a:prstGeom>
          <a:noFill/>
          <a:ln/>
        </p:spPr>
        <p:txBody>
          <a:bodyPr wrap="square" lIns="0" tIns="0" rIns="0" bIns="0" rtlCol="0" anchor="ctr">
            <a:normAutofit/>
          </a:bodyPr>
          <a:lstStyle/>
          <a:p>
            <a:pPr indent="0" marL="0">
              <a:buNone/>
            </a:pPr>
            <a:r>
              <a:rPr lang="en-US" sz="1900" b="1" dirty="0">
                <a:solidFill>
                  <a:srgbClr val="142C46"/>
                </a:solidFill>
                <a:latin typeface="Arial" pitchFamily="34" charset="0"/>
                <a:ea typeface="Arial" pitchFamily="34" charset="-122"/>
                <a:cs typeface="Arial" pitchFamily="34" charset="-120"/>
              </a:rPr>
              <a:t>Before any molecule:</a:t>
            </a:r>
            <a:endParaRPr lang="en-US" sz="1900" dirty="0"/>
          </a:p>
          <a:p>
            <a:pPr indent="0" marL="0">
              <a:buNone/>
            </a:pPr>
            <a:endParaRPr lang="en-US" sz="1900" dirty="0"/>
          </a:p>
          <a:p>
            <a:pPr indent="0" marL="0">
              <a:buNone/>
            </a:pPr>
            <a:r>
              <a:rPr lang="en-US" sz="1900" b="1" dirty="0">
                <a:solidFill>
                  <a:srgbClr val="142C46"/>
                </a:solidFill>
                <a:latin typeface="Arial" pitchFamily="34" charset="0"/>
                <a:ea typeface="Arial" pitchFamily="34" charset="-122"/>
                <a:cs typeface="Arial" pitchFamily="34" charset="-120"/>
              </a:rPr>
              <a:t>Check the sign.</a:t>
            </a:r>
            <a:endParaRPr lang="en-US" sz="1900" dirty="0"/>
          </a:p>
          <a:p>
            <a:pPr indent="0" marL="0">
              <a:buNone/>
            </a:pPr>
            <a:endParaRPr lang="en-US" sz="1900" dirty="0"/>
          </a:p>
          <a:p>
            <a:pPr indent="0" marL="0">
              <a:buNone/>
            </a:pPr>
            <a:r>
              <a:rPr lang="en-US" sz="1900" b="1" dirty="0">
                <a:solidFill>
                  <a:srgbClr val="142C46"/>
                </a:solidFill>
                <a:latin typeface="Arial" pitchFamily="34" charset="0"/>
                <a:ea typeface="Arial" pitchFamily="34" charset="-122"/>
                <a:cs typeface="Arial" pitchFamily="34" charset="-120"/>
              </a:rPr>
              <a:t>Check normalization.</a:t>
            </a:r>
            <a:endParaRPr lang="en-US" sz="1900" dirty="0"/>
          </a:p>
          <a:p>
            <a:pPr indent="0" marL="0">
              <a:buNone/>
            </a:pPr>
            <a:endParaRPr lang="en-US" sz="1900" dirty="0"/>
          </a:p>
          <a:p>
            <a:pPr indent="0" marL="0">
              <a:buNone/>
            </a:pPr>
            <a:r>
              <a:rPr lang="en-US" sz="1900" b="1" dirty="0">
                <a:solidFill>
                  <a:srgbClr val="142C46"/>
                </a:solidFill>
                <a:latin typeface="Arial" pitchFamily="34" charset="0"/>
                <a:ea typeface="Arial" pitchFamily="34" charset="-122"/>
                <a:cs typeface="Arial" pitchFamily="34" charset="-120"/>
              </a:rPr>
              <a:t>Recompute A.</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WORKED EXAMPLE 2</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A local pool can miss an entangling direction</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19</a:t>
            </a:r>
            <a:endParaRPr lang="en-US" sz="1100" dirty="0"/>
          </a:p>
        </p:txBody>
      </p:sp>
      <p:pic>
        <p:nvPicPr>
          <p:cNvPr id="10" name="Image 0" descr="/mnt/data/qite_package/slides_source/equations/toyH.png">    </p:cNvPr>
          <p:cNvPicPr>
            <a:picLocks noChangeAspect="1"/>
          </p:cNvPicPr>
          <p:nvPr/>
        </p:nvPicPr>
        <p:blipFill>
          <a:blip r:embed="rId1"/>
          <a:stretch>
            <a:fillRect/>
          </a:stretch>
        </p:blipFill>
        <p:spPr>
          <a:xfrm>
            <a:off x="795528" y="1829589"/>
            <a:ext cx="10607040" cy="711654"/>
          </a:xfrm>
          <a:prstGeom prst="rect">
            <a:avLst/>
          </a:prstGeom>
        </p:spPr>
      </p:pic>
      <p:pic>
        <p:nvPicPr>
          <p:cNvPr id="11" name="Image 1" descr="/mnt/data/qite_package/slides_source/equations/toytarget.png">    </p:cNvPr>
          <p:cNvPicPr>
            <a:picLocks noChangeAspect="1"/>
          </p:cNvPicPr>
          <p:nvPr/>
        </p:nvPicPr>
        <p:blipFill>
          <a:blip r:embed="rId2"/>
          <a:stretch>
            <a:fillRect/>
          </a:stretch>
        </p:blipFill>
        <p:spPr>
          <a:xfrm>
            <a:off x="3258624" y="2852928"/>
            <a:ext cx="5635128" cy="685800"/>
          </a:xfrm>
          <a:prstGeom prst="rect">
            <a:avLst/>
          </a:prstGeom>
        </p:spPr>
      </p:pic>
      <p:sp>
        <p:nvSpPr>
          <p:cNvPr id="12" name="Shape 7"/>
          <p:cNvSpPr/>
          <p:nvPr/>
        </p:nvSpPr>
        <p:spPr>
          <a:xfrm>
            <a:off x="548640" y="4078224"/>
            <a:ext cx="5394960" cy="1517904"/>
          </a:xfrm>
          <a:prstGeom prst="roundRect">
            <a:avLst>
              <a:gd name="adj" fmla="val 6024"/>
            </a:avLst>
          </a:prstGeom>
          <a:solidFill>
            <a:srgbClr val="FFF3DD"/>
          </a:solidFill>
          <a:ln w="12700">
            <a:solidFill>
              <a:srgbClr val="FFF3DD">
                <a:alpha val="0"/>
              </a:srgbClr>
            </a:solidFill>
            <a:prstDash val="solid"/>
          </a:ln>
        </p:spPr>
      </p:sp>
      <p:sp>
        <p:nvSpPr>
          <p:cNvPr id="13" name="Text 8"/>
          <p:cNvSpPr/>
          <p:nvPr/>
        </p:nvSpPr>
        <p:spPr>
          <a:xfrm>
            <a:off x="758952" y="422452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ONE-QUBIT-ONLY POOL</a:t>
            </a:r>
            <a:endParaRPr lang="en-US" sz="1800" dirty="0"/>
          </a:p>
        </p:txBody>
      </p:sp>
      <p:sp>
        <p:nvSpPr>
          <p:cNvPr id="14" name="Text 9"/>
          <p:cNvSpPr/>
          <p:nvPr/>
        </p:nvSpPr>
        <p:spPr>
          <a:xfrm>
            <a:off x="758952" y="4672584"/>
            <a:ext cx="4974336" cy="822960"/>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No |11⟩ tangent direction. The update stalls.</a:t>
            </a:r>
            <a:endParaRPr lang="en-US" sz="1900" dirty="0"/>
          </a:p>
        </p:txBody>
      </p:sp>
      <p:sp>
        <p:nvSpPr>
          <p:cNvPr id="15" name="Shape 10"/>
          <p:cNvSpPr/>
          <p:nvPr/>
        </p:nvSpPr>
        <p:spPr>
          <a:xfrm>
            <a:off x="6236208" y="4078224"/>
            <a:ext cx="5394960" cy="1517904"/>
          </a:xfrm>
          <a:prstGeom prst="roundRect">
            <a:avLst>
              <a:gd name="adj" fmla="val 6024"/>
            </a:avLst>
          </a:prstGeom>
          <a:solidFill>
            <a:srgbClr val="EEF6F6"/>
          </a:solidFill>
          <a:ln w="12700">
            <a:solidFill>
              <a:srgbClr val="EEF6F6">
                <a:alpha val="0"/>
              </a:srgbClr>
            </a:solidFill>
            <a:prstDash val="solid"/>
          </a:ln>
        </p:spPr>
      </p:sp>
      <p:sp>
        <p:nvSpPr>
          <p:cNvPr id="16" name="Text 11"/>
          <p:cNvSpPr/>
          <p:nvPr/>
        </p:nvSpPr>
        <p:spPr>
          <a:xfrm>
            <a:off x="6446520" y="422452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A TWO-QUBIT GENERATOR</a:t>
            </a:r>
            <a:endParaRPr lang="en-US" sz="1800" dirty="0"/>
          </a:p>
        </p:txBody>
      </p:sp>
      <p:sp>
        <p:nvSpPr>
          <p:cNvPr id="17" name="Text 12"/>
          <p:cNvSpPr/>
          <p:nvPr/>
        </p:nvSpPr>
        <p:spPr>
          <a:xfrm>
            <a:off x="6446520" y="4672584"/>
            <a:ext cx="4974336" cy="822960"/>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Provides the missing direction.</a:t>
            </a:r>
            <a:endParaRPr lang="en-US" sz="1900" dirty="0"/>
          </a:p>
        </p:txBody>
      </p:sp>
      <p:pic>
        <p:nvPicPr>
          <p:cNvPr id="18" name="Image 2" descr="/mnt/data/qite_package/slides_source/equations/toyA.png">    </p:cNvPr>
          <p:cNvPicPr>
            <a:picLocks noChangeAspect="1"/>
          </p:cNvPicPr>
          <p:nvPr/>
        </p:nvPicPr>
        <p:blipFill>
          <a:blip r:embed="rId3"/>
          <a:stretch>
            <a:fillRect/>
          </a:stretch>
        </p:blipFill>
        <p:spPr>
          <a:xfrm>
            <a:off x="7198146" y="5102352"/>
            <a:ext cx="3480228" cy="4114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WORKED EXAMPLE 2 / RESULT</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Smaller steps cannot repair missing directions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20</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Original calculation for this guide. Exact statevectors; no device noise, shots, or gate-synthesis error.</a:t>
            </a:r>
            <a:endParaRPr lang="en-US" sz="920" dirty="0"/>
          </a:p>
        </p:txBody>
      </p:sp>
      <p:pic>
        <p:nvPicPr>
          <p:cNvPr id="11" name="Image 0" descr="/mnt/data/qite_package/figures/domain_comparison.png">    </p:cNvPr>
          <p:cNvPicPr>
            <a:picLocks noChangeAspect="1"/>
          </p:cNvPicPr>
          <p:nvPr/>
        </p:nvPicPr>
        <p:blipFill>
          <a:blip r:embed="rId1"/>
          <a:stretch>
            <a:fillRect/>
          </a:stretch>
        </p:blipFill>
        <p:spPr>
          <a:xfrm>
            <a:off x="2305093" y="1581912"/>
            <a:ext cx="7551335" cy="421538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FROM THE MODEL TO GATES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Three approximations must be tracked separately</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21</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[1] Motta et al., Nature Physics 16, 205–210 (2020); arXiv:1901.07653.</a:t>
            </a:r>
            <a:endParaRPr lang="en-US" sz="920" dirty="0"/>
          </a:p>
        </p:txBody>
      </p:sp>
      <p:pic>
        <p:nvPicPr>
          <p:cNvPr id="11" name="Image 0" descr="/mnt/data/qite_package/slides_source/equations/product.png">    </p:cNvPr>
          <p:cNvPicPr>
            <a:picLocks noChangeAspect="1"/>
          </p:cNvPicPr>
          <p:nvPr/>
        </p:nvPicPr>
        <p:blipFill>
          <a:blip r:embed="rId1"/>
          <a:stretch>
            <a:fillRect/>
          </a:stretch>
        </p:blipFill>
        <p:spPr>
          <a:xfrm>
            <a:off x="2672899" y="1792224"/>
            <a:ext cx="6843154" cy="694944"/>
          </a:xfrm>
          <a:prstGeom prst="rect">
            <a:avLst/>
          </a:prstGeom>
        </p:spPr>
      </p:pic>
      <p:sp>
        <p:nvSpPr>
          <p:cNvPr id="12" name="Shape 8"/>
          <p:cNvSpPr/>
          <p:nvPr/>
        </p:nvSpPr>
        <p:spPr>
          <a:xfrm>
            <a:off x="548640" y="3072384"/>
            <a:ext cx="3502152" cy="1975104"/>
          </a:xfrm>
          <a:prstGeom prst="roundRect">
            <a:avLst>
              <a:gd name="adj" fmla="val 4630"/>
            </a:avLst>
          </a:prstGeom>
          <a:solidFill>
            <a:srgbClr val="EEF6F6"/>
          </a:solidFill>
          <a:ln w="12700">
            <a:solidFill>
              <a:srgbClr val="EEF6F6">
                <a:alpha val="0"/>
              </a:srgbClr>
            </a:solidFill>
            <a:prstDash val="solid"/>
          </a:ln>
        </p:spPr>
      </p:sp>
      <p:sp>
        <p:nvSpPr>
          <p:cNvPr id="13" name="Text 9"/>
          <p:cNvSpPr/>
          <p:nvPr/>
        </p:nvSpPr>
        <p:spPr>
          <a:xfrm>
            <a:off x="758952" y="3218688"/>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1  SPLIT H</a:t>
            </a:r>
            <a:endParaRPr lang="en-US" sz="1800" dirty="0"/>
          </a:p>
        </p:txBody>
      </p:sp>
      <p:sp>
        <p:nvSpPr>
          <p:cNvPr id="14" name="Text 10"/>
          <p:cNvSpPr/>
          <p:nvPr/>
        </p:nvSpPr>
        <p:spPr>
          <a:xfrm>
            <a:off x="758952" y="3666744"/>
            <a:ext cx="3081528" cy="1280160"/>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Approximate one exponential by a product of term filters.</a:t>
            </a:r>
            <a:endParaRPr lang="en-US" sz="2100" dirty="0"/>
          </a:p>
        </p:txBody>
      </p:sp>
      <p:sp>
        <p:nvSpPr>
          <p:cNvPr id="15" name="Shape 11"/>
          <p:cNvSpPr/>
          <p:nvPr/>
        </p:nvSpPr>
        <p:spPr>
          <a:xfrm>
            <a:off x="4343400" y="3072384"/>
            <a:ext cx="3502152" cy="1975104"/>
          </a:xfrm>
          <a:prstGeom prst="roundRect">
            <a:avLst>
              <a:gd name="adj" fmla="val 4630"/>
            </a:avLst>
          </a:prstGeom>
          <a:solidFill>
            <a:srgbClr val="EEF6F6"/>
          </a:solidFill>
          <a:ln w="12700">
            <a:solidFill>
              <a:srgbClr val="EEF6F6">
                <a:alpha val="0"/>
              </a:srgbClr>
            </a:solidFill>
            <a:prstDash val="solid"/>
          </a:ln>
        </p:spPr>
      </p:sp>
      <p:sp>
        <p:nvSpPr>
          <p:cNvPr id="16" name="Text 12"/>
          <p:cNvSpPr/>
          <p:nvPr/>
        </p:nvSpPr>
        <p:spPr>
          <a:xfrm>
            <a:off x="4553712" y="3218688"/>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2  FIT THE STATE</a:t>
            </a:r>
            <a:endParaRPr lang="en-US" sz="1800" dirty="0"/>
          </a:p>
        </p:txBody>
      </p:sp>
      <p:sp>
        <p:nvSpPr>
          <p:cNvPr id="17" name="Text 13"/>
          <p:cNvSpPr/>
          <p:nvPr/>
        </p:nvSpPr>
        <p:spPr>
          <a:xfrm>
            <a:off x="4553712" y="3666744"/>
            <a:ext cx="3081528" cy="1280160"/>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Replace each normalized filter by a fitted unitary.</a:t>
            </a:r>
            <a:endParaRPr lang="en-US" sz="2100" dirty="0"/>
          </a:p>
        </p:txBody>
      </p:sp>
      <p:sp>
        <p:nvSpPr>
          <p:cNvPr id="18" name="Shape 14"/>
          <p:cNvSpPr/>
          <p:nvPr/>
        </p:nvSpPr>
        <p:spPr>
          <a:xfrm>
            <a:off x="8138160" y="3072384"/>
            <a:ext cx="3502152" cy="1975104"/>
          </a:xfrm>
          <a:prstGeom prst="roundRect">
            <a:avLst>
              <a:gd name="adj" fmla="val 4630"/>
            </a:avLst>
          </a:prstGeom>
          <a:solidFill>
            <a:srgbClr val="EEF6F6"/>
          </a:solidFill>
          <a:ln w="12700">
            <a:solidFill>
              <a:srgbClr val="EEF6F6">
                <a:alpha val="0"/>
              </a:srgbClr>
            </a:solidFill>
            <a:prstDash val="solid"/>
          </a:ln>
        </p:spPr>
      </p:sp>
      <p:sp>
        <p:nvSpPr>
          <p:cNvPr id="19" name="Text 15"/>
          <p:cNvSpPr/>
          <p:nvPr/>
        </p:nvSpPr>
        <p:spPr>
          <a:xfrm>
            <a:off x="8348472" y="3218688"/>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3  SYNTHESIZE U</a:t>
            </a:r>
            <a:endParaRPr lang="en-US" sz="1800" dirty="0"/>
          </a:p>
        </p:txBody>
      </p:sp>
      <p:sp>
        <p:nvSpPr>
          <p:cNvPr id="20" name="Text 16"/>
          <p:cNvSpPr/>
          <p:nvPr/>
        </p:nvSpPr>
        <p:spPr>
          <a:xfrm>
            <a:off x="8348472" y="3666744"/>
            <a:ext cx="3081528" cy="1280160"/>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Compile the generator exponential into native gates.</a:t>
            </a:r>
            <a:endParaRPr lang="en-US" sz="2100" dirty="0"/>
          </a:p>
        </p:txBody>
      </p:sp>
      <p:sp>
        <p:nvSpPr>
          <p:cNvPr id="21" name="Shape 17"/>
          <p:cNvSpPr/>
          <p:nvPr/>
        </p:nvSpPr>
        <p:spPr>
          <a:xfrm>
            <a:off x="548640" y="5367528"/>
            <a:ext cx="11091672" cy="539496"/>
          </a:xfrm>
          <a:prstGeom prst="roundRect">
            <a:avLst>
              <a:gd name="adj" fmla="val 16949"/>
            </a:avLst>
          </a:prstGeom>
          <a:solidFill>
            <a:srgbClr val="FFF3DD"/>
          </a:solidFill>
          <a:ln w="12700">
            <a:solidFill>
              <a:srgbClr val="FFF3DD">
                <a:alpha val="0"/>
              </a:srgbClr>
            </a:solidFill>
            <a:prstDash val="solid"/>
          </a:ln>
        </p:spPr>
      </p:sp>
      <p:sp>
        <p:nvSpPr>
          <p:cNvPr id="22" name="Text 18"/>
          <p:cNvSpPr/>
          <p:nvPr/>
        </p:nvSpPr>
        <p:spPr>
          <a:xfrm>
            <a:off x="749808" y="5440680"/>
            <a:ext cx="10680192" cy="393192"/>
          </a:xfrm>
          <a:prstGeom prst="rect">
            <a:avLst/>
          </a:prstGeom>
          <a:noFill/>
          <a:ln/>
        </p:spPr>
        <p:txBody>
          <a:bodyPr wrap="square" lIns="0" tIns="0" rIns="0" bIns="0" rtlCol="0" anchor="ctr">
            <a:normAutofit/>
          </a:bodyPr>
          <a:lstStyle/>
          <a:p>
            <a:pPr indent="0" marL="0">
              <a:buNone/>
            </a:pPr>
            <a:r>
              <a:rPr lang="en-US" sz="2100" dirty="0">
                <a:solidFill>
                  <a:srgbClr val="203449"/>
                </a:solidFill>
                <a:latin typeface="Arial" pitchFamily="34" charset="0"/>
                <a:ea typeface="Arial" pitchFamily="34" charset="-122"/>
                <a:cs typeface="Arial" pitchFamily="34" charset="-120"/>
              </a:rPr>
              <a:t>A sweep through L terms advances τ by Δτ—not by LΔτ.</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THE DEPTH CAVEAT</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full preparation circuit usually grows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22</a:t>
            </a:r>
            <a:endParaRPr lang="en-US" sz="1100" dirty="0"/>
          </a:p>
        </p:txBody>
      </p:sp>
      <p:pic>
        <p:nvPicPr>
          <p:cNvPr id="10" name="Image 0" descr="/mnt/data/qite_package/slides_source/equations/circuit.png">    </p:cNvPr>
          <p:cNvPicPr>
            <a:picLocks noChangeAspect="1"/>
          </p:cNvPicPr>
          <p:nvPr/>
        </p:nvPicPr>
        <p:blipFill>
          <a:blip r:embed="rId1"/>
          <a:stretch>
            <a:fillRect/>
          </a:stretch>
        </p:blipFill>
        <p:spPr>
          <a:xfrm>
            <a:off x="3027045" y="1783080"/>
            <a:ext cx="6134862" cy="758952"/>
          </a:xfrm>
          <a:prstGeom prst="rect">
            <a:avLst/>
          </a:prstGeom>
        </p:spPr>
      </p:pic>
      <p:sp>
        <p:nvSpPr>
          <p:cNvPr id="11" name="Text 7"/>
          <p:cNvSpPr/>
          <p:nvPr/>
        </p:nvSpPr>
        <p:spPr>
          <a:xfrm>
            <a:off x="777240" y="2779776"/>
            <a:ext cx="914400" cy="365760"/>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|ψ₀⟩</a:t>
            </a:r>
            <a:endParaRPr lang="en-US" sz="2200" dirty="0"/>
          </a:p>
        </p:txBody>
      </p:sp>
      <p:sp>
        <p:nvSpPr>
          <p:cNvPr id="12" name="Shape 8"/>
          <p:cNvSpPr/>
          <p:nvPr/>
        </p:nvSpPr>
        <p:spPr>
          <a:xfrm>
            <a:off x="1792224" y="2962656"/>
            <a:ext cx="8942832" cy="0"/>
          </a:xfrm>
          <a:prstGeom prst="line">
            <a:avLst/>
          </a:prstGeom>
          <a:noFill/>
          <a:ln w="19050">
            <a:solidFill>
              <a:srgbClr val="142C46"/>
            </a:solidFill>
            <a:prstDash val="solid"/>
          </a:ln>
        </p:spPr>
      </p:sp>
      <p:sp>
        <p:nvSpPr>
          <p:cNvPr id="13" name="Shape 9"/>
          <p:cNvSpPr/>
          <p:nvPr/>
        </p:nvSpPr>
        <p:spPr>
          <a:xfrm>
            <a:off x="2121408" y="2688336"/>
            <a:ext cx="996696" cy="539496"/>
          </a:xfrm>
          <a:prstGeom prst="roundRect">
            <a:avLst>
              <a:gd name="adj" fmla="val 16949"/>
            </a:avLst>
          </a:prstGeom>
          <a:solidFill>
            <a:srgbClr val="EEF6F6"/>
          </a:solidFill>
          <a:ln w="12700">
            <a:solidFill>
              <a:srgbClr val="EEF6F6">
                <a:alpha val="0"/>
              </a:srgbClr>
            </a:solidFill>
            <a:prstDash val="solid"/>
          </a:ln>
        </p:spPr>
      </p:sp>
      <p:sp>
        <p:nvSpPr>
          <p:cNvPr id="14" name="Text 10"/>
          <p:cNvSpPr/>
          <p:nvPr/>
        </p:nvSpPr>
        <p:spPr>
          <a:xfrm>
            <a:off x="2130552" y="2734056"/>
            <a:ext cx="978408" cy="402336"/>
          </a:xfrm>
          <a:prstGeom prst="rect">
            <a:avLst/>
          </a:prstGeom>
          <a:noFill/>
          <a:ln/>
        </p:spPr>
        <p:txBody>
          <a:bodyPr wrap="square" lIns="0" tIns="0" rIns="0" bIns="0" rtlCol="0" anchor="ctr">
            <a:normAutofit/>
          </a:bodyPr>
          <a:lstStyle/>
          <a:p>
            <a:pPr algn="ctr" indent="0" marL="0">
              <a:buNone/>
            </a:pPr>
            <a:r>
              <a:rPr lang="en-US" sz="2100" b="1" dirty="0">
                <a:solidFill>
                  <a:srgbClr val="142C46"/>
                </a:solidFill>
                <a:latin typeface="Arial" pitchFamily="34" charset="0"/>
                <a:ea typeface="Arial" pitchFamily="34" charset="-122"/>
                <a:cs typeface="Arial" pitchFamily="34" charset="-120"/>
              </a:rPr>
              <a:t>U₁</a:t>
            </a:r>
            <a:endParaRPr lang="en-US" sz="2100" dirty="0"/>
          </a:p>
        </p:txBody>
      </p:sp>
      <p:sp>
        <p:nvSpPr>
          <p:cNvPr id="15" name="Text 11"/>
          <p:cNvSpPr/>
          <p:nvPr/>
        </p:nvSpPr>
        <p:spPr>
          <a:xfrm>
            <a:off x="10616184" y="2724912"/>
            <a:ext cx="923544" cy="374904"/>
          </a:xfrm>
          <a:prstGeom prst="rect">
            <a:avLst/>
          </a:prstGeom>
          <a:noFill/>
          <a:ln/>
        </p:spPr>
        <p:txBody>
          <a:bodyPr wrap="square" lIns="0" tIns="0" rIns="0" bIns="0" rtlCol="0" anchor="ctr">
            <a:normAutofit/>
          </a:bodyPr>
          <a:lstStyle/>
          <a:p>
            <a:pPr indent="0" marL="0">
              <a:buNone/>
            </a:pPr>
            <a:r>
              <a:rPr lang="en-US" sz="1600" b="1" dirty="0">
                <a:solidFill>
                  <a:srgbClr val="007F86"/>
                </a:solidFill>
                <a:latin typeface="Arial" pitchFamily="34" charset="0"/>
                <a:ea typeface="Arial" pitchFamily="34" charset="-122"/>
                <a:cs typeface="Arial" pitchFamily="34" charset="-120"/>
              </a:rPr>
              <a:t>measure</a:t>
            </a:r>
            <a:endParaRPr lang="en-US" sz="1600" dirty="0"/>
          </a:p>
        </p:txBody>
      </p:sp>
      <p:sp>
        <p:nvSpPr>
          <p:cNvPr id="16" name="Text 12"/>
          <p:cNvSpPr/>
          <p:nvPr/>
        </p:nvSpPr>
        <p:spPr>
          <a:xfrm>
            <a:off x="777240" y="3547872"/>
            <a:ext cx="914400" cy="365760"/>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|ψ₀⟩</a:t>
            </a:r>
            <a:endParaRPr lang="en-US" sz="2200" dirty="0"/>
          </a:p>
        </p:txBody>
      </p:sp>
      <p:sp>
        <p:nvSpPr>
          <p:cNvPr id="17" name="Shape 13"/>
          <p:cNvSpPr/>
          <p:nvPr/>
        </p:nvSpPr>
        <p:spPr>
          <a:xfrm>
            <a:off x="1792224" y="3730752"/>
            <a:ext cx="8942832" cy="0"/>
          </a:xfrm>
          <a:prstGeom prst="line">
            <a:avLst/>
          </a:prstGeom>
          <a:noFill/>
          <a:ln w="19050">
            <a:solidFill>
              <a:srgbClr val="142C46"/>
            </a:solidFill>
            <a:prstDash val="solid"/>
          </a:ln>
        </p:spPr>
      </p:sp>
      <p:sp>
        <p:nvSpPr>
          <p:cNvPr id="18" name="Shape 14"/>
          <p:cNvSpPr/>
          <p:nvPr/>
        </p:nvSpPr>
        <p:spPr>
          <a:xfrm>
            <a:off x="2121408" y="3456432"/>
            <a:ext cx="996696" cy="539496"/>
          </a:xfrm>
          <a:prstGeom prst="roundRect">
            <a:avLst>
              <a:gd name="adj" fmla="val 16949"/>
            </a:avLst>
          </a:prstGeom>
          <a:solidFill>
            <a:srgbClr val="EEF6F6"/>
          </a:solidFill>
          <a:ln w="12700">
            <a:solidFill>
              <a:srgbClr val="EEF6F6">
                <a:alpha val="0"/>
              </a:srgbClr>
            </a:solidFill>
            <a:prstDash val="solid"/>
          </a:ln>
        </p:spPr>
      </p:sp>
      <p:sp>
        <p:nvSpPr>
          <p:cNvPr id="19" name="Text 15"/>
          <p:cNvSpPr/>
          <p:nvPr/>
        </p:nvSpPr>
        <p:spPr>
          <a:xfrm>
            <a:off x="2130552" y="3502152"/>
            <a:ext cx="978408" cy="402336"/>
          </a:xfrm>
          <a:prstGeom prst="rect">
            <a:avLst/>
          </a:prstGeom>
          <a:noFill/>
          <a:ln/>
        </p:spPr>
        <p:txBody>
          <a:bodyPr wrap="square" lIns="0" tIns="0" rIns="0" bIns="0" rtlCol="0" anchor="ctr">
            <a:normAutofit/>
          </a:bodyPr>
          <a:lstStyle/>
          <a:p>
            <a:pPr algn="ctr" indent="0" marL="0">
              <a:buNone/>
            </a:pPr>
            <a:r>
              <a:rPr lang="en-US" sz="2100" b="1" dirty="0">
                <a:solidFill>
                  <a:srgbClr val="142C46"/>
                </a:solidFill>
                <a:latin typeface="Arial" pitchFamily="34" charset="0"/>
                <a:ea typeface="Arial" pitchFamily="34" charset="-122"/>
                <a:cs typeface="Arial" pitchFamily="34" charset="-120"/>
              </a:rPr>
              <a:t>U₁</a:t>
            </a:r>
            <a:endParaRPr lang="en-US" sz="2100" dirty="0"/>
          </a:p>
        </p:txBody>
      </p:sp>
      <p:sp>
        <p:nvSpPr>
          <p:cNvPr id="20" name="Shape 16"/>
          <p:cNvSpPr/>
          <p:nvPr/>
        </p:nvSpPr>
        <p:spPr>
          <a:xfrm>
            <a:off x="3502152" y="3456432"/>
            <a:ext cx="996696" cy="539496"/>
          </a:xfrm>
          <a:prstGeom prst="roundRect">
            <a:avLst>
              <a:gd name="adj" fmla="val 16949"/>
            </a:avLst>
          </a:prstGeom>
          <a:solidFill>
            <a:srgbClr val="EEF6F6"/>
          </a:solidFill>
          <a:ln w="12700">
            <a:solidFill>
              <a:srgbClr val="EEF6F6">
                <a:alpha val="0"/>
              </a:srgbClr>
            </a:solidFill>
            <a:prstDash val="solid"/>
          </a:ln>
        </p:spPr>
      </p:sp>
      <p:sp>
        <p:nvSpPr>
          <p:cNvPr id="21" name="Text 17"/>
          <p:cNvSpPr/>
          <p:nvPr/>
        </p:nvSpPr>
        <p:spPr>
          <a:xfrm>
            <a:off x="3511296" y="3502152"/>
            <a:ext cx="978408" cy="402336"/>
          </a:xfrm>
          <a:prstGeom prst="rect">
            <a:avLst/>
          </a:prstGeom>
          <a:noFill/>
          <a:ln/>
        </p:spPr>
        <p:txBody>
          <a:bodyPr wrap="square" lIns="0" tIns="0" rIns="0" bIns="0" rtlCol="0" anchor="ctr">
            <a:normAutofit/>
          </a:bodyPr>
          <a:lstStyle/>
          <a:p>
            <a:pPr algn="ctr" indent="0" marL="0">
              <a:buNone/>
            </a:pPr>
            <a:r>
              <a:rPr lang="en-US" sz="2100" b="1" dirty="0">
                <a:solidFill>
                  <a:srgbClr val="142C46"/>
                </a:solidFill>
                <a:latin typeface="Arial" pitchFamily="34" charset="0"/>
                <a:ea typeface="Arial" pitchFamily="34" charset="-122"/>
                <a:cs typeface="Arial" pitchFamily="34" charset="-120"/>
              </a:rPr>
              <a:t>U₂</a:t>
            </a:r>
            <a:endParaRPr lang="en-US" sz="2100" dirty="0"/>
          </a:p>
        </p:txBody>
      </p:sp>
      <p:sp>
        <p:nvSpPr>
          <p:cNvPr id="22" name="Text 18"/>
          <p:cNvSpPr/>
          <p:nvPr/>
        </p:nvSpPr>
        <p:spPr>
          <a:xfrm>
            <a:off x="10616184" y="3493008"/>
            <a:ext cx="923544" cy="374904"/>
          </a:xfrm>
          <a:prstGeom prst="rect">
            <a:avLst/>
          </a:prstGeom>
          <a:noFill/>
          <a:ln/>
        </p:spPr>
        <p:txBody>
          <a:bodyPr wrap="square" lIns="0" tIns="0" rIns="0" bIns="0" rtlCol="0" anchor="ctr">
            <a:normAutofit/>
          </a:bodyPr>
          <a:lstStyle/>
          <a:p>
            <a:pPr indent="0" marL="0">
              <a:buNone/>
            </a:pPr>
            <a:r>
              <a:rPr lang="en-US" sz="1600" b="1" dirty="0">
                <a:solidFill>
                  <a:srgbClr val="007F86"/>
                </a:solidFill>
                <a:latin typeface="Arial" pitchFamily="34" charset="0"/>
                <a:ea typeface="Arial" pitchFamily="34" charset="-122"/>
                <a:cs typeface="Arial" pitchFamily="34" charset="-120"/>
              </a:rPr>
              <a:t>measure</a:t>
            </a:r>
            <a:endParaRPr lang="en-US" sz="1600" dirty="0"/>
          </a:p>
        </p:txBody>
      </p:sp>
      <p:sp>
        <p:nvSpPr>
          <p:cNvPr id="23" name="Text 19"/>
          <p:cNvSpPr/>
          <p:nvPr/>
        </p:nvSpPr>
        <p:spPr>
          <a:xfrm>
            <a:off x="777240" y="4315968"/>
            <a:ext cx="914400" cy="365760"/>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|ψ₀⟩</a:t>
            </a:r>
            <a:endParaRPr lang="en-US" sz="2200" dirty="0"/>
          </a:p>
        </p:txBody>
      </p:sp>
      <p:sp>
        <p:nvSpPr>
          <p:cNvPr id="24" name="Shape 20"/>
          <p:cNvSpPr/>
          <p:nvPr/>
        </p:nvSpPr>
        <p:spPr>
          <a:xfrm>
            <a:off x="1792224" y="4498848"/>
            <a:ext cx="8942832" cy="0"/>
          </a:xfrm>
          <a:prstGeom prst="line">
            <a:avLst/>
          </a:prstGeom>
          <a:noFill/>
          <a:ln w="19050">
            <a:solidFill>
              <a:srgbClr val="142C46"/>
            </a:solidFill>
            <a:prstDash val="solid"/>
          </a:ln>
        </p:spPr>
      </p:sp>
      <p:sp>
        <p:nvSpPr>
          <p:cNvPr id="25" name="Shape 21"/>
          <p:cNvSpPr/>
          <p:nvPr/>
        </p:nvSpPr>
        <p:spPr>
          <a:xfrm>
            <a:off x="2121408" y="4224528"/>
            <a:ext cx="996696" cy="539496"/>
          </a:xfrm>
          <a:prstGeom prst="roundRect">
            <a:avLst>
              <a:gd name="adj" fmla="val 16949"/>
            </a:avLst>
          </a:prstGeom>
          <a:solidFill>
            <a:srgbClr val="EEF6F6"/>
          </a:solidFill>
          <a:ln w="12700">
            <a:solidFill>
              <a:srgbClr val="EEF6F6">
                <a:alpha val="0"/>
              </a:srgbClr>
            </a:solidFill>
            <a:prstDash val="solid"/>
          </a:ln>
        </p:spPr>
      </p:sp>
      <p:sp>
        <p:nvSpPr>
          <p:cNvPr id="26" name="Text 22"/>
          <p:cNvSpPr/>
          <p:nvPr/>
        </p:nvSpPr>
        <p:spPr>
          <a:xfrm>
            <a:off x="2130552" y="4270248"/>
            <a:ext cx="978408" cy="402336"/>
          </a:xfrm>
          <a:prstGeom prst="rect">
            <a:avLst/>
          </a:prstGeom>
          <a:noFill/>
          <a:ln/>
        </p:spPr>
        <p:txBody>
          <a:bodyPr wrap="square" lIns="0" tIns="0" rIns="0" bIns="0" rtlCol="0" anchor="ctr">
            <a:normAutofit/>
          </a:bodyPr>
          <a:lstStyle/>
          <a:p>
            <a:pPr algn="ctr" indent="0" marL="0">
              <a:buNone/>
            </a:pPr>
            <a:r>
              <a:rPr lang="en-US" sz="2100" b="1" dirty="0">
                <a:solidFill>
                  <a:srgbClr val="142C46"/>
                </a:solidFill>
                <a:latin typeface="Arial" pitchFamily="34" charset="0"/>
                <a:ea typeface="Arial" pitchFamily="34" charset="-122"/>
                <a:cs typeface="Arial" pitchFamily="34" charset="-120"/>
              </a:rPr>
              <a:t>U₁</a:t>
            </a:r>
            <a:endParaRPr lang="en-US" sz="2100" dirty="0"/>
          </a:p>
        </p:txBody>
      </p:sp>
      <p:sp>
        <p:nvSpPr>
          <p:cNvPr id="27" name="Shape 23"/>
          <p:cNvSpPr/>
          <p:nvPr/>
        </p:nvSpPr>
        <p:spPr>
          <a:xfrm>
            <a:off x="3502152" y="4224528"/>
            <a:ext cx="996696" cy="539496"/>
          </a:xfrm>
          <a:prstGeom prst="roundRect">
            <a:avLst>
              <a:gd name="adj" fmla="val 16949"/>
            </a:avLst>
          </a:prstGeom>
          <a:solidFill>
            <a:srgbClr val="EEF6F6"/>
          </a:solidFill>
          <a:ln w="12700">
            <a:solidFill>
              <a:srgbClr val="EEF6F6">
                <a:alpha val="0"/>
              </a:srgbClr>
            </a:solidFill>
            <a:prstDash val="solid"/>
          </a:ln>
        </p:spPr>
      </p:sp>
      <p:sp>
        <p:nvSpPr>
          <p:cNvPr id="28" name="Text 24"/>
          <p:cNvSpPr/>
          <p:nvPr/>
        </p:nvSpPr>
        <p:spPr>
          <a:xfrm>
            <a:off x="3511296" y="4270248"/>
            <a:ext cx="978408" cy="402336"/>
          </a:xfrm>
          <a:prstGeom prst="rect">
            <a:avLst/>
          </a:prstGeom>
          <a:noFill/>
          <a:ln/>
        </p:spPr>
        <p:txBody>
          <a:bodyPr wrap="square" lIns="0" tIns="0" rIns="0" bIns="0" rtlCol="0" anchor="ctr">
            <a:normAutofit/>
          </a:bodyPr>
          <a:lstStyle/>
          <a:p>
            <a:pPr algn="ctr" indent="0" marL="0">
              <a:buNone/>
            </a:pPr>
            <a:r>
              <a:rPr lang="en-US" sz="2100" b="1" dirty="0">
                <a:solidFill>
                  <a:srgbClr val="142C46"/>
                </a:solidFill>
                <a:latin typeface="Arial" pitchFamily="34" charset="0"/>
                <a:ea typeface="Arial" pitchFamily="34" charset="-122"/>
                <a:cs typeface="Arial" pitchFamily="34" charset="-120"/>
              </a:rPr>
              <a:t>U₂</a:t>
            </a:r>
            <a:endParaRPr lang="en-US" sz="2100" dirty="0"/>
          </a:p>
        </p:txBody>
      </p:sp>
      <p:sp>
        <p:nvSpPr>
          <p:cNvPr id="29" name="Shape 25"/>
          <p:cNvSpPr/>
          <p:nvPr/>
        </p:nvSpPr>
        <p:spPr>
          <a:xfrm>
            <a:off x="4882896" y="4224528"/>
            <a:ext cx="996696" cy="539496"/>
          </a:xfrm>
          <a:prstGeom prst="roundRect">
            <a:avLst>
              <a:gd name="adj" fmla="val 16949"/>
            </a:avLst>
          </a:prstGeom>
          <a:solidFill>
            <a:srgbClr val="EEF6F6"/>
          </a:solidFill>
          <a:ln w="12700">
            <a:solidFill>
              <a:srgbClr val="EEF6F6">
                <a:alpha val="0"/>
              </a:srgbClr>
            </a:solidFill>
            <a:prstDash val="solid"/>
          </a:ln>
        </p:spPr>
      </p:sp>
      <p:sp>
        <p:nvSpPr>
          <p:cNvPr id="30" name="Text 26"/>
          <p:cNvSpPr/>
          <p:nvPr/>
        </p:nvSpPr>
        <p:spPr>
          <a:xfrm>
            <a:off x="4892040" y="4270248"/>
            <a:ext cx="978408" cy="402336"/>
          </a:xfrm>
          <a:prstGeom prst="rect">
            <a:avLst/>
          </a:prstGeom>
          <a:noFill/>
          <a:ln/>
        </p:spPr>
        <p:txBody>
          <a:bodyPr wrap="square" lIns="0" tIns="0" rIns="0" bIns="0" rtlCol="0" anchor="ctr">
            <a:normAutofit/>
          </a:bodyPr>
          <a:lstStyle/>
          <a:p>
            <a:pPr algn="ctr" indent="0" marL="0">
              <a:buNone/>
            </a:pPr>
            <a:r>
              <a:rPr lang="en-US" sz="2100" b="1" dirty="0">
                <a:solidFill>
                  <a:srgbClr val="142C46"/>
                </a:solidFill>
                <a:latin typeface="Arial" pitchFamily="34" charset="0"/>
                <a:ea typeface="Arial" pitchFamily="34" charset="-122"/>
                <a:cs typeface="Arial" pitchFamily="34" charset="-120"/>
              </a:rPr>
              <a:t>U₃</a:t>
            </a:r>
            <a:endParaRPr lang="en-US" sz="2100" dirty="0"/>
          </a:p>
        </p:txBody>
      </p:sp>
      <p:sp>
        <p:nvSpPr>
          <p:cNvPr id="31" name="Shape 27"/>
          <p:cNvSpPr/>
          <p:nvPr/>
        </p:nvSpPr>
        <p:spPr>
          <a:xfrm>
            <a:off x="6263640" y="4224528"/>
            <a:ext cx="996696" cy="539496"/>
          </a:xfrm>
          <a:prstGeom prst="roundRect">
            <a:avLst>
              <a:gd name="adj" fmla="val 16949"/>
            </a:avLst>
          </a:prstGeom>
          <a:solidFill>
            <a:srgbClr val="EEF6F6"/>
          </a:solidFill>
          <a:ln w="12700">
            <a:solidFill>
              <a:srgbClr val="EEF6F6">
                <a:alpha val="0"/>
              </a:srgbClr>
            </a:solidFill>
            <a:prstDash val="solid"/>
          </a:ln>
        </p:spPr>
      </p:sp>
      <p:sp>
        <p:nvSpPr>
          <p:cNvPr id="32" name="Text 28"/>
          <p:cNvSpPr/>
          <p:nvPr/>
        </p:nvSpPr>
        <p:spPr>
          <a:xfrm>
            <a:off x="6272784" y="4270248"/>
            <a:ext cx="978408" cy="402336"/>
          </a:xfrm>
          <a:prstGeom prst="rect">
            <a:avLst/>
          </a:prstGeom>
          <a:noFill/>
          <a:ln/>
        </p:spPr>
        <p:txBody>
          <a:bodyPr wrap="square" lIns="0" tIns="0" rIns="0" bIns="0" rtlCol="0" anchor="ctr">
            <a:normAutofit/>
          </a:bodyPr>
          <a:lstStyle/>
          <a:p>
            <a:pPr algn="ctr" indent="0" marL="0">
              <a:buNone/>
            </a:pPr>
            <a:r>
              <a:rPr lang="en-US" sz="2100" b="1" dirty="0">
                <a:solidFill>
                  <a:srgbClr val="142C46"/>
                </a:solidFill>
                <a:latin typeface="Arial" pitchFamily="34" charset="0"/>
                <a:ea typeface="Arial" pitchFamily="34" charset="-122"/>
                <a:cs typeface="Arial" pitchFamily="34" charset="-120"/>
              </a:rPr>
              <a:t>U₄</a:t>
            </a:r>
            <a:endParaRPr lang="en-US" sz="2100" dirty="0"/>
          </a:p>
        </p:txBody>
      </p:sp>
      <p:sp>
        <p:nvSpPr>
          <p:cNvPr id="33" name="Shape 29"/>
          <p:cNvSpPr/>
          <p:nvPr/>
        </p:nvSpPr>
        <p:spPr>
          <a:xfrm>
            <a:off x="7644384" y="4224528"/>
            <a:ext cx="996696" cy="539496"/>
          </a:xfrm>
          <a:prstGeom prst="roundRect">
            <a:avLst>
              <a:gd name="adj" fmla="val 16949"/>
            </a:avLst>
          </a:prstGeom>
          <a:solidFill>
            <a:srgbClr val="EEF6F6"/>
          </a:solidFill>
          <a:ln w="12700">
            <a:solidFill>
              <a:srgbClr val="EEF6F6">
                <a:alpha val="0"/>
              </a:srgbClr>
            </a:solidFill>
            <a:prstDash val="solid"/>
          </a:ln>
        </p:spPr>
      </p:sp>
      <p:sp>
        <p:nvSpPr>
          <p:cNvPr id="34" name="Text 30"/>
          <p:cNvSpPr/>
          <p:nvPr/>
        </p:nvSpPr>
        <p:spPr>
          <a:xfrm>
            <a:off x="7653528" y="4270248"/>
            <a:ext cx="978408" cy="402336"/>
          </a:xfrm>
          <a:prstGeom prst="rect">
            <a:avLst/>
          </a:prstGeom>
          <a:noFill/>
          <a:ln/>
        </p:spPr>
        <p:txBody>
          <a:bodyPr wrap="square" lIns="0" tIns="0" rIns="0" bIns="0" rtlCol="0" anchor="ctr">
            <a:normAutofit/>
          </a:bodyPr>
          <a:lstStyle/>
          <a:p>
            <a:pPr algn="ctr" indent="0" marL="0">
              <a:buNone/>
            </a:pPr>
            <a:r>
              <a:rPr lang="en-US" sz="2100" b="1" dirty="0">
                <a:solidFill>
                  <a:srgbClr val="142C46"/>
                </a:solidFill>
                <a:latin typeface="Arial" pitchFamily="34" charset="0"/>
                <a:ea typeface="Arial" pitchFamily="34" charset="-122"/>
                <a:cs typeface="Arial" pitchFamily="34" charset="-120"/>
              </a:rPr>
              <a:t>Uₛ</a:t>
            </a:r>
            <a:endParaRPr lang="en-US" sz="2100" dirty="0"/>
          </a:p>
        </p:txBody>
      </p:sp>
      <p:sp>
        <p:nvSpPr>
          <p:cNvPr id="35" name="Text 31"/>
          <p:cNvSpPr/>
          <p:nvPr/>
        </p:nvSpPr>
        <p:spPr>
          <a:xfrm>
            <a:off x="10616184" y="4261104"/>
            <a:ext cx="923544" cy="374904"/>
          </a:xfrm>
          <a:prstGeom prst="rect">
            <a:avLst/>
          </a:prstGeom>
          <a:noFill/>
          <a:ln/>
        </p:spPr>
        <p:txBody>
          <a:bodyPr wrap="square" lIns="0" tIns="0" rIns="0" bIns="0" rtlCol="0" anchor="ctr">
            <a:normAutofit/>
          </a:bodyPr>
          <a:lstStyle/>
          <a:p>
            <a:pPr indent="0" marL="0">
              <a:buNone/>
            </a:pPr>
            <a:r>
              <a:rPr lang="en-US" sz="1600" b="1" dirty="0">
                <a:solidFill>
                  <a:srgbClr val="007F86"/>
                </a:solidFill>
                <a:latin typeface="Arial" pitchFamily="34" charset="0"/>
                <a:ea typeface="Arial" pitchFamily="34" charset="-122"/>
                <a:cs typeface="Arial" pitchFamily="34" charset="-120"/>
              </a:rPr>
              <a:t>measure</a:t>
            </a:r>
            <a:endParaRPr lang="en-US" sz="1600" dirty="0"/>
          </a:p>
        </p:txBody>
      </p:sp>
      <p:sp>
        <p:nvSpPr>
          <p:cNvPr id="36" name="Shape 32"/>
          <p:cNvSpPr/>
          <p:nvPr/>
        </p:nvSpPr>
        <p:spPr>
          <a:xfrm>
            <a:off x="548640" y="5477256"/>
            <a:ext cx="11091672" cy="539496"/>
          </a:xfrm>
          <a:prstGeom prst="roundRect">
            <a:avLst>
              <a:gd name="adj" fmla="val 16949"/>
            </a:avLst>
          </a:prstGeom>
          <a:solidFill>
            <a:srgbClr val="FFF3DD"/>
          </a:solidFill>
          <a:ln w="12700">
            <a:solidFill>
              <a:srgbClr val="FFF3DD">
                <a:alpha val="0"/>
              </a:srgbClr>
            </a:solidFill>
            <a:prstDash val="solid"/>
          </a:ln>
        </p:spPr>
      </p:sp>
      <p:sp>
        <p:nvSpPr>
          <p:cNvPr id="37" name="Text 33"/>
          <p:cNvSpPr/>
          <p:nvPr/>
        </p:nvSpPr>
        <p:spPr>
          <a:xfrm>
            <a:off x="749808" y="5550408"/>
            <a:ext cx="10680192" cy="393192"/>
          </a:xfrm>
          <a:prstGeom prst="rect">
            <a:avLst/>
          </a:prstGeom>
          <a:noFill/>
          <a:ln/>
        </p:spPr>
        <p:txBody>
          <a:bodyPr wrap="square" lIns="0" tIns="0" rIns="0" bIns="0" rtlCol="0" anchor="ctr">
            <a:normAutofit/>
          </a:bodyPr>
          <a:lstStyle/>
          <a:p>
            <a:pPr indent="0" marL="0">
              <a:buNone/>
            </a:pPr>
            <a:r>
              <a:rPr lang="en-US" sz="2300" dirty="0">
                <a:solidFill>
                  <a:srgbClr val="203449"/>
                </a:solidFill>
                <a:latin typeface="Arial" pitchFamily="34" charset="0"/>
                <a:ea typeface="Arial" pitchFamily="34" charset="-122"/>
                <a:cs typeface="Arial" pitchFamily="34" charset="-120"/>
              </a:rPr>
              <a:t>Each shot generally pays for the entire current-state preparation.</a:t>
            </a:r>
            <a:endParaRPr lang="en-US" sz="2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MEASUREMENTS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Pauli products turn the fit into measurable averages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23</a:t>
            </a:r>
            <a:endParaRPr lang="en-US" sz="1100" dirty="0"/>
          </a:p>
        </p:txBody>
      </p:sp>
      <p:pic>
        <p:nvPicPr>
          <p:cNvPr id="10" name="Image 0" descr="/mnt/data/qite_package/slides_source/equations/measure.png">    </p:cNvPr>
          <p:cNvPicPr>
            <a:picLocks noChangeAspect="1"/>
          </p:cNvPicPr>
          <p:nvPr/>
        </p:nvPicPr>
        <p:blipFill>
          <a:blip r:embed="rId1"/>
          <a:stretch>
            <a:fillRect/>
          </a:stretch>
        </p:blipFill>
        <p:spPr>
          <a:xfrm>
            <a:off x="1622729" y="1792224"/>
            <a:ext cx="8943493" cy="749808"/>
          </a:xfrm>
          <a:prstGeom prst="rect">
            <a:avLst/>
          </a:prstGeom>
        </p:spPr>
      </p:pic>
      <p:pic>
        <p:nvPicPr>
          <p:cNvPr id="11" name="Image 1" descr="/mnt/data/qite_package/slides_source/equations/shot.png">    </p:cNvPr>
          <p:cNvPicPr>
            <a:picLocks noChangeAspect="1"/>
          </p:cNvPicPr>
          <p:nvPr/>
        </p:nvPicPr>
        <p:blipFill>
          <a:blip r:embed="rId2"/>
          <a:stretch>
            <a:fillRect/>
          </a:stretch>
        </p:blipFill>
        <p:spPr>
          <a:xfrm>
            <a:off x="4353010" y="2798064"/>
            <a:ext cx="3492077" cy="1033272"/>
          </a:xfrm>
          <a:prstGeom prst="rect">
            <a:avLst/>
          </a:prstGeom>
        </p:spPr>
      </p:pic>
      <p:sp>
        <p:nvSpPr>
          <p:cNvPr id="12" name="Shape 7"/>
          <p:cNvSpPr/>
          <p:nvPr/>
        </p:nvSpPr>
        <p:spPr>
          <a:xfrm>
            <a:off x="548640" y="4334256"/>
            <a:ext cx="5394960" cy="1280160"/>
          </a:xfrm>
          <a:prstGeom prst="roundRect">
            <a:avLst>
              <a:gd name="adj" fmla="val 7143"/>
            </a:avLst>
          </a:prstGeom>
          <a:solidFill>
            <a:srgbClr val="EEF6F6"/>
          </a:solidFill>
          <a:ln w="12700">
            <a:solidFill>
              <a:srgbClr val="EEF6F6">
                <a:alpha val="0"/>
              </a:srgbClr>
            </a:solidFill>
            <a:prstDash val="solid"/>
          </a:ln>
        </p:spPr>
      </p:sp>
      <p:sp>
        <p:nvSpPr>
          <p:cNvPr id="13" name="Text 8"/>
          <p:cNvSpPr/>
          <p:nvPr/>
        </p:nvSpPr>
        <p:spPr>
          <a:xfrm>
            <a:off x="758952" y="4480560"/>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MEASUREMENT PLAN</a:t>
            </a:r>
            <a:endParaRPr lang="en-US" sz="1800" dirty="0"/>
          </a:p>
        </p:txBody>
      </p:sp>
      <p:sp>
        <p:nvSpPr>
          <p:cNvPr id="14" name="Text 9"/>
          <p:cNvSpPr/>
          <p:nvPr/>
        </p:nvSpPr>
        <p:spPr>
          <a:xfrm>
            <a:off x="758952" y="4928616"/>
            <a:ext cx="4974336" cy="585216"/>
          </a:xfrm>
          <a:prstGeom prst="rect">
            <a:avLst/>
          </a:prstGeom>
          <a:noFill/>
          <a:ln/>
        </p:spPr>
        <p:txBody>
          <a:bodyPr wrap="square" lIns="0" tIns="0" rIns="0" bIns="0" rtlCol="0" anchor="t">
            <a:normAutofit/>
          </a:bodyPr>
          <a:lstStyle/>
          <a:p>
            <a:pPr indent="0" marL="0">
              <a:buNone/>
            </a:pPr>
            <a:r>
              <a:rPr lang="en-US" sz="1850" dirty="0">
                <a:solidFill>
                  <a:srgbClr val="203449"/>
                </a:solidFill>
                <a:latin typeface="Arial" pitchFamily="34" charset="0"/>
                <a:ea typeface="Arial" pitchFamily="34" charset="-122"/>
                <a:cs typeface="Arial" pitchFamily="34" charset="-120"/>
              </a:rPr>
              <a:t>Reduce products, remove duplicates, group compatible strings.</a:t>
            </a:r>
            <a:endParaRPr lang="en-US" sz="1850" dirty="0"/>
          </a:p>
        </p:txBody>
      </p:sp>
      <p:sp>
        <p:nvSpPr>
          <p:cNvPr id="15" name="Shape 10"/>
          <p:cNvSpPr/>
          <p:nvPr/>
        </p:nvSpPr>
        <p:spPr>
          <a:xfrm>
            <a:off x="6236208" y="4334256"/>
            <a:ext cx="5394960" cy="1280160"/>
          </a:xfrm>
          <a:prstGeom prst="roundRect">
            <a:avLst>
              <a:gd name="adj" fmla="val 7143"/>
            </a:avLst>
          </a:prstGeom>
          <a:solidFill>
            <a:srgbClr val="FFF3DD"/>
          </a:solidFill>
          <a:ln w="12700">
            <a:solidFill>
              <a:srgbClr val="FFF3DD">
                <a:alpha val="0"/>
              </a:srgbClr>
            </a:solidFill>
            <a:prstDash val="solid"/>
          </a:ln>
        </p:spPr>
      </p:sp>
      <p:sp>
        <p:nvSpPr>
          <p:cNvPr id="16" name="Text 11"/>
          <p:cNvSpPr/>
          <p:nvPr/>
        </p:nvSpPr>
        <p:spPr>
          <a:xfrm>
            <a:off x="6446520" y="4480560"/>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COST PLAN</a:t>
            </a:r>
            <a:endParaRPr lang="en-US" sz="1800" dirty="0"/>
          </a:p>
        </p:txBody>
      </p:sp>
      <p:sp>
        <p:nvSpPr>
          <p:cNvPr id="17" name="Text 12"/>
          <p:cNvSpPr/>
          <p:nvPr/>
        </p:nvSpPr>
        <p:spPr>
          <a:xfrm>
            <a:off x="6446520" y="4928616"/>
            <a:ext cx="4974336" cy="585216"/>
          </a:xfrm>
          <a:prstGeom prst="rect">
            <a:avLst/>
          </a:prstGeom>
          <a:noFill/>
          <a:ln/>
        </p:spPr>
        <p:txBody>
          <a:bodyPr wrap="square" lIns="0" tIns="0" rIns="0" bIns="0" rtlCol="0" anchor="t">
            <a:normAutofit/>
          </a:bodyPr>
          <a:lstStyle/>
          <a:p>
            <a:pPr indent="0" marL="0">
              <a:buNone/>
            </a:pPr>
            <a:r>
              <a:rPr lang="en-US" sz="1850" dirty="0">
                <a:solidFill>
                  <a:srgbClr val="203449"/>
                </a:solidFill>
                <a:latin typeface="Arial" pitchFamily="34" charset="0"/>
                <a:ea typeface="Arial" pitchFamily="34" charset="-122"/>
                <a:cs typeface="Arial" pitchFamily="34" charset="-120"/>
              </a:rPr>
              <a:t>Matrix entries ≠ distinct settings ≠ total circuit executions.</a:t>
            </a:r>
            <a:endParaRPr lang="en-US" sz="1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PRACTICAL NUMERICS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Stabilize the solve before trusting the trajectory</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24</a:t>
            </a:r>
            <a:endParaRPr lang="en-US" sz="1100" dirty="0"/>
          </a:p>
        </p:txBody>
      </p:sp>
      <p:sp>
        <p:nvSpPr>
          <p:cNvPr id="10" name="Shape 7"/>
          <p:cNvSpPr/>
          <p:nvPr/>
        </p:nvSpPr>
        <p:spPr>
          <a:xfrm>
            <a:off x="548640" y="1783080"/>
            <a:ext cx="3502152" cy="1673352"/>
          </a:xfrm>
          <a:prstGeom prst="roundRect">
            <a:avLst>
              <a:gd name="adj" fmla="val 5464"/>
            </a:avLst>
          </a:prstGeom>
          <a:solidFill>
            <a:srgbClr val="EEF6F6"/>
          </a:solidFill>
          <a:ln w="12700">
            <a:solidFill>
              <a:srgbClr val="EEF6F6">
                <a:alpha val="0"/>
              </a:srgbClr>
            </a:solidFill>
            <a:prstDash val="solid"/>
          </a:ln>
        </p:spPr>
      </p:sp>
      <p:sp>
        <p:nvSpPr>
          <p:cNvPr id="11" name="Text 8"/>
          <p:cNvSpPr/>
          <p:nvPr/>
        </p:nvSpPr>
        <p:spPr>
          <a:xfrm>
            <a:off x="758952" y="192938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INSPECT</a:t>
            </a:r>
            <a:endParaRPr lang="en-US" sz="1800" dirty="0"/>
          </a:p>
        </p:txBody>
      </p:sp>
      <p:sp>
        <p:nvSpPr>
          <p:cNvPr id="12" name="Text 9"/>
          <p:cNvSpPr/>
          <p:nvPr/>
        </p:nvSpPr>
        <p:spPr>
          <a:xfrm>
            <a:off x="758952" y="2377440"/>
            <a:ext cx="3081528" cy="978408"/>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Symmetrize S. Check its spectrum and retained rank.</a:t>
            </a:r>
            <a:endParaRPr lang="en-US" sz="1900" dirty="0"/>
          </a:p>
        </p:txBody>
      </p:sp>
      <p:sp>
        <p:nvSpPr>
          <p:cNvPr id="13" name="Shape 10"/>
          <p:cNvSpPr/>
          <p:nvPr/>
        </p:nvSpPr>
        <p:spPr>
          <a:xfrm>
            <a:off x="4343400" y="1783080"/>
            <a:ext cx="3502152" cy="1673352"/>
          </a:xfrm>
          <a:prstGeom prst="roundRect">
            <a:avLst>
              <a:gd name="adj" fmla="val 5464"/>
            </a:avLst>
          </a:prstGeom>
          <a:solidFill>
            <a:srgbClr val="EEF6F6"/>
          </a:solidFill>
          <a:ln w="12700">
            <a:solidFill>
              <a:srgbClr val="EEF6F6">
                <a:alpha val="0"/>
              </a:srgbClr>
            </a:solidFill>
            <a:prstDash val="solid"/>
          </a:ln>
        </p:spPr>
      </p:sp>
      <p:sp>
        <p:nvSpPr>
          <p:cNvPr id="14" name="Text 11"/>
          <p:cNvSpPr/>
          <p:nvPr/>
        </p:nvSpPr>
        <p:spPr>
          <a:xfrm>
            <a:off x="4553712" y="192938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REGULARIZE</a:t>
            </a:r>
            <a:endParaRPr lang="en-US" sz="1800" dirty="0"/>
          </a:p>
        </p:txBody>
      </p:sp>
      <p:sp>
        <p:nvSpPr>
          <p:cNvPr id="15" name="Text 12"/>
          <p:cNvSpPr/>
          <p:nvPr/>
        </p:nvSpPr>
        <p:spPr>
          <a:xfrm>
            <a:off x="4553712" y="2377440"/>
            <a:ext cx="3081528" cy="978408"/>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Truncate unresolved directions or penalize large coefficients.</a:t>
            </a:r>
            <a:endParaRPr lang="en-US" sz="1900" dirty="0"/>
          </a:p>
        </p:txBody>
      </p:sp>
      <p:sp>
        <p:nvSpPr>
          <p:cNvPr id="16" name="Shape 13"/>
          <p:cNvSpPr/>
          <p:nvPr/>
        </p:nvSpPr>
        <p:spPr>
          <a:xfrm>
            <a:off x="8138160" y="1783080"/>
            <a:ext cx="3502152" cy="1673352"/>
          </a:xfrm>
          <a:prstGeom prst="roundRect">
            <a:avLst>
              <a:gd name="adj" fmla="val 5464"/>
            </a:avLst>
          </a:prstGeom>
          <a:solidFill>
            <a:srgbClr val="EEF6F6"/>
          </a:solidFill>
          <a:ln w="12700">
            <a:solidFill>
              <a:srgbClr val="EEF6F6">
                <a:alpha val="0"/>
              </a:srgbClr>
            </a:solidFill>
            <a:prstDash val="solid"/>
          </a:ln>
        </p:spPr>
      </p:sp>
      <p:sp>
        <p:nvSpPr>
          <p:cNvPr id="17" name="Text 14"/>
          <p:cNvSpPr/>
          <p:nvPr/>
        </p:nvSpPr>
        <p:spPr>
          <a:xfrm>
            <a:off x="8348472" y="192938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VALIDATE</a:t>
            </a:r>
            <a:endParaRPr lang="en-US" sz="1800" dirty="0"/>
          </a:p>
        </p:txBody>
      </p:sp>
      <p:sp>
        <p:nvSpPr>
          <p:cNvPr id="18" name="Text 15"/>
          <p:cNvSpPr/>
          <p:nvPr/>
        </p:nvSpPr>
        <p:spPr>
          <a:xfrm>
            <a:off x="8348472" y="2377440"/>
            <a:ext cx="3081528" cy="978408"/>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Test step size and pool separately; evaluate the final state independently.</a:t>
            </a:r>
            <a:endParaRPr lang="en-US" sz="1900" dirty="0"/>
          </a:p>
        </p:txBody>
      </p:sp>
      <p:pic>
        <p:nvPicPr>
          <p:cNvPr id="19" name="Image 0" descr="/mnt/data/qite_package/slides_source/equations/ridge.png">    </p:cNvPr>
          <p:cNvPicPr>
            <a:picLocks noChangeAspect="1"/>
          </p:cNvPicPr>
          <p:nvPr/>
        </p:nvPicPr>
        <p:blipFill>
          <a:blip r:embed="rId1"/>
          <a:stretch>
            <a:fillRect/>
          </a:stretch>
        </p:blipFill>
        <p:spPr>
          <a:xfrm>
            <a:off x="1562082" y="3813048"/>
            <a:ext cx="3660685" cy="713232"/>
          </a:xfrm>
          <a:prstGeom prst="rect">
            <a:avLst/>
          </a:prstGeom>
        </p:spPr>
      </p:pic>
      <p:pic>
        <p:nvPicPr>
          <p:cNvPr id="20" name="Image 1" descr="/mnt/data/qite_package/slides_source/equations/residual.png">    </p:cNvPr>
          <p:cNvPicPr>
            <a:picLocks noChangeAspect="1"/>
          </p:cNvPicPr>
          <p:nvPr/>
        </p:nvPicPr>
        <p:blipFill>
          <a:blip r:embed="rId2"/>
          <a:stretch>
            <a:fillRect/>
          </a:stretch>
        </p:blipFill>
        <p:spPr>
          <a:xfrm>
            <a:off x="6272784" y="3863307"/>
            <a:ext cx="5084064" cy="612714"/>
          </a:xfrm>
          <a:prstGeom prst="rect">
            <a:avLst/>
          </a:prstGeom>
        </p:spPr>
      </p:pic>
      <p:sp>
        <p:nvSpPr>
          <p:cNvPr id="21" name="Shape 16"/>
          <p:cNvSpPr/>
          <p:nvPr/>
        </p:nvSpPr>
        <p:spPr>
          <a:xfrm>
            <a:off x="548640" y="5266944"/>
            <a:ext cx="11091672" cy="539496"/>
          </a:xfrm>
          <a:prstGeom prst="roundRect">
            <a:avLst>
              <a:gd name="adj" fmla="val 16949"/>
            </a:avLst>
          </a:prstGeom>
          <a:solidFill>
            <a:srgbClr val="FFF3DD"/>
          </a:solidFill>
          <a:ln w="12700">
            <a:solidFill>
              <a:srgbClr val="FFF3DD">
                <a:alpha val="0"/>
              </a:srgbClr>
            </a:solidFill>
            <a:prstDash val="solid"/>
          </a:ln>
        </p:spPr>
      </p:sp>
      <p:sp>
        <p:nvSpPr>
          <p:cNvPr id="22" name="Text 17"/>
          <p:cNvSpPr/>
          <p:nvPr/>
        </p:nvSpPr>
        <p:spPr>
          <a:xfrm>
            <a:off x="749808" y="5340096"/>
            <a:ext cx="10680192" cy="393192"/>
          </a:xfrm>
          <a:prstGeom prst="rect">
            <a:avLst/>
          </a:prstGeom>
          <a:noFill/>
          <a:ln/>
        </p:spPr>
        <p:txBody>
          <a:bodyPr wrap="square" lIns="0" tIns="0" rIns="0" bIns="0" rtlCol="0" anchor="ctr">
            <a:normAutofit/>
          </a:bodyPr>
          <a:lstStyle/>
          <a:p>
            <a:pPr indent="0" marL="0">
              <a:buNone/>
            </a:pPr>
            <a:r>
              <a:rPr lang="en-US" sz="1900" dirty="0">
                <a:solidFill>
                  <a:srgbClr val="203449"/>
                </a:solidFill>
                <a:latin typeface="Arial" pitchFamily="34" charset="0"/>
                <a:ea typeface="Arial" pitchFamily="34" charset="-122"/>
                <a:cs typeface="Arial" pitchFamily="34" charset="-120"/>
              </a:rPr>
              <a:t>A flat energy can mean success—or an inadequate pool, wrong sector, or excessive regularization.</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ALGORITHM</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hybrid loop in one slide</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25</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[1] Motta et al., Nature Physics 16, 205–210 (2020); arXiv:1901.07653.</a:t>
            </a:r>
            <a:endParaRPr lang="en-US" sz="920" dirty="0"/>
          </a:p>
        </p:txBody>
      </p:sp>
      <p:sp>
        <p:nvSpPr>
          <p:cNvPr id="11" name="Shape 8"/>
          <p:cNvSpPr/>
          <p:nvPr/>
        </p:nvSpPr>
        <p:spPr>
          <a:xfrm>
            <a:off x="548640" y="2075688"/>
            <a:ext cx="2578608" cy="2029968"/>
          </a:xfrm>
          <a:prstGeom prst="roundRect">
            <a:avLst>
              <a:gd name="adj" fmla="val 4505"/>
            </a:avLst>
          </a:prstGeom>
          <a:solidFill>
            <a:srgbClr val="EEF6F6"/>
          </a:solidFill>
          <a:ln w="12700">
            <a:solidFill>
              <a:srgbClr val="EEF6F6">
                <a:alpha val="0"/>
              </a:srgbClr>
            </a:solidFill>
            <a:prstDash val="solid"/>
          </a:ln>
        </p:spPr>
      </p:sp>
      <p:sp>
        <p:nvSpPr>
          <p:cNvPr id="12" name="Text 9"/>
          <p:cNvSpPr/>
          <p:nvPr/>
        </p:nvSpPr>
        <p:spPr>
          <a:xfrm>
            <a:off x="758952" y="2221992"/>
            <a:ext cx="2157984"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1  PREPARE</a:t>
            </a:r>
            <a:endParaRPr lang="en-US" sz="1800" dirty="0"/>
          </a:p>
        </p:txBody>
      </p:sp>
      <p:sp>
        <p:nvSpPr>
          <p:cNvPr id="13" name="Text 10"/>
          <p:cNvSpPr/>
          <p:nvPr/>
        </p:nvSpPr>
        <p:spPr>
          <a:xfrm>
            <a:off x="758952" y="2670048"/>
            <a:ext cx="2157984" cy="1335024"/>
          </a:xfrm>
          <a:prstGeom prst="rect">
            <a:avLst/>
          </a:prstGeom>
          <a:noFill/>
          <a:ln/>
        </p:spPr>
        <p:txBody>
          <a:bodyPr wrap="square" lIns="0" tIns="0" rIns="0" bIns="0" rtlCol="0" anchor="t">
            <a:normAutofit/>
          </a:bodyPr>
          <a:lstStyle/>
          <a:p>
            <a:pPr indent="0" marL="0">
              <a:buNone/>
            </a:pPr>
            <a:r>
              <a:rPr lang="en-US" sz="2000" dirty="0">
                <a:solidFill>
                  <a:srgbClr val="203449"/>
                </a:solidFill>
                <a:latin typeface="Arial" pitchFamily="34" charset="0"/>
                <a:ea typeface="Arial" pitchFamily="34" charset="-122"/>
                <a:cs typeface="Arial" pitchFamily="34" charset="-120"/>
              </a:rPr>
              <a:t>Repeated copies of the current state.</a:t>
            </a:r>
            <a:endParaRPr lang="en-US" sz="2000" dirty="0"/>
          </a:p>
        </p:txBody>
      </p:sp>
      <p:sp>
        <p:nvSpPr>
          <p:cNvPr id="14" name="Text 11"/>
          <p:cNvSpPr/>
          <p:nvPr/>
        </p:nvSpPr>
        <p:spPr>
          <a:xfrm>
            <a:off x="3145536" y="2752344"/>
            <a:ext cx="265176" cy="484632"/>
          </a:xfrm>
          <a:prstGeom prst="rect">
            <a:avLst/>
          </a:prstGeom>
          <a:noFill/>
          <a:ln/>
        </p:spPr>
        <p:txBody>
          <a:bodyPr wrap="square" lIns="0" tIns="0" rIns="0" bIns="0" rtlCol="0" anchor="ctr">
            <a:normAutofit/>
          </a:bodyPr>
          <a:lstStyle/>
          <a:p>
            <a:pPr algn="ctr" indent="0" marL="0">
              <a:buNone/>
            </a:pPr>
            <a:r>
              <a:rPr lang="en-US" sz="2700" b="1" dirty="0">
                <a:solidFill>
                  <a:srgbClr val="007F86"/>
                </a:solidFill>
                <a:latin typeface="Arial" pitchFamily="34" charset="0"/>
                <a:ea typeface="Arial" pitchFamily="34" charset="-122"/>
                <a:cs typeface="Arial" pitchFamily="34" charset="-120"/>
              </a:rPr>
              <a:t>→</a:t>
            </a:r>
            <a:endParaRPr lang="en-US" sz="2700" dirty="0"/>
          </a:p>
        </p:txBody>
      </p:sp>
      <p:sp>
        <p:nvSpPr>
          <p:cNvPr id="15" name="Shape 12"/>
          <p:cNvSpPr/>
          <p:nvPr/>
        </p:nvSpPr>
        <p:spPr>
          <a:xfrm>
            <a:off x="3383280" y="2075688"/>
            <a:ext cx="2578608" cy="2029968"/>
          </a:xfrm>
          <a:prstGeom prst="roundRect">
            <a:avLst>
              <a:gd name="adj" fmla="val 4505"/>
            </a:avLst>
          </a:prstGeom>
          <a:solidFill>
            <a:srgbClr val="EEF6F6"/>
          </a:solidFill>
          <a:ln w="12700">
            <a:solidFill>
              <a:srgbClr val="EEF6F6">
                <a:alpha val="0"/>
              </a:srgbClr>
            </a:solidFill>
            <a:prstDash val="solid"/>
          </a:ln>
        </p:spPr>
      </p:sp>
      <p:sp>
        <p:nvSpPr>
          <p:cNvPr id="16" name="Text 13"/>
          <p:cNvSpPr/>
          <p:nvPr/>
        </p:nvSpPr>
        <p:spPr>
          <a:xfrm>
            <a:off x="3593592" y="2221992"/>
            <a:ext cx="2157984"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2  MEASURE</a:t>
            </a:r>
            <a:endParaRPr lang="en-US" sz="1800" dirty="0"/>
          </a:p>
        </p:txBody>
      </p:sp>
      <p:sp>
        <p:nvSpPr>
          <p:cNvPr id="17" name="Text 14"/>
          <p:cNvSpPr/>
          <p:nvPr/>
        </p:nvSpPr>
        <p:spPr>
          <a:xfrm>
            <a:off x="3593592" y="2670048"/>
            <a:ext cx="2157984" cy="1335024"/>
          </a:xfrm>
          <a:prstGeom prst="rect">
            <a:avLst/>
          </a:prstGeom>
          <a:noFill/>
          <a:ln/>
        </p:spPr>
        <p:txBody>
          <a:bodyPr wrap="square" lIns="0" tIns="0" rIns="0" bIns="0" rtlCol="0" anchor="t">
            <a:normAutofit/>
          </a:bodyPr>
          <a:lstStyle/>
          <a:p>
            <a:pPr indent="0" marL="0">
              <a:buNone/>
            </a:pPr>
            <a:r>
              <a:rPr lang="en-US" sz="2000" dirty="0">
                <a:solidFill>
                  <a:srgbClr val="203449"/>
                </a:solidFill>
                <a:latin typeface="Arial" pitchFamily="34" charset="0"/>
                <a:ea typeface="Arial" pitchFamily="34" charset="-122"/>
                <a:cs typeface="Arial" pitchFamily="34" charset="-120"/>
              </a:rPr>
              <a:t>Pauli expectations for S and b.</a:t>
            </a:r>
            <a:endParaRPr lang="en-US" sz="2000" dirty="0"/>
          </a:p>
        </p:txBody>
      </p:sp>
      <p:sp>
        <p:nvSpPr>
          <p:cNvPr id="18" name="Text 15"/>
          <p:cNvSpPr/>
          <p:nvPr/>
        </p:nvSpPr>
        <p:spPr>
          <a:xfrm>
            <a:off x="5980176" y="2752344"/>
            <a:ext cx="265176" cy="484632"/>
          </a:xfrm>
          <a:prstGeom prst="rect">
            <a:avLst/>
          </a:prstGeom>
          <a:noFill/>
          <a:ln/>
        </p:spPr>
        <p:txBody>
          <a:bodyPr wrap="square" lIns="0" tIns="0" rIns="0" bIns="0" rtlCol="0" anchor="ctr">
            <a:normAutofit/>
          </a:bodyPr>
          <a:lstStyle/>
          <a:p>
            <a:pPr algn="ctr" indent="0" marL="0">
              <a:buNone/>
            </a:pPr>
            <a:r>
              <a:rPr lang="en-US" sz="2700" b="1" dirty="0">
                <a:solidFill>
                  <a:srgbClr val="007F86"/>
                </a:solidFill>
                <a:latin typeface="Arial" pitchFamily="34" charset="0"/>
                <a:ea typeface="Arial" pitchFamily="34" charset="-122"/>
                <a:cs typeface="Arial" pitchFamily="34" charset="-120"/>
              </a:rPr>
              <a:t>→</a:t>
            </a:r>
            <a:endParaRPr lang="en-US" sz="2700" dirty="0"/>
          </a:p>
        </p:txBody>
      </p:sp>
      <p:sp>
        <p:nvSpPr>
          <p:cNvPr id="19" name="Shape 16"/>
          <p:cNvSpPr/>
          <p:nvPr/>
        </p:nvSpPr>
        <p:spPr>
          <a:xfrm>
            <a:off x="6217920" y="2075688"/>
            <a:ext cx="2578608" cy="2029968"/>
          </a:xfrm>
          <a:prstGeom prst="roundRect">
            <a:avLst>
              <a:gd name="adj" fmla="val 4505"/>
            </a:avLst>
          </a:prstGeom>
          <a:solidFill>
            <a:srgbClr val="EEF6F6"/>
          </a:solidFill>
          <a:ln w="12700">
            <a:solidFill>
              <a:srgbClr val="EEF6F6">
                <a:alpha val="0"/>
              </a:srgbClr>
            </a:solidFill>
            <a:prstDash val="solid"/>
          </a:ln>
        </p:spPr>
      </p:sp>
      <p:sp>
        <p:nvSpPr>
          <p:cNvPr id="20" name="Text 17"/>
          <p:cNvSpPr/>
          <p:nvPr/>
        </p:nvSpPr>
        <p:spPr>
          <a:xfrm>
            <a:off x="6428232" y="2221992"/>
            <a:ext cx="2157984"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3  SOLVE</a:t>
            </a:r>
            <a:endParaRPr lang="en-US" sz="1800" dirty="0"/>
          </a:p>
        </p:txBody>
      </p:sp>
      <p:sp>
        <p:nvSpPr>
          <p:cNvPr id="21" name="Text 18"/>
          <p:cNvSpPr/>
          <p:nvPr/>
        </p:nvSpPr>
        <p:spPr>
          <a:xfrm>
            <a:off x="6428232" y="2670048"/>
            <a:ext cx="2157984" cy="1335024"/>
          </a:xfrm>
          <a:prstGeom prst="rect">
            <a:avLst/>
          </a:prstGeom>
          <a:noFill/>
          <a:ln/>
        </p:spPr>
        <p:txBody>
          <a:bodyPr wrap="square" lIns="0" tIns="0" rIns="0" bIns="0" rtlCol="0" anchor="t">
            <a:normAutofit/>
          </a:bodyPr>
          <a:lstStyle/>
          <a:p>
            <a:pPr indent="0" marL="0">
              <a:buNone/>
            </a:pPr>
            <a:r>
              <a:rPr lang="en-US" sz="2000" dirty="0">
                <a:solidFill>
                  <a:srgbClr val="203449"/>
                </a:solidFill>
                <a:latin typeface="Arial" pitchFamily="34" charset="0"/>
                <a:ea typeface="Arial" pitchFamily="34" charset="-122"/>
                <a:cs typeface="Arial" pitchFamily="34" charset="-120"/>
              </a:rPr>
              <a:t>Regularized linear system.</a:t>
            </a:r>
            <a:endParaRPr lang="en-US" sz="2000" dirty="0"/>
          </a:p>
        </p:txBody>
      </p:sp>
      <p:sp>
        <p:nvSpPr>
          <p:cNvPr id="22" name="Text 19"/>
          <p:cNvSpPr/>
          <p:nvPr/>
        </p:nvSpPr>
        <p:spPr>
          <a:xfrm>
            <a:off x="8814816" y="2752344"/>
            <a:ext cx="265176" cy="484632"/>
          </a:xfrm>
          <a:prstGeom prst="rect">
            <a:avLst/>
          </a:prstGeom>
          <a:noFill/>
          <a:ln/>
        </p:spPr>
        <p:txBody>
          <a:bodyPr wrap="square" lIns="0" tIns="0" rIns="0" bIns="0" rtlCol="0" anchor="ctr">
            <a:normAutofit/>
          </a:bodyPr>
          <a:lstStyle/>
          <a:p>
            <a:pPr algn="ctr" indent="0" marL="0">
              <a:buNone/>
            </a:pPr>
            <a:r>
              <a:rPr lang="en-US" sz="2700" b="1" dirty="0">
                <a:solidFill>
                  <a:srgbClr val="007F86"/>
                </a:solidFill>
                <a:latin typeface="Arial" pitchFamily="34" charset="0"/>
                <a:ea typeface="Arial" pitchFamily="34" charset="-122"/>
                <a:cs typeface="Arial" pitchFamily="34" charset="-120"/>
              </a:rPr>
              <a:t>→</a:t>
            </a:r>
            <a:endParaRPr lang="en-US" sz="2700" dirty="0"/>
          </a:p>
        </p:txBody>
      </p:sp>
      <p:sp>
        <p:nvSpPr>
          <p:cNvPr id="23" name="Shape 20"/>
          <p:cNvSpPr/>
          <p:nvPr/>
        </p:nvSpPr>
        <p:spPr>
          <a:xfrm>
            <a:off x="9052560" y="2075688"/>
            <a:ext cx="2578608" cy="2029968"/>
          </a:xfrm>
          <a:prstGeom prst="roundRect">
            <a:avLst>
              <a:gd name="adj" fmla="val 4505"/>
            </a:avLst>
          </a:prstGeom>
          <a:solidFill>
            <a:srgbClr val="EEF6F6"/>
          </a:solidFill>
          <a:ln w="12700">
            <a:solidFill>
              <a:srgbClr val="EEF6F6">
                <a:alpha val="0"/>
              </a:srgbClr>
            </a:solidFill>
            <a:prstDash val="solid"/>
          </a:ln>
        </p:spPr>
      </p:sp>
      <p:sp>
        <p:nvSpPr>
          <p:cNvPr id="24" name="Text 21"/>
          <p:cNvSpPr/>
          <p:nvPr/>
        </p:nvSpPr>
        <p:spPr>
          <a:xfrm>
            <a:off x="9262872" y="2221992"/>
            <a:ext cx="2157984"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4  UPDATE</a:t>
            </a:r>
            <a:endParaRPr lang="en-US" sz="1800" dirty="0"/>
          </a:p>
        </p:txBody>
      </p:sp>
      <p:sp>
        <p:nvSpPr>
          <p:cNvPr id="25" name="Text 22"/>
          <p:cNvSpPr/>
          <p:nvPr/>
        </p:nvSpPr>
        <p:spPr>
          <a:xfrm>
            <a:off x="9262872" y="2670048"/>
            <a:ext cx="2157984" cy="1335024"/>
          </a:xfrm>
          <a:prstGeom prst="rect">
            <a:avLst/>
          </a:prstGeom>
          <a:noFill/>
          <a:ln/>
        </p:spPr>
        <p:txBody>
          <a:bodyPr wrap="square" lIns="0" tIns="0" rIns="0" bIns="0" rtlCol="0" anchor="t">
            <a:normAutofit/>
          </a:bodyPr>
          <a:lstStyle/>
          <a:p>
            <a:pPr indent="0" marL="0">
              <a:buNone/>
            </a:pPr>
            <a:r>
              <a:rPr lang="en-US" sz="2000" dirty="0">
                <a:solidFill>
                  <a:srgbClr val="203449"/>
                </a:solidFill>
                <a:latin typeface="Arial" pitchFamily="34" charset="0"/>
                <a:ea typeface="Arial" pitchFamily="34" charset="-122"/>
                <a:cs typeface="Arial" pitchFamily="34" charset="-120"/>
              </a:rPr>
              <a:t>Compile and append exp(−iΔτA).</a:t>
            </a:r>
            <a:endParaRPr lang="en-US" sz="2000" dirty="0"/>
          </a:p>
        </p:txBody>
      </p:sp>
      <p:sp>
        <p:nvSpPr>
          <p:cNvPr id="26" name="Shape 23"/>
          <p:cNvSpPr/>
          <p:nvPr/>
        </p:nvSpPr>
        <p:spPr>
          <a:xfrm>
            <a:off x="548640" y="4956048"/>
            <a:ext cx="11091672" cy="539496"/>
          </a:xfrm>
          <a:prstGeom prst="roundRect">
            <a:avLst>
              <a:gd name="adj" fmla="val 16949"/>
            </a:avLst>
          </a:prstGeom>
          <a:solidFill>
            <a:srgbClr val="EEF6F6"/>
          </a:solidFill>
          <a:ln w="12700">
            <a:solidFill>
              <a:srgbClr val="EEF6F6">
                <a:alpha val="0"/>
              </a:srgbClr>
            </a:solidFill>
            <a:prstDash val="solid"/>
          </a:ln>
        </p:spPr>
      </p:sp>
      <p:sp>
        <p:nvSpPr>
          <p:cNvPr id="27" name="Text 24"/>
          <p:cNvSpPr/>
          <p:nvPr/>
        </p:nvSpPr>
        <p:spPr>
          <a:xfrm>
            <a:off x="749808" y="5029200"/>
            <a:ext cx="10680192" cy="393192"/>
          </a:xfrm>
          <a:prstGeom prst="rect">
            <a:avLst/>
          </a:prstGeom>
          <a:noFill/>
          <a:ln/>
        </p:spPr>
        <p:txBody>
          <a:bodyPr wrap="square" lIns="0" tIns="0" rIns="0" bIns="0" rtlCol="0" anchor="ctr">
            <a:normAutofit/>
          </a:bodyPr>
          <a:lstStyle/>
          <a:p>
            <a:pPr indent="0" marL="0">
              <a:buNone/>
            </a:pPr>
            <a:r>
              <a:rPr lang="en-US" sz="2100" dirty="0">
                <a:solidFill>
                  <a:srgbClr val="203449"/>
                </a:solidFill>
                <a:latin typeface="Arial" pitchFamily="34" charset="0"/>
                <a:ea typeface="Arial" pitchFamily="34" charset="-122"/>
                <a:cs typeface="Arial" pitchFamily="34" charset="-120"/>
              </a:rPr>
              <a:t>After each sweep: measure total energy, log costs, and test the stopping rule.</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MOLECULAR WORKFLOW</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Chemistry conventions must match before algorithms do</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26</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[6] Google Quantum AI: OpenFermion electronic-structure tutorial (accessed 8 Oct 2026).</a:t>
            </a:r>
            <a:endParaRPr lang="en-US" sz="920" dirty="0"/>
          </a:p>
        </p:txBody>
      </p:sp>
      <p:sp>
        <p:nvSpPr>
          <p:cNvPr id="11" name="Shape 8"/>
          <p:cNvSpPr/>
          <p:nvPr/>
        </p:nvSpPr>
        <p:spPr>
          <a:xfrm>
            <a:off x="868680" y="1737360"/>
            <a:ext cx="10442448" cy="566928"/>
          </a:xfrm>
          <a:prstGeom prst="roundRect">
            <a:avLst>
              <a:gd name="adj" fmla="val 16129"/>
            </a:avLst>
          </a:prstGeom>
          <a:solidFill>
            <a:srgbClr val="EEF6F6"/>
          </a:solidFill>
          <a:ln w="12700">
            <a:solidFill>
              <a:srgbClr val="EEF6F6">
                <a:alpha val="0"/>
              </a:srgbClr>
            </a:solidFill>
            <a:prstDash val="solid"/>
          </a:ln>
        </p:spPr>
      </p:sp>
      <p:sp>
        <p:nvSpPr>
          <p:cNvPr id="12" name="Text 9"/>
          <p:cNvSpPr/>
          <p:nvPr/>
        </p:nvSpPr>
        <p:spPr>
          <a:xfrm>
            <a:off x="1078992" y="1828800"/>
            <a:ext cx="10021824" cy="365760"/>
          </a:xfrm>
          <a:prstGeom prst="rect">
            <a:avLst/>
          </a:prstGeom>
          <a:noFill/>
          <a:ln/>
        </p:spPr>
        <p:txBody>
          <a:bodyPr wrap="square" lIns="0" tIns="0" rIns="0" bIns="0" rtlCol="0" anchor="ctr">
            <a:normAutofit/>
          </a:bodyPr>
          <a:lstStyle/>
          <a:p>
            <a:pPr algn="ctr" indent="0" marL="0">
              <a:buNone/>
            </a:pPr>
            <a:r>
              <a:rPr lang="en-US" sz="2200" b="1" dirty="0">
                <a:solidFill>
                  <a:srgbClr val="142C46"/>
                </a:solidFill>
                <a:latin typeface="Arial" pitchFamily="34" charset="0"/>
                <a:ea typeface="Arial" pitchFamily="34" charset="-122"/>
                <a:cs typeface="Arial" pitchFamily="34" charset="-120"/>
              </a:rPr>
              <a:t>Geometry + basis + sector</a:t>
            </a:r>
            <a:endParaRPr lang="en-US" sz="2200" dirty="0"/>
          </a:p>
        </p:txBody>
      </p:sp>
      <p:sp>
        <p:nvSpPr>
          <p:cNvPr id="13" name="Shape 10"/>
          <p:cNvSpPr/>
          <p:nvPr/>
        </p:nvSpPr>
        <p:spPr>
          <a:xfrm>
            <a:off x="868680" y="2496312"/>
            <a:ext cx="10442448" cy="566928"/>
          </a:xfrm>
          <a:prstGeom prst="roundRect">
            <a:avLst>
              <a:gd name="adj" fmla="val 16129"/>
            </a:avLst>
          </a:prstGeom>
          <a:solidFill>
            <a:srgbClr val="EEF6F6"/>
          </a:solidFill>
          <a:ln w="12700">
            <a:solidFill>
              <a:srgbClr val="EEF6F6">
                <a:alpha val="0"/>
              </a:srgbClr>
            </a:solidFill>
            <a:prstDash val="solid"/>
          </a:ln>
        </p:spPr>
      </p:sp>
      <p:sp>
        <p:nvSpPr>
          <p:cNvPr id="14" name="Text 11"/>
          <p:cNvSpPr/>
          <p:nvPr/>
        </p:nvSpPr>
        <p:spPr>
          <a:xfrm>
            <a:off x="1078992" y="2587752"/>
            <a:ext cx="10021824" cy="365760"/>
          </a:xfrm>
          <a:prstGeom prst="rect">
            <a:avLst/>
          </a:prstGeom>
          <a:noFill/>
          <a:ln/>
        </p:spPr>
        <p:txBody>
          <a:bodyPr wrap="square" lIns="0" tIns="0" rIns="0" bIns="0" rtlCol="0" anchor="ctr">
            <a:normAutofit/>
          </a:bodyPr>
          <a:lstStyle/>
          <a:p>
            <a:pPr algn="ctr" indent="0" marL="0">
              <a:buNone/>
            </a:pPr>
            <a:r>
              <a:rPr lang="en-US" sz="2200" b="1" dirty="0">
                <a:solidFill>
                  <a:srgbClr val="142C46"/>
                </a:solidFill>
                <a:latin typeface="Arial" pitchFamily="34" charset="0"/>
                <a:ea typeface="Arial" pitchFamily="34" charset="-122"/>
                <a:cs typeface="Arial" pitchFamily="34" charset="-120"/>
              </a:rPr>
              <a:t>Integrals + HF state</a:t>
            </a:r>
            <a:endParaRPr lang="en-US" sz="2200" dirty="0"/>
          </a:p>
        </p:txBody>
      </p:sp>
      <p:sp>
        <p:nvSpPr>
          <p:cNvPr id="15" name="Shape 12"/>
          <p:cNvSpPr/>
          <p:nvPr/>
        </p:nvSpPr>
        <p:spPr>
          <a:xfrm>
            <a:off x="868680" y="3255264"/>
            <a:ext cx="10442448" cy="566928"/>
          </a:xfrm>
          <a:prstGeom prst="roundRect">
            <a:avLst>
              <a:gd name="adj" fmla="val 16129"/>
            </a:avLst>
          </a:prstGeom>
          <a:solidFill>
            <a:srgbClr val="EEF6F6"/>
          </a:solidFill>
          <a:ln w="12700">
            <a:solidFill>
              <a:srgbClr val="EEF6F6">
                <a:alpha val="0"/>
              </a:srgbClr>
            </a:solidFill>
            <a:prstDash val="solid"/>
          </a:ln>
        </p:spPr>
      </p:sp>
      <p:sp>
        <p:nvSpPr>
          <p:cNvPr id="16" name="Text 13"/>
          <p:cNvSpPr/>
          <p:nvPr/>
        </p:nvSpPr>
        <p:spPr>
          <a:xfrm>
            <a:off x="1078992" y="3346704"/>
            <a:ext cx="10021824" cy="365760"/>
          </a:xfrm>
          <a:prstGeom prst="rect">
            <a:avLst/>
          </a:prstGeom>
          <a:noFill/>
          <a:ln/>
        </p:spPr>
        <p:txBody>
          <a:bodyPr wrap="square" lIns="0" tIns="0" rIns="0" bIns="0" rtlCol="0" anchor="ctr">
            <a:normAutofit/>
          </a:bodyPr>
          <a:lstStyle/>
          <a:p>
            <a:pPr algn="ctr" indent="0" marL="0">
              <a:buNone/>
            </a:pPr>
            <a:r>
              <a:rPr lang="en-US" sz="2200" b="1" dirty="0">
                <a:solidFill>
                  <a:srgbClr val="142C46"/>
                </a:solidFill>
                <a:latin typeface="Arial" pitchFamily="34" charset="0"/>
                <a:ea typeface="Arial" pitchFamily="34" charset="-122"/>
                <a:cs typeface="Arial" pitchFamily="34" charset="-120"/>
              </a:rPr>
              <a:t>Mapping + optional tapering</a:t>
            </a:r>
            <a:endParaRPr lang="en-US" sz="2200" dirty="0"/>
          </a:p>
        </p:txBody>
      </p:sp>
      <p:sp>
        <p:nvSpPr>
          <p:cNvPr id="17" name="Shape 14"/>
          <p:cNvSpPr/>
          <p:nvPr/>
        </p:nvSpPr>
        <p:spPr>
          <a:xfrm>
            <a:off x="868680" y="4014216"/>
            <a:ext cx="10442448" cy="566928"/>
          </a:xfrm>
          <a:prstGeom prst="roundRect">
            <a:avLst>
              <a:gd name="adj" fmla="val 16129"/>
            </a:avLst>
          </a:prstGeom>
          <a:solidFill>
            <a:srgbClr val="EEF6F6"/>
          </a:solidFill>
          <a:ln w="12700">
            <a:solidFill>
              <a:srgbClr val="EEF6F6">
                <a:alpha val="0"/>
              </a:srgbClr>
            </a:solidFill>
            <a:prstDash val="solid"/>
          </a:ln>
        </p:spPr>
      </p:sp>
      <p:sp>
        <p:nvSpPr>
          <p:cNvPr id="18" name="Text 15"/>
          <p:cNvSpPr/>
          <p:nvPr/>
        </p:nvSpPr>
        <p:spPr>
          <a:xfrm>
            <a:off x="1078992" y="4105656"/>
            <a:ext cx="10021824" cy="365760"/>
          </a:xfrm>
          <a:prstGeom prst="rect">
            <a:avLst/>
          </a:prstGeom>
          <a:noFill/>
          <a:ln/>
        </p:spPr>
        <p:txBody>
          <a:bodyPr wrap="square" lIns="0" tIns="0" rIns="0" bIns="0" rtlCol="0" anchor="ctr">
            <a:normAutofit/>
          </a:bodyPr>
          <a:lstStyle/>
          <a:p>
            <a:pPr algn="ctr" indent="0" marL="0">
              <a:buNone/>
            </a:pPr>
            <a:r>
              <a:rPr lang="en-US" sz="2200" b="1" dirty="0">
                <a:solidFill>
                  <a:srgbClr val="142C46"/>
                </a:solidFill>
                <a:latin typeface="Arial" pitchFamily="34" charset="0"/>
                <a:ea typeface="Arial" pitchFamily="34" charset="-122"/>
                <a:cs typeface="Arial" pitchFamily="34" charset="-120"/>
              </a:rPr>
              <a:t>Identical qubit Hamiltonian</a:t>
            </a:r>
            <a:endParaRPr lang="en-US" sz="2200" dirty="0"/>
          </a:p>
        </p:txBody>
      </p:sp>
      <p:pic>
        <p:nvPicPr>
          <p:cNvPr id="19" name="Image 0" descr="/mnt/data/qite_package/slides_source/equations/mol.png">    </p:cNvPr>
          <p:cNvPicPr>
            <a:picLocks noChangeAspect="1"/>
          </p:cNvPicPr>
          <p:nvPr/>
        </p:nvPicPr>
        <p:blipFill>
          <a:blip r:embed="rId1"/>
          <a:stretch>
            <a:fillRect/>
          </a:stretch>
        </p:blipFill>
        <p:spPr>
          <a:xfrm>
            <a:off x="2981851" y="4965192"/>
            <a:ext cx="6197817" cy="80467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WORKED EXAMPLE 3 / SETUP</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Hydrogen: an explicit test case, not a performance claim</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27</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[6] OpenFermion  |  Original ideal-statevector calculation; not hardware data</a:t>
            </a:r>
            <a:endParaRPr lang="en-US" sz="920" dirty="0"/>
          </a:p>
        </p:txBody>
      </p:sp>
      <p:sp>
        <p:nvSpPr>
          <p:cNvPr id="11" name="Shape 8"/>
          <p:cNvSpPr/>
          <p:nvPr/>
        </p:nvSpPr>
        <p:spPr>
          <a:xfrm>
            <a:off x="548640" y="1783080"/>
            <a:ext cx="3502152" cy="2249424"/>
          </a:xfrm>
          <a:prstGeom prst="roundRect">
            <a:avLst>
              <a:gd name="adj" fmla="val 4065"/>
            </a:avLst>
          </a:prstGeom>
          <a:solidFill>
            <a:srgbClr val="EEF6F6"/>
          </a:solidFill>
          <a:ln w="12700">
            <a:solidFill>
              <a:srgbClr val="EEF6F6">
                <a:alpha val="0"/>
              </a:srgbClr>
            </a:solidFill>
            <a:prstDash val="solid"/>
          </a:ln>
        </p:spPr>
      </p:sp>
      <p:sp>
        <p:nvSpPr>
          <p:cNvPr id="12" name="Text 9"/>
          <p:cNvSpPr/>
          <p:nvPr/>
        </p:nvSpPr>
        <p:spPr>
          <a:xfrm>
            <a:off x="758952" y="192938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MODEL</a:t>
            </a:r>
            <a:endParaRPr lang="en-US" sz="1800" dirty="0"/>
          </a:p>
        </p:txBody>
      </p:sp>
      <p:sp>
        <p:nvSpPr>
          <p:cNvPr id="13" name="Text 10"/>
          <p:cNvSpPr/>
          <p:nvPr/>
        </p:nvSpPr>
        <p:spPr>
          <a:xfrm>
            <a:off x="758952" y="2377440"/>
            <a:ext cx="3081528" cy="1554480"/>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H₂, 0.8 Å</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STO-3G</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4 qubits, Jordan–Wigner</a:t>
            </a:r>
            <a:endParaRPr lang="en-US" sz="2100" dirty="0"/>
          </a:p>
        </p:txBody>
      </p:sp>
      <p:sp>
        <p:nvSpPr>
          <p:cNvPr id="14" name="Shape 11"/>
          <p:cNvSpPr/>
          <p:nvPr/>
        </p:nvSpPr>
        <p:spPr>
          <a:xfrm>
            <a:off x="4343400" y="1783080"/>
            <a:ext cx="3502152" cy="2249424"/>
          </a:xfrm>
          <a:prstGeom prst="roundRect">
            <a:avLst>
              <a:gd name="adj" fmla="val 4065"/>
            </a:avLst>
          </a:prstGeom>
          <a:solidFill>
            <a:srgbClr val="EEF6F6"/>
          </a:solidFill>
          <a:ln w="12700">
            <a:solidFill>
              <a:srgbClr val="EEF6F6">
                <a:alpha val="0"/>
              </a:srgbClr>
            </a:solidFill>
            <a:prstDash val="solid"/>
          </a:ln>
        </p:spPr>
      </p:sp>
      <p:sp>
        <p:nvSpPr>
          <p:cNvPr id="15" name="Text 12"/>
          <p:cNvSpPr/>
          <p:nvPr/>
        </p:nvSpPr>
        <p:spPr>
          <a:xfrm>
            <a:off x="4553712" y="192938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INITIAL STATE</a:t>
            </a:r>
            <a:endParaRPr lang="en-US" sz="1800" dirty="0"/>
          </a:p>
        </p:txBody>
      </p:sp>
      <p:sp>
        <p:nvSpPr>
          <p:cNvPr id="16" name="Text 13"/>
          <p:cNvSpPr/>
          <p:nvPr/>
        </p:nvSpPr>
        <p:spPr>
          <a:xfrm>
            <a:off x="4553712" y="2377440"/>
            <a:ext cx="3081528" cy="1554480"/>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Hartree–Fock: |1100⟩</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Leftmost label = q₀</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Nuclear offset included</a:t>
            </a:r>
            <a:endParaRPr lang="en-US" sz="2100" dirty="0"/>
          </a:p>
        </p:txBody>
      </p:sp>
      <p:sp>
        <p:nvSpPr>
          <p:cNvPr id="17" name="Shape 14"/>
          <p:cNvSpPr/>
          <p:nvPr/>
        </p:nvSpPr>
        <p:spPr>
          <a:xfrm>
            <a:off x="8138160" y="1783080"/>
            <a:ext cx="3502152" cy="2249424"/>
          </a:xfrm>
          <a:prstGeom prst="roundRect">
            <a:avLst>
              <a:gd name="adj" fmla="val 4065"/>
            </a:avLst>
          </a:prstGeom>
          <a:solidFill>
            <a:srgbClr val="EEF6F6"/>
          </a:solidFill>
          <a:ln w="12700">
            <a:solidFill>
              <a:srgbClr val="EEF6F6">
                <a:alpha val="0"/>
              </a:srgbClr>
            </a:solidFill>
            <a:prstDash val="solid"/>
          </a:ln>
        </p:spPr>
      </p:sp>
      <p:sp>
        <p:nvSpPr>
          <p:cNvPr id="18" name="Text 15"/>
          <p:cNvSpPr/>
          <p:nvPr/>
        </p:nvSpPr>
        <p:spPr>
          <a:xfrm>
            <a:off x="8348472" y="192938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SIMULATION</a:t>
            </a:r>
            <a:endParaRPr lang="en-US" sz="1800" dirty="0"/>
          </a:p>
        </p:txBody>
      </p:sp>
      <p:sp>
        <p:nvSpPr>
          <p:cNvPr id="19" name="Text 16"/>
          <p:cNvSpPr/>
          <p:nvPr/>
        </p:nvSpPr>
        <p:spPr>
          <a:xfrm>
            <a:off x="8348472" y="2377440"/>
            <a:ext cx="3081528" cy="1554480"/>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Full-Hamiltonian QITE</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120 odd-Y strings</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Δτ = 0.05 Hartree⁻¹</a:t>
            </a:r>
            <a:endParaRPr lang="en-US" sz="2100" dirty="0"/>
          </a:p>
        </p:txBody>
      </p:sp>
      <p:pic>
        <p:nvPicPr>
          <p:cNvPr id="20" name="Image 0" descr="/mnt/data/qite_package/slides_source/equations/h2ref.png">    </p:cNvPr>
          <p:cNvPicPr>
            <a:picLocks noChangeAspect="1"/>
          </p:cNvPicPr>
          <p:nvPr/>
        </p:nvPicPr>
        <p:blipFill>
          <a:blip r:embed="rId1"/>
          <a:stretch>
            <a:fillRect/>
          </a:stretch>
        </p:blipFill>
        <p:spPr>
          <a:xfrm>
            <a:off x="758952" y="4797730"/>
            <a:ext cx="10671048" cy="46293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WORKED EXAMPLE 3 / RESULT</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Hydrogen converges in the ideal teaching simulation</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28</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Original calculation for this guide. Exact statevectors; no device noise, shots, or gate-synthesis error.</a:t>
            </a:r>
            <a:endParaRPr lang="en-US" sz="920" dirty="0"/>
          </a:p>
        </p:txBody>
      </p:sp>
      <p:pic>
        <p:nvPicPr>
          <p:cNvPr id="11" name="Image 0" descr="/mnt/data/qite_package/figures/h2_convergence.png">    </p:cNvPr>
          <p:cNvPicPr>
            <a:picLocks noChangeAspect="1"/>
          </p:cNvPicPr>
          <p:nvPr/>
        </p:nvPicPr>
        <p:blipFill>
          <a:blip r:embed="rId1"/>
          <a:stretch>
            <a:fillRect/>
          </a:stretch>
        </p:blipFill>
        <p:spPr>
          <a:xfrm>
            <a:off x="916820" y="1581912"/>
            <a:ext cx="7858999" cy="4343400"/>
          </a:xfrm>
          <a:prstGeom prst="rect">
            <a:avLst/>
          </a:prstGeom>
        </p:spPr>
      </p:pic>
      <p:sp>
        <p:nvSpPr>
          <p:cNvPr id="12" name="Text 8"/>
          <p:cNvSpPr/>
          <p:nvPr/>
        </p:nvSpPr>
        <p:spPr>
          <a:xfrm>
            <a:off x="9262872" y="1847088"/>
            <a:ext cx="2148840" cy="2542032"/>
          </a:xfrm>
          <a:prstGeom prst="rect">
            <a:avLst/>
          </a:prstGeom>
          <a:noFill/>
          <a:ln/>
        </p:spPr>
        <p:txBody>
          <a:bodyPr wrap="square" lIns="0" tIns="0" rIns="0" bIns="0" rtlCol="0" anchor="ctr">
            <a:normAutofit/>
          </a:bodyPr>
          <a:lstStyle/>
          <a:p>
            <a:pPr indent="0" marL="0">
              <a:buNone/>
            </a:pPr>
            <a:r>
              <a:rPr lang="en-US" sz="2000" b="1" dirty="0">
                <a:solidFill>
                  <a:srgbClr val="142C46"/>
                </a:solidFill>
                <a:latin typeface="Arial" pitchFamily="34" charset="0"/>
                <a:ea typeface="Arial" pitchFamily="34" charset="-122"/>
                <a:cs typeface="Arial" pitchFamily="34" charset="-120"/>
              </a:rPr>
              <a:t>80 updates</a:t>
            </a:r>
            <a:endParaRPr lang="en-US" sz="2000" dirty="0"/>
          </a:p>
          <a:p>
            <a:pPr indent="0" marL="0">
              <a:buNone/>
            </a:pPr>
            <a:endParaRPr lang="en-US" sz="2000" dirty="0"/>
          </a:p>
          <a:p>
            <a:pPr indent="0" marL="0">
              <a:buNone/>
            </a:pPr>
            <a:r>
              <a:rPr lang="en-US" sz="2000" b="1" dirty="0">
                <a:solidFill>
                  <a:srgbClr val="142C46"/>
                </a:solidFill>
                <a:latin typeface="Arial" pitchFamily="34" charset="0"/>
                <a:ea typeface="Arial" pitchFamily="34" charset="-122"/>
                <a:cs typeface="Arial" pitchFamily="34" charset="-120"/>
              </a:rPr>
              <a:t>τ = 4 Hartree⁻¹</a:t>
            </a:r>
            <a:endParaRPr lang="en-US" sz="2000" dirty="0"/>
          </a:p>
          <a:p>
            <a:pPr indent="0" marL="0">
              <a:buNone/>
            </a:pPr>
            <a:endParaRPr lang="en-US" sz="2000" dirty="0"/>
          </a:p>
          <a:p>
            <a:pPr indent="0" marL="0">
              <a:buNone/>
            </a:pPr>
            <a:r>
              <a:rPr lang="en-US" sz="2000" b="1" dirty="0">
                <a:solidFill>
                  <a:srgbClr val="142C46"/>
                </a:solidFill>
                <a:latin typeface="Arial" pitchFamily="34" charset="0"/>
                <a:ea typeface="Arial" pitchFamily="34" charset="-122"/>
                <a:cs typeface="Arial" pitchFamily="34" charset="-120"/>
              </a:rPr>
              <a:t>Final error:</a:t>
            </a:r>
            <a:endParaRPr lang="en-US" sz="2000" dirty="0"/>
          </a:p>
          <a:p>
            <a:pPr indent="0" marL="0">
              <a:buNone/>
            </a:pPr>
            <a:r>
              <a:rPr lang="en-US" sz="2000" b="1" dirty="0">
                <a:solidFill>
                  <a:srgbClr val="142C46"/>
                </a:solidFill>
                <a:latin typeface="Arial" pitchFamily="34" charset="0"/>
                <a:ea typeface="Arial" pitchFamily="34" charset="-122"/>
                <a:cs typeface="Arial" pitchFamily="34" charset="-120"/>
              </a:rPr>
              <a:t>1.02 × 10⁻⁷ Hartree</a:t>
            </a:r>
            <a:endParaRPr lang="en-US" sz="2000" dirty="0"/>
          </a:p>
        </p:txBody>
      </p:sp>
      <p:sp>
        <p:nvSpPr>
          <p:cNvPr id="13" name="Shape 9"/>
          <p:cNvSpPr/>
          <p:nvPr/>
        </p:nvSpPr>
        <p:spPr>
          <a:xfrm>
            <a:off x="9217152" y="4645152"/>
            <a:ext cx="2276856" cy="1042416"/>
          </a:xfrm>
          <a:prstGeom prst="roundRect">
            <a:avLst>
              <a:gd name="adj" fmla="val 8772"/>
            </a:avLst>
          </a:prstGeom>
          <a:solidFill>
            <a:srgbClr val="FFF3DD"/>
          </a:solidFill>
          <a:ln w="12700">
            <a:solidFill>
              <a:srgbClr val="FFF3DD">
                <a:alpha val="0"/>
              </a:srgbClr>
            </a:solidFill>
            <a:prstDash val="solid"/>
          </a:ln>
        </p:spPr>
      </p:sp>
      <p:sp>
        <p:nvSpPr>
          <p:cNvPr id="14" name="Text 10"/>
          <p:cNvSpPr/>
          <p:nvPr/>
        </p:nvSpPr>
        <p:spPr>
          <a:xfrm>
            <a:off x="9400032" y="4828032"/>
            <a:ext cx="1911096" cy="658368"/>
          </a:xfrm>
          <a:prstGeom prst="rect">
            <a:avLst/>
          </a:prstGeom>
          <a:noFill/>
          <a:ln/>
        </p:spPr>
        <p:txBody>
          <a:bodyPr wrap="square" lIns="0" tIns="0" rIns="0" bIns="0" rtlCol="0" anchor="ctr">
            <a:normAutofit/>
          </a:bodyPr>
          <a:lstStyle/>
          <a:p>
            <a:pPr indent="0" marL="0">
              <a:buNone/>
            </a:pPr>
            <a:r>
              <a:rPr lang="en-US" sz="1900" b="1" dirty="0">
                <a:solidFill>
                  <a:srgbClr val="203449"/>
                </a:solidFill>
                <a:latin typeface="Arial" pitchFamily="34" charset="0"/>
                <a:ea typeface="Arial" pitchFamily="34" charset="-122"/>
                <a:cs typeface="Arial" pitchFamily="34" charset="-120"/>
              </a:rPr>
              <a:t>No hardware</a:t>
            </a:r>
            <a:endParaRPr lang="en-US" sz="1900" dirty="0"/>
          </a:p>
          <a:p>
            <a:pPr indent="0" marL="0">
              <a:buNone/>
            </a:pPr>
            <a:r>
              <a:rPr lang="en-US" sz="1900" b="1" dirty="0">
                <a:solidFill>
                  <a:srgbClr val="203449"/>
                </a:solidFill>
                <a:latin typeface="Arial" pitchFamily="34" charset="0"/>
                <a:ea typeface="Arial" pitchFamily="34" charset="-122"/>
                <a:cs typeface="Arial" pitchFamily="34" charset="-120"/>
              </a:rPr>
              <a:t>conclusion follows.</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HANDS-ON IMPLEMENTATION</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code mirrors the mathematics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29</a:t>
            </a:r>
            <a:endParaRPr lang="en-US" sz="1100" dirty="0"/>
          </a:p>
        </p:txBody>
      </p:sp>
      <p:sp>
        <p:nvSpPr>
          <p:cNvPr id="10" name="Shape 7"/>
          <p:cNvSpPr/>
          <p:nvPr/>
        </p:nvSpPr>
        <p:spPr>
          <a:xfrm>
            <a:off x="548640" y="1755648"/>
            <a:ext cx="11091672" cy="3145536"/>
          </a:xfrm>
          <a:prstGeom prst="roundRect">
            <a:avLst>
              <a:gd name="adj" fmla="val 2907"/>
            </a:avLst>
          </a:prstGeom>
          <a:solidFill>
            <a:srgbClr val="F3F6F8"/>
          </a:solidFill>
          <a:ln w="12700">
            <a:solidFill>
              <a:srgbClr val="F3F6F8">
                <a:alpha val="0"/>
              </a:srgbClr>
            </a:solidFill>
            <a:prstDash val="solid"/>
          </a:ln>
        </p:spPr>
      </p:sp>
      <p:sp>
        <p:nvSpPr>
          <p:cNvPr id="11" name="Text 8"/>
          <p:cNvSpPr/>
          <p:nvPr/>
        </p:nvSpPr>
        <p:spPr>
          <a:xfrm>
            <a:off x="804672" y="1956816"/>
            <a:ext cx="10579608" cy="2743200"/>
          </a:xfrm>
          <a:prstGeom prst="rect">
            <a:avLst/>
          </a:prstGeom>
          <a:noFill/>
          <a:ln/>
        </p:spPr>
        <p:txBody>
          <a:bodyPr wrap="square" lIns="0" tIns="0" rIns="0" bIns="0" rtlCol="0" anchor="t">
            <a:normAutofit/>
          </a:bodyPr>
          <a:lstStyle/>
          <a:p>
            <a:pPr indent="0" marL="0">
              <a:buNone/>
            </a:pPr>
            <a:r>
              <a:rPr lang="en-US" sz="2100" dirty="0">
                <a:solidFill>
                  <a:srgbClr val="142C46"/>
                </a:solidFill>
                <a:latin typeface="Consolas" pitchFamily="34" charset="0"/>
                <a:ea typeface="Consolas" pitchFamily="34" charset="-122"/>
                <a:cs typeface="Consolas" pitchFamily="34" charset="-120"/>
              </a:rPr>
              <a:t>B = (operators @ psi).T</a:t>
            </a:r>
            <a:endParaRPr lang="en-US" sz="2100" dirty="0"/>
          </a:p>
          <a:p>
            <a:pPr indent="0" marL="0">
              <a:buNone/>
            </a:pPr>
            <a:r>
              <a:rPr lang="en-US" sz="2100" dirty="0">
                <a:solidFill>
                  <a:srgbClr val="142C46"/>
                </a:solidFill>
                <a:latin typeface="Consolas" pitchFamily="34" charset="0"/>
                <a:ea typeface="Consolas" pitchFamily="34" charset="-122"/>
                <a:cs typeface="Consolas" pitchFamily="34" charset="-120"/>
              </a:rPr>
              <a:t>S = (B.conj().T @ B).real</a:t>
            </a:r>
            <a:endParaRPr lang="en-US" sz="2100" dirty="0"/>
          </a:p>
          <a:p>
            <a:pPr indent="0" marL="0">
              <a:buNone/>
            </a:pPr>
            <a:r>
              <a:rPr lang="en-US" sz="2100" dirty="0">
                <a:solidFill>
                  <a:srgbClr val="142C46"/>
                </a:solidFill>
                <a:latin typeface="Consolas" pitchFamily="34" charset="0"/>
                <a:ea typeface="Consolas" pitchFamily="34" charset="-122"/>
                <a:cs typeface="Consolas" pitchFamily="34" charset="-120"/>
              </a:rPr>
              <a:t>b = (B.conj().T @ (H @ psi)).imag</a:t>
            </a:r>
            <a:endParaRPr lang="en-US" sz="2100" dirty="0"/>
          </a:p>
          <a:p>
            <a:pPr indent="0" marL="0">
              <a:buNone/>
            </a:pPr>
            <a:endParaRPr lang="en-US" sz="2100" dirty="0"/>
          </a:p>
          <a:p>
            <a:pPr indent="0" marL="0">
              <a:buNone/>
            </a:pPr>
            <a:r>
              <a:rPr lang="en-US" sz="2100" dirty="0">
                <a:solidFill>
                  <a:srgbClr val="142C46"/>
                </a:solidFill>
                <a:latin typeface="Consolas" pitchFamily="34" charset="0"/>
                <a:ea typeface="Consolas" pitchFamily="34" charset="-122"/>
                <a:cs typeface="Consolas" pitchFamily="34" charset="-120"/>
              </a:rPr>
              <a:t>a = spectral_pseudoinverse_solve(S, b)</a:t>
            </a:r>
            <a:endParaRPr lang="en-US" sz="2100" dirty="0"/>
          </a:p>
          <a:p>
            <a:pPr indent="0" marL="0">
              <a:buNone/>
            </a:pPr>
            <a:r>
              <a:rPr lang="en-US" sz="2100" dirty="0">
                <a:solidFill>
                  <a:srgbClr val="142C46"/>
                </a:solidFill>
                <a:latin typeface="Consolas" pitchFamily="34" charset="0"/>
                <a:ea typeface="Consolas" pitchFamily="34" charset="-122"/>
                <a:cs typeface="Consolas" pitchFamily="34" charset="-120"/>
              </a:rPr>
              <a:t>A = sum(a[m] * operators[m] for m in range(M))</a:t>
            </a:r>
            <a:endParaRPr lang="en-US" sz="2100" dirty="0"/>
          </a:p>
          <a:p>
            <a:pPr indent="0" marL="0">
              <a:buNone/>
            </a:pPr>
            <a:r>
              <a:rPr lang="en-US" sz="2100" dirty="0">
                <a:solidFill>
                  <a:srgbClr val="142C46"/>
                </a:solidFill>
                <a:latin typeface="Consolas" pitchFamily="34" charset="0"/>
                <a:ea typeface="Consolas" pitchFamily="34" charset="-122"/>
                <a:cs typeface="Consolas" pitchFamily="34" charset="-120"/>
              </a:rPr>
              <a:t>psi = expm(-1j * dt * A) @ psi</a:t>
            </a:r>
            <a:endParaRPr lang="en-US" sz="2100" dirty="0"/>
          </a:p>
        </p:txBody>
      </p:sp>
      <p:sp>
        <p:nvSpPr>
          <p:cNvPr id="12" name="Shape 9"/>
          <p:cNvSpPr/>
          <p:nvPr/>
        </p:nvSpPr>
        <p:spPr>
          <a:xfrm>
            <a:off x="548640" y="5303520"/>
            <a:ext cx="11091672" cy="539496"/>
          </a:xfrm>
          <a:prstGeom prst="roundRect">
            <a:avLst>
              <a:gd name="adj" fmla="val 16949"/>
            </a:avLst>
          </a:prstGeom>
          <a:solidFill>
            <a:srgbClr val="EEF6F6"/>
          </a:solidFill>
          <a:ln w="12700">
            <a:solidFill>
              <a:srgbClr val="EEF6F6">
                <a:alpha val="0"/>
              </a:srgbClr>
            </a:solidFill>
            <a:prstDash val="solid"/>
          </a:ln>
        </p:spPr>
      </p:sp>
      <p:sp>
        <p:nvSpPr>
          <p:cNvPr id="13" name="Text 10"/>
          <p:cNvSpPr/>
          <p:nvPr/>
        </p:nvSpPr>
        <p:spPr>
          <a:xfrm>
            <a:off x="749808" y="5376672"/>
            <a:ext cx="10680192" cy="393192"/>
          </a:xfrm>
          <a:prstGeom prst="rect">
            <a:avLst/>
          </a:prstGeom>
          <a:noFill/>
          <a:ln/>
        </p:spPr>
        <p:txBody>
          <a:bodyPr wrap="square" lIns="0" tIns="0" rIns="0" bIns="0" rtlCol="0" anchor="ctr">
            <a:normAutofit/>
          </a:bodyPr>
          <a:lstStyle/>
          <a:p>
            <a:pPr indent="0" marL="0">
              <a:buNone/>
            </a:pPr>
            <a:r>
              <a:rPr lang="en-US" sz="2000" dirty="0">
                <a:solidFill>
                  <a:srgbClr val="203449"/>
                </a:solidFill>
                <a:latin typeface="Arial" pitchFamily="34" charset="0"/>
                <a:ea typeface="Arial" pitchFamily="34" charset="-122"/>
                <a:cs typeface="Arial" pitchFamily="34" charset="-120"/>
              </a:rPr>
              <a:t>First pass the one-qubit sign test. Then reproduce the toy failure and the H₂ reference.</a:t>
            </a: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TERMINOLOGY MATTERS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“QITE” can refer to different algorithm families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30</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[2] McArdle et al.  |  [3] Yuan et al.  |  [7] Qiskit Algorithms</a:t>
            </a:r>
            <a:endParaRPr lang="en-US" sz="920" dirty="0"/>
          </a:p>
        </p:txBody>
      </p:sp>
      <p:sp>
        <p:nvSpPr>
          <p:cNvPr id="11" name="Shape 8"/>
          <p:cNvSpPr/>
          <p:nvPr/>
        </p:nvSpPr>
        <p:spPr>
          <a:xfrm>
            <a:off x="548640" y="1801368"/>
            <a:ext cx="3502152" cy="2487168"/>
          </a:xfrm>
          <a:prstGeom prst="roundRect">
            <a:avLst>
              <a:gd name="adj" fmla="val 3676"/>
            </a:avLst>
          </a:prstGeom>
          <a:solidFill>
            <a:srgbClr val="EEF6F6"/>
          </a:solidFill>
          <a:ln w="12700">
            <a:solidFill>
              <a:srgbClr val="EEF6F6">
                <a:alpha val="0"/>
              </a:srgbClr>
            </a:solidFill>
            <a:prstDash val="solid"/>
          </a:ln>
        </p:spPr>
      </p:sp>
      <p:sp>
        <p:nvSpPr>
          <p:cNvPr id="12" name="Text 9"/>
          <p:cNvSpPr/>
          <p:nvPr/>
        </p:nvSpPr>
        <p:spPr>
          <a:xfrm>
            <a:off x="758952" y="1947672"/>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LOCAL-UNITARY QITE</a:t>
            </a:r>
            <a:endParaRPr lang="en-US" sz="1800" dirty="0"/>
          </a:p>
        </p:txBody>
      </p:sp>
      <p:sp>
        <p:nvSpPr>
          <p:cNvPr id="13" name="Text 10"/>
          <p:cNvSpPr/>
          <p:nvPr/>
        </p:nvSpPr>
        <p:spPr>
          <a:xfrm>
            <a:off x="758952" y="2395728"/>
            <a:ext cx="3081528" cy="1792224"/>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Fit A for the current state. Append a unitary. Domain and pool matter.</a:t>
            </a:r>
            <a:endParaRPr lang="en-US" sz="2100" dirty="0"/>
          </a:p>
        </p:txBody>
      </p:sp>
      <p:sp>
        <p:nvSpPr>
          <p:cNvPr id="14" name="Shape 11"/>
          <p:cNvSpPr/>
          <p:nvPr/>
        </p:nvSpPr>
        <p:spPr>
          <a:xfrm>
            <a:off x="4343400" y="1801368"/>
            <a:ext cx="3502152" cy="2487168"/>
          </a:xfrm>
          <a:prstGeom prst="roundRect">
            <a:avLst>
              <a:gd name="adj" fmla="val 3676"/>
            </a:avLst>
          </a:prstGeom>
          <a:solidFill>
            <a:srgbClr val="EEF6F6"/>
          </a:solidFill>
          <a:ln w="12700">
            <a:solidFill>
              <a:srgbClr val="EEF6F6">
                <a:alpha val="0"/>
              </a:srgbClr>
            </a:solidFill>
            <a:prstDash val="solid"/>
          </a:ln>
        </p:spPr>
      </p:sp>
      <p:sp>
        <p:nvSpPr>
          <p:cNvPr id="15" name="Text 12"/>
          <p:cNvSpPr/>
          <p:nvPr/>
        </p:nvSpPr>
        <p:spPr>
          <a:xfrm>
            <a:off x="4553712" y="1947672"/>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VARIATIONAL QITE</a:t>
            </a:r>
            <a:endParaRPr lang="en-US" sz="1800" dirty="0"/>
          </a:p>
        </p:txBody>
      </p:sp>
      <p:sp>
        <p:nvSpPr>
          <p:cNvPr id="16" name="Text 13"/>
          <p:cNvSpPr/>
          <p:nvPr/>
        </p:nvSpPr>
        <p:spPr>
          <a:xfrm>
            <a:off x="4553712" y="2395728"/>
            <a:ext cx="3081528" cy="1792224"/>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Fit parameter velocities inside a chosen ansatz. Expressivity matters.</a:t>
            </a:r>
            <a:endParaRPr lang="en-US" sz="2100" dirty="0"/>
          </a:p>
        </p:txBody>
      </p:sp>
      <p:sp>
        <p:nvSpPr>
          <p:cNvPr id="17" name="Shape 14"/>
          <p:cNvSpPr/>
          <p:nvPr/>
        </p:nvSpPr>
        <p:spPr>
          <a:xfrm>
            <a:off x="8138160" y="1801368"/>
            <a:ext cx="3502152" cy="2487168"/>
          </a:xfrm>
          <a:prstGeom prst="roundRect">
            <a:avLst>
              <a:gd name="adj" fmla="val 3676"/>
            </a:avLst>
          </a:prstGeom>
          <a:solidFill>
            <a:srgbClr val="EEF6F6"/>
          </a:solidFill>
          <a:ln w="12700">
            <a:solidFill>
              <a:srgbClr val="EEF6F6">
                <a:alpha val="0"/>
              </a:srgbClr>
            </a:solidFill>
            <a:prstDash val="solid"/>
          </a:ln>
        </p:spPr>
      </p:sp>
      <p:sp>
        <p:nvSpPr>
          <p:cNvPr id="18" name="Text 15"/>
          <p:cNvSpPr/>
          <p:nvPr/>
        </p:nvSpPr>
        <p:spPr>
          <a:xfrm>
            <a:off x="8348472" y="1947672"/>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VQE</a:t>
            </a:r>
            <a:endParaRPr lang="en-US" sz="1800" dirty="0"/>
          </a:p>
        </p:txBody>
      </p:sp>
      <p:sp>
        <p:nvSpPr>
          <p:cNvPr id="19" name="Text 16"/>
          <p:cNvSpPr/>
          <p:nvPr/>
        </p:nvSpPr>
        <p:spPr>
          <a:xfrm>
            <a:off x="8348472" y="2395728"/>
            <a:ext cx="3081528" cy="1792224"/>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Optimize circuit parameters for low energy. No trajectory is required.</a:t>
            </a:r>
            <a:endParaRPr lang="en-US" sz="2100" dirty="0"/>
          </a:p>
        </p:txBody>
      </p:sp>
      <p:pic>
        <p:nvPicPr>
          <p:cNvPr id="20" name="Image 0" descr="/mnt/data/qite_package/slides_source/equations/varqite.png">    </p:cNvPr>
          <p:cNvPicPr>
            <a:picLocks noChangeAspect="1"/>
          </p:cNvPicPr>
          <p:nvPr/>
        </p:nvPicPr>
        <p:blipFill>
          <a:blip r:embed="rId1"/>
          <a:stretch>
            <a:fillRect/>
          </a:stretch>
        </p:blipFill>
        <p:spPr>
          <a:xfrm>
            <a:off x="5134523" y="4773168"/>
            <a:ext cx="1919907" cy="83210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THE COMPARISON METHOD</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Quantum Krylov builds a subspace, then diagonalizes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31</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[4] Cortes &amp; Gray, Quantum Krylov subspace algorithms; arXiv:2109.06868.</a:t>
            </a:r>
            <a:endParaRPr lang="en-US" sz="920" dirty="0"/>
          </a:p>
        </p:txBody>
      </p:sp>
      <p:pic>
        <p:nvPicPr>
          <p:cNvPr id="11" name="Image 0" descr="/mnt/data/qite_package/slides_source/equations/krylovstates.png">    </p:cNvPr>
          <p:cNvPicPr>
            <a:picLocks noChangeAspect="1"/>
          </p:cNvPicPr>
          <p:nvPr/>
        </p:nvPicPr>
        <p:blipFill>
          <a:blip r:embed="rId1"/>
          <a:stretch>
            <a:fillRect/>
          </a:stretch>
        </p:blipFill>
        <p:spPr>
          <a:xfrm>
            <a:off x="4207471" y="1810512"/>
            <a:ext cx="3774010" cy="768096"/>
          </a:xfrm>
          <a:prstGeom prst="rect">
            <a:avLst/>
          </a:prstGeom>
        </p:spPr>
      </p:pic>
      <p:pic>
        <p:nvPicPr>
          <p:cNvPr id="12" name="Image 1" descr="/mnt/data/qite_package/slides_source/equations/kryloventries.png">    </p:cNvPr>
          <p:cNvPicPr>
            <a:picLocks noChangeAspect="1"/>
          </p:cNvPicPr>
          <p:nvPr/>
        </p:nvPicPr>
        <p:blipFill>
          <a:blip r:embed="rId2"/>
          <a:stretch>
            <a:fillRect/>
          </a:stretch>
        </p:blipFill>
        <p:spPr>
          <a:xfrm>
            <a:off x="1788858" y="3035808"/>
            <a:ext cx="8611236" cy="740664"/>
          </a:xfrm>
          <a:prstGeom prst="rect">
            <a:avLst/>
          </a:prstGeom>
        </p:spPr>
      </p:pic>
      <p:sp>
        <p:nvSpPr>
          <p:cNvPr id="13" name="Shape 8"/>
          <p:cNvSpPr/>
          <p:nvPr/>
        </p:nvSpPr>
        <p:spPr>
          <a:xfrm>
            <a:off x="1463040" y="4407408"/>
            <a:ext cx="9262872" cy="1033272"/>
          </a:xfrm>
          <a:prstGeom prst="roundRect">
            <a:avLst>
              <a:gd name="adj" fmla="val 8850"/>
            </a:avLst>
          </a:prstGeom>
          <a:solidFill>
            <a:srgbClr val="EEF6F6"/>
          </a:solidFill>
          <a:ln w="12700">
            <a:solidFill>
              <a:srgbClr val="EEF6F6">
                <a:alpha val="0"/>
              </a:srgbClr>
            </a:solidFill>
            <a:prstDash val="solid"/>
          </a:ln>
        </p:spPr>
      </p:sp>
      <p:pic>
        <p:nvPicPr>
          <p:cNvPr id="14" name="Image 2" descr="/mnt/data/qite_package/slides_source/equations/krylov.png">    </p:cNvPr>
          <p:cNvPicPr>
            <a:picLocks noChangeAspect="1"/>
          </p:cNvPicPr>
          <p:nvPr/>
        </p:nvPicPr>
        <p:blipFill>
          <a:blip r:embed="rId3"/>
          <a:stretch>
            <a:fillRect/>
          </a:stretch>
        </p:blipFill>
        <p:spPr>
          <a:xfrm>
            <a:off x="4431942" y="4572000"/>
            <a:ext cx="3325067" cy="71323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PROJECTED EIGENSOLVES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Krylov has its own conditioning problem</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32</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[5] Epperly, Lin &amp; Nakatsukasa, SIAM J. Matrix Anal. Appl. 43, 1263–1290 (2022).</a:t>
            </a:r>
            <a:endParaRPr lang="en-US" sz="920" dirty="0"/>
          </a:p>
        </p:txBody>
      </p:sp>
      <p:sp>
        <p:nvSpPr>
          <p:cNvPr id="11" name="Shape 8"/>
          <p:cNvSpPr/>
          <p:nvPr/>
        </p:nvSpPr>
        <p:spPr>
          <a:xfrm>
            <a:off x="548640" y="1783080"/>
            <a:ext cx="3502152" cy="1773936"/>
          </a:xfrm>
          <a:prstGeom prst="roundRect">
            <a:avLst>
              <a:gd name="adj" fmla="val 5155"/>
            </a:avLst>
          </a:prstGeom>
          <a:solidFill>
            <a:srgbClr val="EEF6F6"/>
          </a:solidFill>
          <a:ln w="12700">
            <a:solidFill>
              <a:srgbClr val="EEF6F6">
                <a:alpha val="0"/>
              </a:srgbClr>
            </a:solidFill>
            <a:prstDash val="solid"/>
          </a:ln>
        </p:spPr>
      </p:sp>
      <p:sp>
        <p:nvSpPr>
          <p:cNvPr id="12" name="Text 9"/>
          <p:cNvSpPr/>
          <p:nvPr/>
        </p:nvSpPr>
        <p:spPr>
          <a:xfrm>
            <a:off x="758952" y="192938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ESTIMATE</a:t>
            </a:r>
            <a:endParaRPr lang="en-US" sz="1800" dirty="0"/>
          </a:p>
        </p:txBody>
      </p:sp>
      <p:sp>
        <p:nvSpPr>
          <p:cNvPr id="13" name="Text 10"/>
          <p:cNvSpPr/>
          <p:nvPr/>
        </p:nvSpPr>
        <p:spPr>
          <a:xfrm>
            <a:off x="758952" y="2377440"/>
            <a:ext cx="3081528" cy="1078992"/>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Hermitian projected Hamiltonian and overlap matrices.</a:t>
            </a:r>
            <a:endParaRPr lang="en-US" sz="2100" dirty="0"/>
          </a:p>
        </p:txBody>
      </p:sp>
      <p:sp>
        <p:nvSpPr>
          <p:cNvPr id="14" name="Shape 11"/>
          <p:cNvSpPr/>
          <p:nvPr/>
        </p:nvSpPr>
        <p:spPr>
          <a:xfrm>
            <a:off x="4343400" y="1783080"/>
            <a:ext cx="3502152" cy="1773936"/>
          </a:xfrm>
          <a:prstGeom prst="roundRect">
            <a:avLst>
              <a:gd name="adj" fmla="val 5155"/>
            </a:avLst>
          </a:prstGeom>
          <a:solidFill>
            <a:srgbClr val="EEF6F6"/>
          </a:solidFill>
          <a:ln w="12700">
            <a:solidFill>
              <a:srgbClr val="EEF6F6">
                <a:alpha val="0"/>
              </a:srgbClr>
            </a:solidFill>
            <a:prstDash val="solid"/>
          </a:ln>
        </p:spPr>
      </p:sp>
      <p:sp>
        <p:nvSpPr>
          <p:cNvPr id="15" name="Text 12"/>
          <p:cNvSpPr/>
          <p:nvPr/>
        </p:nvSpPr>
        <p:spPr>
          <a:xfrm>
            <a:off x="4553712" y="192938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TRUNCATE</a:t>
            </a:r>
            <a:endParaRPr lang="en-US" sz="1800" dirty="0"/>
          </a:p>
        </p:txBody>
      </p:sp>
      <p:sp>
        <p:nvSpPr>
          <p:cNvPr id="16" name="Text 13"/>
          <p:cNvSpPr/>
          <p:nvPr/>
        </p:nvSpPr>
        <p:spPr>
          <a:xfrm>
            <a:off x="4553712" y="2377440"/>
            <a:ext cx="3081528" cy="1078992"/>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Remove unresolved overlap eigenmodes; record effective rank.</a:t>
            </a:r>
            <a:endParaRPr lang="en-US" sz="2100" dirty="0"/>
          </a:p>
        </p:txBody>
      </p:sp>
      <p:sp>
        <p:nvSpPr>
          <p:cNvPr id="17" name="Shape 14"/>
          <p:cNvSpPr/>
          <p:nvPr/>
        </p:nvSpPr>
        <p:spPr>
          <a:xfrm>
            <a:off x="8138160" y="1783080"/>
            <a:ext cx="3502152" cy="1773936"/>
          </a:xfrm>
          <a:prstGeom prst="roundRect">
            <a:avLst>
              <a:gd name="adj" fmla="val 5155"/>
            </a:avLst>
          </a:prstGeom>
          <a:solidFill>
            <a:srgbClr val="EEF6F6"/>
          </a:solidFill>
          <a:ln w="12700">
            <a:solidFill>
              <a:srgbClr val="EEF6F6">
                <a:alpha val="0"/>
              </a:srgbClr>
            </a:solidFill>
            <a:prstDash val="solid"/>
          </a:ln>
        </p:spPr>
      </p:sp>
      <p:sp>
        <p:nvSpPr>
          <p:cNvPr id="18" name="Text 15"/>
          <p:cNvSpPr/>
          <p:nvPr/>
        </p:nvSpPr>
        <p:spPr>
          <a:xfrm>
            <a:off x="8348472" y="1929384"/>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WHITEN</a:t>
            </a:r>
            <a:endParaRPr lang="en-US" sz="1800" dirty="0"/>
          </a:p>
        </p:txBody>
      </p:sp>
      <p:sp>
        <p:nvSpPr>
          <p:cNvPr id="19" name="Text 16"/>
          <p:cNvSpPr/>
          <p:nvPr/>
        </p:nvSpPr>
        <p:spPr>
          <a:xfrm>
            <a:off x="8348472" y="2377440"/>
            <a:ext cx="3081528" cy="1078992"/>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Transform the retained problem into an ordinary eigensolve.</a:t>
            </a:r>
            <a:endParaRPr lang="en-US" sz="2100" dirty="0"/>
          </a:p>
        </p:txBody>
      </p:sp>
      <p:pic>
        <p:nvPicPr>
          <p:cNvPr id="20" name="Image 0" descr="/mnt/data/qite_package/slides_source/equations/white.png">    </p:cNvPr>
          <p:cNvPicPr>
            <a:picLocks noChangeAspect="1"/>
          </p:cNvPicPr>
          <p:nvPr/>
        </p:nvPicPr>
        <p:blipFill>
          <a:blip r:embed="rId1"/>
          <a:stretch>
            <a:fillRect/>
          </a:stretch>
        </p:blipFill>
        <p:spPr>
          <a:xfrm>
            <a:off x="2228088" y="4005072"/>
            <a:ext cx="7741920" cy="768096"/>
          </a:xfrm>
          <a:prstGeom prst="rect">
            <a:avLst/>
          </a:prstGeom>
        </p:spPr>
      </p:pic>
      <p:sp>
        <p:nvSpPr>
          <p:cNvPr id="21" name="Shape 17"/>
          <p:cNvSpPr/>
          <p:nvPr/>
        </p:nvSpPr>
        <p:spPr>
          <a:xfrm>
            <a:off x="548640" y="5303520"/>
            <a:ext cx="11091672" cy="539496"/>
          </a:xfrm>
          <a:prstGeom prst="roundRect">
            <a:avLst>
              <a:gd name="adj" fmla="val 16949"/>
            </a:avLst>
          </a:prstGeom>
          <a:solidFill>
            <a:srgbClr val="FFF3DD"/>
          </a:solidFill>
          <a:ln w="12700">
            <a:solidFill>
              <a:srgbClr val="FFF3DD">
                <a:alpha val="0"/>
              </a:srgbClr>
            </a:solidFill>
            <a:prstDash val="solid"/>
          </a:ln>
        </p:spPr>
      </p:sp>
      <p:sp>
        <p:nvSpPr>
          <p:cNvPr id="22" name="Text 18"/>
          <p:cNvSpPr/>
          <p:nvPr/>
        </p:nvSpPr>
        <p:spPr>
          <a:xfrm>
            <a:off x="749808" y="5376672"/>
            <a:ext cx="10680192" cy="393192"/>
          </a:xfrm>
          <a:prstGeom prst="rect">
            <a:avLst/>
          </a:prstGeom>
          <a:noFill/>
          <a:ln/>
        </p:spPr>
        <p:txBody>
          <a:bodyPr wrap="square" lIns="0" tIns="0" rIns="0" bIns="0" rtlCol="0" anchor="ctr">
            <a:normAutofit/>
          </a:bodyPr>
          <a:lstStyle/>
          <a:p>
            <a:pPr indent="0" marL="0">
              <a:buNone/>
            </a:pPr>
            <a:r>
              <a:rPr lang="en-US" sz="2100" dirty="0">
                <a:solidFill>
                  <a:srgbClr val="203449"/>
                </a:solidFill>
                <a:latin typeface="Arial" pitchFamily="34" charset="0"/>
                <a:ea typeface="Arial" pitchFamily="34" charset="-122"/>
                <a:cs typeface="Arial" pitchFamily="34" charset="-120"/>
              </a:rPr>
              <a:t>An estimated Ritz energy is not automatically a hardware-prepared Ritz state.</a:t>
            </a:r>
            <a:endParaRPr lang="en-US" sz="2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QITE VERSUS KRYLOV</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Distinct approaches—but not opposites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33</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[1] Motta et al.  |  [4] Cortes &amp; Gray</a:t>
            </a:r>
            <a:endParaRPr lang="en-US" sz="920" dirty="0"/>
          </a:p>
        </p:txBody>
      </p:sp>
      <p:sp>
        <p:nvSpPr>
          <p:cNvPr id="11" name="Shape 8"/>
          <p:cNvSpPr/>
          <p:nvPr/>
        </p:nvSpPr>
        <p:spPr>
          <a:xfrm>
            <a:off x="548640" y="1819656"/>
            <a:ext cx="5394960" cy="2852928"/>
          </a:xfrm>
          <a:prstGeom prst="roundRect">
            <a:avLst>
              <a:gd name="adj" fmla="val 3205"/>
            </a:avLst>
          </a:prstGeom>
          <a:solidFill>
            <a:srgbClr val="EEF6F6"/>
          </a:solidFill>
          <a:ln w="12700">
            <a:solidFill>
              <a:srgbClr val="EEF6F6">
                <a:alpha val="0"/>
              </a:srgbClr>
            </a:solidFill>
            <a:prstDash val="solid"/>
          </a:ln>
        </p:spPr>
      </p:sp>
      <p:sp>
        <p:nvSpPr>
          <p:cNvPr id="12" name="Text 9"/>
          <p:cNvSpPr/>
          <p:nvPr/>
        </p:nvSpPr>
        <p:spPr>
          <a:xfrm>
            <a:off x="758952" y="1965960"/>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QITE</a:t>
            </a:r>
            <a:endParaRPr lang="en-US" sz="1800" dirty="0"/>
          </a:p>
        </p:txBody>
      </p:sp>
      <p:sp>
        <p:nvSpPr>
          <p:cNvPr id="13" name="Text 10"/>
          <p:cNvSpPr/>
          <p:nvPr/>
        </p:nvSpPr>
        <p:spPr>
          <a:xfrm>
            <a:off x="758952" y="2414016"/>
            <a:ext cx="4974336" cy="2157984"/>
          </a:xfrm>
          <a:prstGeom prst="rect">
            <a:avLst/>
          </a:prstGeom>
          <a:noFill/>
          <a:ln/>
        </p:spPr>
        <p:txBody>
          <a:bodyPr wrap="square" lIns="0" tIns="0" rIns="0" bIns="0" rtlCol="0" anchor="t">
            <a:normAutofit/>
          </a:bodyPr>
          <a:lstStyle/>
          <a:p>
            <a:pPr indent="0" marL="0">
              <a:buNone/>
            </a:pPr>
            <a:r>
              <a:rPr lang="en-US" sz="2300" dirty="0">
                <a:solidFill>
                  <a:srgbClr val="203449"/>
                </a:solidFill>
                <a:latin typeface="Arial" pitchFamily="34" charset="0"/>
                <a:ea typeface="Arial" pitchFamily="34" charset="-122"/>
                <a:cs typeface="Arial" pitchFamily="34" charset="-120"/>
              </a:rPr>
              <a:t>State trajectory</a:t>
            </a:r>
            <a:endParaRPr lang="en-US" sz="2300" dirty="0"/>
          </a:p>
          <a:p>
            <a:pPr indent="0" marL="0">
              <a:buNone/>
            </a:pPr>
            <a:r>
              <a:rPr lang="en-US" sz="2300" dirty="0">
                <a:solidFill>
                  <a:srgbClr val="203449"/>
                </a:solidFill>
                <a:latin typeface="Arial" pitchFamily="34" charset="0"/>
                <a:ea typeface="Arial" pitchFamily="34" charset="-122"/>
                <a:cs typeface="Arial" pitchFamily="34" charset="-120"/>
              </a:rPr>
              <a:t>Repeated tangent solves</a:t>
            </a:r>
            <a:endParaRPr lang="en-US" sz="2300" dirty="0"/>
          </a:p>
          <a:p>
            <a:pPr indent="0" marL="0">
              <a:buNone/>
            </a:pPr>
            <a:r>
              <a:rPr lang="en-US" sz="2300" dirty="0">
                <a:solidFill>
                  <a:srgbClr val="203449"/>
                </a:solidFill>
                <a:latin typeface="Arial" pitchFamily="34" charset="0"/>
                <a:ea typeface="Arial" pitchFamily="34" charset="-122"/>
                <a:cs typeface="Arial" pitchFamily="34" charset="-120"/>
              </a:rPr>
              <a:t>Pool / domain bias</a:t>
            </a:r>
            <a:endParaRPr lang="en-US" sz="2300" dirty="0"/>
          </a:p>
          <a:p>
            <a:pPr indent="0" marL="0">
              <a:buNone/>
            </a:pPr>
            <a:r>
              <a:rPr lang="en-US" sz="2300" dirty="0">
                <a:solidFill>
                  <a:srgbClr val="203449"/>
                </a:solidFill>
                <a:latin typeface="Arial" pitchFamily="34" charset="0"/>
                <a:ea typeface="Arial" pitchFamily="34" charset="-122"/>
                <a:cs typeface="Arial" pitchFamily="34" charset="-120"/>
              </a:rPr>
              <a:t>Accumulated update circuit</a:t>
            </a:r>
            <a:endParaRPr lang="en-US" sz="2300" dirty="0"/>
          </a:p>
        </p:txBody>
      </p:sp>
      <p:sp>
        <p:nvSpPr>
          <p:cNvPr id="14" name="Shape 11"/>
          <p:cNvSpPr/>
          <p:nvPr/>
        </p:nvSpPr>
        <p:spPr>
          <a:xfrm>
            <a:off x="6236208" y="1819656"/>
            <a:ext cx="5394960" cy="2852928"/>
          </a:xfrm>
          <a:prstGeom prst="roundRect">
            <a:avLst>
              <a:gd name="adj" fmla="val 3205"/>
            </a:avLst>
          </a:prstGeom>
          <a:solidFill>
            <a:srgbClr val="EEF6F6"/>
          </a:solidFill>
          <a:ln w="12700">
            <a:solidFill>
              <a:srgbClr val="EEF6F6">
                <a:alpha val="0"/>
              </a:srgbClr>
            </a:solidFill>
            <a:prstDash val="solid"/>
          </a:ln>
        </p:spPr>
      </p:sp>
      <p:sp>
        <p:nvSpPr>
          <p:cNvPr id="15" name="Text 12"/>
          <p:cNvSpPr/>
          <p:nvPr/>
        </p:nvSpPr>
        <p:spPr>
          <a:xfrm>
            <a:off x="6446520" y="1965960"/>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REAL-TIME KRYLOV</a:t>
            </a:r>
            <a:endParaRPr lang="en-US" sz="1800" dirty="0"/>
          </a:p>
        </p:txBody>
      </p:sp>
      <p:sp>
        <p:nvSpPr>
          <p:cNvPr id="16" name="Text 13"/>
          <p:cNvSpPr/>
          <p:nvPr/>
        </p:nvSpPr>
        <p:spPr>
          <a:xfrm>
            <a:off x="6446520" y="2414016"/>
            <a:ext cx="4974336" cy="2157984"/>
          </a:xfrm>
          <a:prstGeom prst="rect">
            <a:avLst/>
          </a:prstGeom>
          <a:noFill/>
          <a:ln/>
        </p:spPr>
        <p:txBody>
          <a:bodyPr wrap="square" lIns="0" tIns="0" rIns="0" bIns="0" rtlCol="0" anchor="t">
            <a:normAutofit/>
          </a:bodyPr>
          <a:lstStyle/>
          <a:p>
            <a:pPr indent="0" marL="0">
              <a:buNone/>
            </a:pPr>
            <a:r>
              <a:rPr lang="en-US" sz="2300" dirty="0">
                <a:solidFill>
                  <a:srgbClr val="203449"/>
                </a:solidFill>
                <a:latin typeface="Arial" pitchFamily="34" charset="0"/>
                <a:ea typeface="Arial" pitchFamily="34" charset="-122"/>
                <a:cs typeface="Arial" pitchFamily="34" charset="-120"/>
              </a:rPr>
              <a:t>Prepared basis states</a:t>
            </a:r>
            <a:endParaRPr lang="en-US" sz="2300" dirty="0"/>
          </a:p>
          <a:p>
            <a:pPr indent="0" marL="0">
              <a:buNone/>
            </a:pPr>
            <a:r>
              <a:rPr lang="en-US" sz="2300" dirty="0">
                <a:solidFill>
                  <a:srgbClr val="203449"/>
                </a:solidFill>
                <a:latin typeface="Arial" pitchFamily="34" charset="0"/>
                <a:ea typeface="Arial" pitchFamily="34" charset="-122"/>
                <a:cs typeface="Arial" pitchFamily="34" charset="-120"/>
              </a:rPr>
              <a:t>Projected eigensolve</a:t>
            </a:r>
            <a:endParaRPr lang="en-US" sz="2300" dirty="0"/>
          </a:p>
          <a:p>
            <a:pPr indent="0" marL="0">
              <a:buNone/>
            </a:pPr>
            <a:r>
              <a:rPr lang="en-US" sz="2300" dirty="0">
                <a:solidFill>
                  <a:srgbClr val="203449"/>
                </a:solidFill>
                <a:latin typeface="Arial" pitchFamily="34" charset="0"/>
                <a:ea typeface="Arial" pitchFamily="34" charset="-122"/>
                <a:cs typeface="Arial" pitchFamily="34" charset="-120"/>
              </a:rPr>
              <a:t>Overlap conditioning</a:t>
            </a:r>
            <a:endParaRPr lang="en-US" sz="2300" dirty="0"/>
          </a:p>
          <a:p>
            <a:pPr indent="0" marL="0">
              <a:buNone/>
            </a:pPr>
            <a:r>
              <a:rPr lang="en-US" sz="2300" dirty="0">
                <a:solidFill>
                  <a:srgbClr val="203449"/>
                </a:solidFill>
                <a:latin typeface="Arial" pitchFamily="34" charset="0"/>
                <a:ea typeface="Arial" pitchFamily="34" charset="-122"/>
                <a:cs typeface="Arial" pitchFamily="34" charset="-120"/>
              </a:rPr>
              <a:t>Matrix reconstruction cost</a:t>
            </a:r>
            <a:endParaRPr lang="en-US" sz="2300" dirty="0"/>
          </a:p>
        </p:txBody>
      </p:sp>
      <p:sp>
        <p:nvSpPr>
          <p:cNvPr id="17" name="Shape 14"/>
          <p:cNvSpPr/>
          <p:nvPr/>
        </p:nvSpPr>
        <p:spPr>
          <a:xfrm>
            <a:off x="548640" y="5193792"/>
            <a:ext cx="11091672" cy="539496"/>
          </a:xfrm>
          <a:prstGeom prst="roundRect">
            <a:avLst>
              <a:gd name="adj" fmla="val 16949"/>
            </a:avLst>
          </a:prstGeom>
          <a:solidFill>
            <a:srgbClr val="EEF6F6"/>
          </a:solidFill>
          <a:ln w="12700">
            <a:solidFill>
              <a:srgbClr val="EEF6F6">
                <a:alpha val="0"/>
              </a:srgbClr>
            </a:solidFill>
            <a:prstDash val="solid"/>
          </a:ln>
        </p:spPr>
      </p:sp>
      <p:sp>
        <p:nvSpPr>
          <p:cNvPr id="18" name="Text 15"/>
          <p:cNvSpPr/>
          <p:nvPr/>
        </p:nvSpPr>
        <p:spPr>
          <a:xfrm>
            <a:off x="749808" y="5266944"/>
            <a:ext cx="10680192" cy="393192"/>
          </a:xfrm>
          <a:prstGeom prst="rect">
            <a:avLst/>
          </a:prstGeom>
          <a:noFill/>
          <a:ln/>
        </p:spPr>
        <p:txBody>
          <a:bodyPr wrap="square" lIns="0" tIns="0" rIns="0" bIns="0" rtlCol="0" anchor="ctr">
            <a:normAutofit/>
          </a:bodyPr>
          <a:lstStyle/>
          <a:p>
            <a:pPr indent="0" marL="0">
              <a:buNone/>
            </a:pPr>
            <a:r>
              <a:rPr lang="en-US" sz="2100" dirty="0">
                <a:solidFill>
                  <a:srgbClr val="203449"/>
                </a:solidFill>
                <a:latin typeface="Arial" pitchFamily="34" charset="0"/>
                <a:ea typeface="Arial" pitchFamily="34" charset="-122"/>
                <a:cs typeface="Arial" pitchFamily="34" charset="-120"/>
              </a:rPr>
              <a:t>Connection: selected QITE states can seed a quantum Lanczos subspace.</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EXPERIMENT DESIGN</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A fair benchmark separates four sources of difficulty</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34</a:t>
            </a:r>
            <a:endParaRPr lang="en-US" sz="1100" dirty="0"/>
          </a:p>
        </p:txBody>
      </p:sp>
      <p:sp>
        <p:nvSpPr>
          <p:cNvPr id="10" name="Shape 7"/>
          <p:cNvSpPr/>
          <p:nvPr/>
        </p:nvSpPr>
        <p:spPr>
          <a:xfrm>
            <a:off x="548640" y="1819656"/>
            <a:ext cx="5394960" cy="1435608"/>
          </a:xfrm>
          <a:prstGeom prst="roundRect">
            <a:avLst>
              <a:gd name="adj" fmla="val 6369"/>
            </a:avLst>
          </a:prstGeom>
          <a:solidFill>
            <a:srgbClr val="EEF6F6"/>
          </a:solidFill>
          <a:ln w="12700">
            <a:solidFill>
              <a:srgbClr val="EEF6F6">
                <a:alpha val="0"/>
              </a:srgbClr>
            </a:solidFill>
            <a:prstDash val="solid"/>
          </a:ln>
        </p:spPr>
      </p:sp>
      <p:sp>
        <p:nvSpPr>
          <p:cNvPr id="11" name="Text 8"/>
          <p:cNvSpPr/>
          <p:nvPr/>
        </p:nvSpPr>
        <p:spPr>
          <a:xfrm>
            <a:off x="731520" y="1965960"/>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01</a:t>
            </a:r>
            <a:endParaRPr lang="en-US" sz="2200" dirty="0"/>
          </a:p>
        </p:txBody>
      </p:sp>
      <p:sp>
        <p:nvSpPr>
          <p:cNvPr id="12" name="Text 9"/>
          <p:cNvSpPr/>
          <p:nvPr/>
        </p:nvSpPr>
        <p:spPr>
          <a:xfrm>
            <a:off x="1307592" y="1956816"/>
            <a:ext cx="4480560"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Ideal</a:t>
            </a:r>
            <a:endParaRPr lang="en-US" sz="2200" dirty="0"/>
          </a:p>
        </p:txBody>
      </p:sp>
      <p:sp>
        <p:nvSpPr>
          <p:cNvPr id="13" name="Text 10"/>
          <p:cNvSpPr/>
          <p:nvPr/>
        </p:nvSpPr>
        <p:spPr>
          <a:xfrm>
            <a:off x="758952" y="2432304"/>
            <a:ext cx="4974336" cy="722376"/>
          </a:xfrm>
          <a:prstGeom prst="rect">
            <a:avLst/>
          </a:prstGeom>
          <a:noFill/>
          <a:ln/>
        </p:spPr>
        <p:txBody>
          <a:bodyPr wrap="square" lIns="0" tIns="0" rIns="0" bIns="0" rtlCol="0" anchor="t">
            <a:normAutofit/>
          </a:bodyPr>
          <a:lstStyle/>
          <a:p>
            <a:pPr indent="0" marL="0">
              <a:buNone/>
            </a:pPr>
            <a:r>
              <a:rPr lang="en-US" sz="2000" dirty="0">
                <a:solidFill>
                  <a:srgbClr val="203449"/>
                </a:solidFill>
                <a:latin typeface="Arial" pitchFamily="34" charset="0"/>
                <a:ea typeface="Arial" pitchFamily="34" charset="-122"/>
                <a:cs typeface="Arial" pitchFamily="34" charset="-120"/>
              </a:rPr>
              <a:t>Validate against the same exact finite-model reference.</a:t>
            </a:r>
            <a:endParaRPr lang="en-US" sz="2000" dirty="0"/>
          </a:p>
        </p:txBody>
      </p:sp>
      <p:sp>
        <p:nvSpPr>
          <p:cNvPr id="14" name="Shape 11"/>
          <p:cNvSpPr/>
          <p:nvPr/>
        </p:nvSpPr>
        <p:spPr>
          <a:xfrm>
            <a:off x="6236208" y="1819656"/>
            <a:ext cx="5394960" cy="1435608"/>
          </a:xfrm>
          <a:prstGeom prst="roundRect">
            <a:avLst>
              <a:gd name="adj" fmla="val 6369"/>
            </a:avLst>
          </a:prstGeom>
          <a:solidFill>
            <a:srgbClr val="EEF6F6"/>
          </a:solidFill>
          <a:ln w="12700">
            <a:solidFill>
              <a:srgbClr val="EEF6F6">
                <a:alpha val="0"/>
              </a:srgbClr>
            </a:solidFill>
            <a:prstDash val="solid"/>
          </a:ln>
        </p:spPr>
      </p:sp>
      <p:sp>
        <p:nvSpPr>
          <p:cNvPr id="15" name="Text 12"/>
          <p:cNvSpPr/>
          <p:nvPr/>
        </p:nvSpPr>
        <p:spPr>
          <a:xfrm>
            <a:off x="6419088" y="1965960"/>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02</a:t>
            </a:r>
            <a:endParaRPr lang="en-US" sz="2200" dirty="0"/>
          </a:p>
        </p:txBody>
      </p:sp>
      <p:sp>
        <p:nvSpPr>
          <p:cNvPr id="16" name="Text 13"/>
          <p:cNvSpPr/>
          <p:nvPr/>
        </p:nvSpPr>
        <p:spPr>
          <a:xfrm>
            <a:off x="6995160" y="1956816"/>
            <a:ext cx="4480560"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Finite shots</a:t>
            </a:r>
            <a:endParaRPr lang="en-US" sz="2200" dirty="0"/>
          </a:p>
        </p:txBody>
      </p:sp>
      <p:sp>
        <p:nvSpPr>
          <p:cNvPr id="17" name="Text 14"/>
          <p:cNvSpPr/>
          <p:nvPr/>
        </p:nvSpPr>
        <p:spPr>
          <a:xfrm>
            <a:off x="6446520" y="2432304"/>
            <a:ext cx="4974336" cy="722376"/>
          </a:xfrm>
          <a:prstGeom prst="rect">
            <a:avLst/>
          </a:prstGeom>
          <a:noFill/>
          <a:ln/>
        </p:spPr>
        <p:txBody>
          <a:bodyPr wrap="square" lIns="0" tIns="0" rIns="0" bIns="0" rtlCol="0" anchor="t">
            <a:normAutofit/>
          </a:bodyPr>
          <a:lstStyle/>
          <a:p>
            <a:pPr indent="0" marL="0">
              <a:buNone/>
            </a:pPr>
            <a:r>
              <a:rPr lang="en-US" sz="2000" dirty="0">
                <a:solidFill>
                  <a:srgbClr val="203449"/>
                </a:solidFill>
                <a:latin typeface="Arial" pitchFamily="34" charset="0"/>
                <a:ea typeface="Arial" pitchFamily="34" charset="-122"/>
                <a:cs typeface="Arial" pitchFamily="34" charset="-120"/>
              </a:rPr>
              <a:t>Isolate sampling error in the fit and matrix reconstruction.</a:t>
            </a:r>
            <a:endParaRPr lang="en-US" sz="2000" dirty="0"/>
          </a:p>
        </p:txBody>
      </p:sp>
      <p:sp>
        <p:nvSpPr>
          <p:cNvPr id="18" name="Shape 15"/>
          <p:cNvSpPr/>
          <p:nvPr/>
        </p:nvSpPr>
        <p:spPr>
          <a:xfrm>
            <a:off x="548640" y="3529584"/>
            <a:ext cx="5394960" cy="1435608"/>
          </a:xfrm>
          <a:prstGeom prst="roundRect">
            <a:avLst>
              <a:gd name="adj" fmla="val 6369"/>
            </a:avLst>
          </a:prstGeom>
          <a:solidFill>
            <a:srgbClr val="EEF6F6"/>
          </a:solidFill>
          <a:ln w="12700">
            <a:solidFill>
              <a:srgbClr val="EEF6F6">
                <a:alpha val="0"/>
              </a:srgbClr>
            </a:solidFill>
            <a:prstDash val="solid"/>
          </a:ln>
        </p:spPr>
      </p:sp>
      <p:sp>
        <p:nvSpPr>
          <p:cNvPr id="19" name="Text 16"/>
          <p:cNvSpPr/>
          <p:nvPr/>
        </p:nvSpPr>
        <p:spPr>
          <a:xfrm>
            <a:off x="731520" y="3675888"/>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03</a:t>
            </a:r>
            <a:endParaRPr lang="en-US" sz="2200" dirty="0"/>
          </a:p>
        </p:txBody>
      </p:sp>
      <p:sp>
        <p:nvSpPr>
          <p:cNvPr id="20" name="Text 17"/>
          <p:cNvSpPr/>
          <p:nvPr/>
        </p:nvSpPr>
        <p:spPr>
          <a:xfrm>
            <a:off x="1307592" y="3666744"/>
            <a:ext cx="4480560"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Noisy simulation</a:t>
            </a:r>
            <a:endParaRPr lang="en-US" sz="2200" dirty="0"/>
          </a:p>
        </p:txBody>
      </p:sp>
      <p:sp>
        <p:nvSpPr>
          <p:cNvPr id="21" name="Text 18"/>
          <p:cNvSpPr/>
          <p:nvPr/>
        </p:nvSpPr>
        <p:spPr>
          <a:xfrm>
            <a:off x="758952" y="4142232"/>
            <a:ext cx="4974336" cy="722376"/>
          </a:xfrm>
          <a:prstGeom prst="rect">
            <a:avLst/>
          </a:prstGeom>
          <a:noFill/>
          <a:ln/>
        </p:spPr>
        <p:txBody>
          <a:bodyPr wrap="square" lIns="0" tIns="0" rIns="0" bIns="0" rtlCol="0" anchor="t">
            <a:normAutofit/>
          </a:bodyPr>
          <a:lstStyle/>
          <a:p>
            <a:pPr indent="0" marL="0">
              <a:buNone/>
            </a:pPr>
            <a:r>
              <a:rPr lang="en-US" sz="2000" dirty="0">
                <a:solidFill>
                  <a:srgbClr val="203449"/>
                </a:solidFill>
                <a:latin typeface="Arial" pitchFamily="34" charset="0"/>
                <a:ea typeface="Arial" pitchFamily="34" charset="-122"/>
                <a:cs typeface="Arial" pitchFamily="34" charset="-120"/>
              </a:rPr>
              <a:t>Use the same justified, documented device assumptions.</a:t>
            </a:r>
            <a:endParaRPr lang="en-US" sz="2000" dirty="0"/>
          </a:p>
        </p:txBody>
      </p:sp>
      <p:sp>
        <p:nvSpPr>
          <p:cNvPr id="22" name="Shape 19"/>
          <p:cNvSpPr/>
          <p:nvPr/>
        </p:nvSpPr>
        <p:spPr>
          <a:xfrm>
            <a:off x="6236208" y="3529584"/>
            <a:ext cx="5394960" cy="1435608"/>
          </a:xfrm>
          <a:prstGeom prst="roundRect">
            <a:avLst>
              <a:gd name="adj" fmla="val 6369"/>
            </a:avLst>
          </a:prstGeom>
          <a:solidFill>
            <a:srgbClr val="EEF6F6"/>
          </a:solidFill>
          <a:ln w="12700">
            <a:solidFill>
              <a:srgbClr val="EEF6F6">
                <a:alpha val="0"/>
              </a:srgbClr>
            </a:solidFill>
            <a:prstDash val="solid"/>
          </a:ln>
        </p:spPr>
      </p:sp>
      <p:sp>
        <p:nvSpPr>
          <p:cNvPr id="23" name="Text 20"/>
          <p:cNvSpPr/>
          <p:nvPr/>
        </p:nvSpPr>
        <p:spPr>
          <a:xfrm>
            <a:off x="6419088" y="3675888"/>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04</a:t>
            </a:r>
            <a:endParaRPr lang="en-US" sz="2200" dirty="0"/>
          </a:p>
        </p:txBody>
      </p:sp>
      <p:sp>
        <p:nvSpPr>
          <p:cNvPr id="24" name="Text 21"/>
          <p:cNvSpPr/>
          <p:nvPr/>
        </p:nvSpPr>
        <p:spPr>
          <a:xfrm>
            <a:off x="6995160" y="3666744"/>
            <a:ext cx="4480560"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Hardware</a:t>
            </a:r>
            <a:endParaRPr lang="en-US" sz="2200" dirty="0"/>
          </a:p>
        </p:txBody>
      </p:sp>
      <p:sp>
        <p:nvSpPr>
          <p:cNvPr id="25" name="Text 22"/>
          <p:cNvSpPr/>
          <p:nvPr/>
        </p:nvSpPr>
        <p:spPr>
          <a:xfrm>
            <a:off x="6446520" y="4142232"/>
            <a:ext cx="4974336" cy="722376"/>
          </a:xfrm>
          <a:prstGeom prst="rect">
            <a:avLst/>
          </a:prstGeom>
          <a:noFill/>
          <a:ln/>
        </p:spPr>
        <p:txBody>
          <a:bodyPr wrap="square" lIns="0" tIns="0" rIns="0" bIns="0" rtlCol="0" anchor="t">
            <a:normAutofit/>
          </a:bodyPr>
          <a:lstStyle/>
          <a:p>
            <a:pPr indent="0" marL="0">
              <a:buNone/>
            </a:pPr>
            <a:r>
              <a:rPr lang="en-US" sz="2000" dirty="0">
                <a:solidFill>
                  <a:srgbClr val="203449"/>
                </a:solidFill>
                <a:latin typeface="Arial" pitchFamily="34" charset="0"/>
                <a:ea typeface="Arial" pitchFamily="34" charset="-122"/>
                <a:cs typeface="Arial" pitchFamily="34" charset="-120"/>
              </a:rPr>
              <a:t>Record device, versions, calibration window, and native costs.</a:t>
            </a:r>
            <a:endParaRPr lang="en-US" sz="2000" dirty="0"/>
          </a:p>
        </p:txBody>
      </p:sp>
      <p:sp>
        <p:nvSpPr>
          <p:cNvPr id="26" name="Shape 23"/>
          <p:cNvSpPr/>
          <p:nvPr/>
        </p:nvSpPr>
        <p:spPr>
          <a:xfrm>
            <a:off x="548640" y="5413248"/>
            <a:ext cx="11091672" cy="539496"/>
          </a:xfrm>
          <a:prstGeom prst="roundRect">
            <a:avLst>
              <a:gd name="adj" fmla="val 16949"/>
            </a:avLst>
          </a:prstGeom>
          <a:solidFill>
            <a:srgbClr val="FFF3DD"/>
          </a:solidFill>
          <a:ln w="12700">
            <a:solidFill>
              <a:srgbClr val="FFF3DD">
                <a:alpha val="0"/>
              </a:srgbClr>
            </a:solidFill>
            <a:prstDash val="solid"/>
          </a:ln>
        </p:spPr>
      </p:sp>
      <p:sp>
        <p:nvSpPr>
          <p:cNvPr id="27" name="Text 24"/>
          <p:cNvSpPr/>
          <p:nvPr/>
        </p:nvSpPr>
        <p:spPr>
          <a:xfrm>
            <a:off x="749808" y="5486400"/>
            <a:ext cx="10680192" cy="393192"/>
          </a:xfrm>
          <a:prstGeom prst="rect">
            <a:avLst/>
          </a:prstGeom>
          <a:noFill/>
          <a:ln/>
        </p:spPr>
        <p:txBody>
          <a:bodyPr wrap="square" lIns="0" tIns="0" rIns="0" bIns="0" rtlCol="0" anchor="ctr">
            <a:normAutofit/>
          </a:bodyPr>
          <a:lstStyle/>
          <a:p>
            <a:pPr indent="0" marL="0">
              <a:buNone/>
            </a:pPr>
            <a:r>
              <a:rPr lang="en-US" sz="2000" dirty="0">
                <a:solidFill>
                  <a:srgbClr val="203449"/>
                </a:solidFill>
                <a:latin typeface="Arial" pitchFamily="34" charset="0"/>
                <a:ea typeface="Arial" pitchFamily="34" charset="-122"/>
                <a:cs typeface="Arial" pitchFamily="34" charset="-120"/>
              </a:rPr>
              <a:t>Freeze the Hamiltonian, sector, starting-state policy, and output task first.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THE COST LEDGER</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Equal shots alone do not imply equal resources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35</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[8–9] Quantinuum Systems and Job Costing documentation (accessed 8 Oct 2026).</a:t>
            </a:r>
            <a:endParaRPr lang="en-US" sz="920" dirty="0"/>
          </a:p>
        </p:txBody>
      </p:sp>
      <p:pic>
        <p:nvPicPr>
          <p:cNvPr id="11" name="Image 0" descr="/mnt/data/qite_package/slides_source/equations/cost.png">    </p:cNvPr>
          <p:cNvPicPr>
            <a:picLocks noChangeAspect="1"/>
          </p:cNvPicPr>
          <p:nvPr/>
        </p:nvPicPr>
        <p:blipFill>
          <a:blip r:embed="rId1"/>
          <a:stretch>
            <a:fillRect/>
          </a:stretch>
        </p:blipFill>
        <p:spPr>
          <a:xfrm>
            <a:off x="1548988" y="1801368"/>
            <a:ext cx="9118407" cy="941832"/>
          </a:xfrm>
          <a:prstGeom prst="rect">
            <a:avLst/>
          </a:prstGeom>
        </p:spPr>
      </p:pic>
      <p:sp>
        <p:nvSpPr>
          <p:cNvPr id="12" name="Shape 8"/>
          <p:cNvSpPr/>
          <p:nvPr/>
        </p:nvSpPr>
        <p:spPr>
          <a:xfrm>
            <a:off x="548640" y="3328416"/>
            <a:ext cx="3502152" cy="1911096"/>
          </a:xfrm>
          <a:prstGeom prst="roundRect">
            <a:avLst>
              <a:gd name="adj" fmla="val 4785"/>
            </a:avLst>
          </a:prstGeom>
          <a:solidFill>
            <a:srgbClr val="EEF6F6"/>
          </a:solidFill>
          <a:ln w="12700">
            <a:solidFill>
              <a:srgbClr val="EEF6F6">
                <a:alpha val="0"/>
              </a:srgbClr>
            </a:solidFill>
            <a:prstDash val="solid"/>
          </a:ln>
        </p:spPr>
      </p:sp>
      <p:sp>
        <p:nvSpPr>
          <p:cNvPr id="13" name="Text 9"/>
          <p:cNvSpPr/>
          <p:nvPr/>
        </p:nvSpPr>
        <p:spPr>
          <a:xfrm>
            <a:off x="758952" y="3474720"/>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INCLUDE</a:t>
            </a:r>
            <a:endParaRPr lang="en-US" sz="1800" dirty="0"/>
          </a:p>
        </p:txBody>
      </p:sp>
      <p:sp>
        <p:nvSpPr>
          <p:cNvPr id="14" name="Text 10"/>
          <p:cNvSpPr/>
          <p:nvPr/>
        </p:nvSpPr>
        <p:spPr>
          <a:xfrm>
            <a:off x="758952" y="3922776"/>
            <a:ext cx="3081528" cy="1216152"/>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Training, evaluation, mitigation, calibration, and failed attempts.</a:t>
            </a:r>
            <a:endParaRPr lang="en-US" sz="2100" dirty="0"/>
          </a:p>
        </p:txBody>
      </p:sp>
      <p:sp>
        <p:nvSpPr>
          <p:cNvPr id="15" name="Shape 11"/>
          <p:cNvSpPr/>
          <p:nvPr/>
        </p:nvSpPr>
        <p:spPr>
          <a:xfrm>
            <a:off x="4343400" y="3328416"/>
            <a:ext cx="3502152" cy="1911096"/>
          </a:xfrm>
          <a:prstGeom prst="roundRect">
            <a:avLst>
              <a:gd name="adj" fmla="val 4785"/>
            </a:avLst>
          </a:prstGeom>
          <a:solidFill>
            <a:srgbClr val="EEF6F6"/>
          </a:solidFill>
          <a:ln w="12700">
            <a:solidFill>
              <a:srgbClr val="EEF6F6">
                <a:alpha val="0"/>
              </a:srgbClr>
            </a:solidFill>
            <a:prstDash val="solid"/>
          </a:ln>
        </p:spPr>
      </p:sp>
      <p:sp>
        <p:nvSpPr>
          <p:cNvPr id="16" name="Text 12"/>
          <p:cNvSpPr/>
          <p:nvPr/>
        </p:nvSpPr>
        <p:spPr>
          <a:xfrm>
            <a:off x="4553712" y="3474720"/>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SEPARATE</a:t>
            </a:r>
            <a:endParaRPr lang="en-US" sz="1800" dirty="0"/>
          </a:p>
        </p:txBody>
      </p:sp>
      <p:sp>
        <p:nvSpPr>
          <p:cNvPr id="17" name="Text 13"/>
          <p:cNvSpPr/>
          <p:nvPr/>
        </p:nvSpPr>
        <p:spPr>
          <a:xfrm>
            <a:off x="4553712" y="3922776"/>
            <a:ext cx="3081528" cy="1216152"/>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Peak depth, total gates, device time, classical time, and waiting.</a:t>
            </a:r>
            <a:endParaRPr lang="en-US" sz="2100" dirty="0"/>
          </a:p>
        </p:txBody>
      </p:sp>
      <p:sp>
        <p:nvSpPr>
          <p:cNvPr id="18" name="Shape 14"/>
          <p:cNvSpPr/>
          <p:nvPr/>
        </p:nvSpPr>
        <p:spPr>
          <a:xfrm>
            <a:off x="8138160" y="3328416"/>
            <a:ext cx="3502152" cy="1911096"/>
          </a:xfrm>
          <a:prstGeom prst="roundRect">
            <a:avLst>
              <a:gd name="adj" fmla="val 4785"/>
            </a:avLst>
          </a:prstGeom>
          <a:solidFill>
            <a:srgbClr val="FFF3DD"/>
          </a:solidFill>
          <a:ln w="12700">
            <a:solidFill>
              <a:srgbClr val="FFF3DD">
                <a:alpha val="0"/>
              </a:srgbClr>
            </a:solidFill>
            <a:prstDash val="solid"/>
          </a:ln>
        </p:spPr>
      </p:sp>
      <p:sp>
        <p:nvSpPr>
          <p:cNvPr id="19" name="Text 15"/>
          <p:cNvSpPr/>
          <p:nvPr/>
        </p:nvSpPr>
        <p:spPr>
          <a:xfrm>
            <a:off x="8348472" y="3474720"/>
            <a:ext cx="3081528"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VERIFY</a:t>
            </a:r>
            <a:endParaRPr lang="en-US" sz="1800" dirty="0"/>
          </a:p>
        </p:txBody>
      </p:sp>
      <p:sp>
        <p:nvSpPr>
          <p:cNvPr id="20" name="Text 16"/>
          <p:cNvSpPr/>
          <p:nvPr/>
        </p:nvSpPr>
        <p:spPr>
          <a:xfrm>
            <a:off x="8348472" y="3922776"/>
            <a:ext cx="3081528" cy="1216152"/>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Use the chosen backend’s current native counts and cost estimator.</a:t>
            </a:r>
            <a:endParaRPr lang="en-US" sz="2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REPORTING THE EXPERIMENT</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Make accuracy versus full cost the central result</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36</a:t>
            </a:r>
            <a:endParaRPr lang="en-US" sz="1100" dirty="0"/>
          </a:p>
        </p:txBody>
      </p:sp>
      <p:pic>
        <p:nvPicPr>
          <p:cNvPr id="10" name="Image 0" descr="/mnt/data/qite_package/slides_source/equations/error.png">    </p:cNvPr>
          <p:cNvPicPr>
            <a:picLocks noChangeAspect="1"/>
          </p:cNvPicPr>
          <p:nvPr/>
        </p:nvPicPr>
        <p:blipFill>
          <a:blip r:embed="rId1"/>
          <a:stretch>
            <a:fillRect/>
          </a:stretch>
        </p:blipFill>
        <p:spPr>
          <a:xfrm>
            <a:off x="4343038" y="1773936"/>
            <a:ext cx="3493732" cy="777240"/>
          </a:xfrm>
          <a:prstGeom prst="rect">
            <a:avLst/>
          </a:prstGeom>
        </p:spPr>
      </p:pic>
      <p:sp>
        <p:nvSpPr>
          <p:cNvPr id="11" name="Shape 7"/>
          <p:cNvSpPr/>
          <p:nvPr/>
        </p:nvSpPr>
        <p:spPr>
          <a:xfrm>
            <a:off x="548640" y="3026664"/>
            <a:ext cx="5394960" cy="1618488"/>
          </a:xfrm>
          <a:prstGeom prst="roundRect">
            <a:avLst>
              <a:gd name="adj" fmla="val 5650"/>
            </a:avLst>
          </a:prstGeom>
          <a:solidFill>
            <a:srgbClr val="EEF6F6"/>
          </a:solidFill>
          <a:ln w="12700">
            <a:solidFill>
              <a:srgbClr val="EEF6F6">
                <a:alpha val="0"/>
              </a:srgbClr>
            </a:solidFill>
            <a:prstDash val="solid"/>
          </a:ln>
        </p:spPr>
      </p:sp>
      <p:sp>
        <p:nvSpPr>
          <p:cNvPr id="12" name="Text 8"/>
          <p:cNvSpPr/>
          <p:nvPr/>
        </p:nvSpPr>
        <p:spPr>
          <a:xfrm>
            <a:off x="758952" y="317296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MAIN FIGURE</a:t>
            </a:r>
            <a:endParaRPr lang="en-US" sz="1800" dirty="0"/>
          </a:p>
        </p:txBody>
      </p:sp>
      <p:sp>
        <p:nvSpPr>
          <p:cNvPr id="13" name="Text 9"/>
          <p:cNvSpPr/>
          <p:nvPr/>
        </p:nvSpPr>
        <p:spPr>
          <a:xfrm>
            <a:off x="758952" y="3621024"/>
            <a:ext cx="4974336" cy="923544"/>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Energy error + uncertainty</a:t>
            </a:r>
            <a:endParaRPr lang="en-US" sz="1900" dirty="0"/>
          </a:p>
          <a:p>
            <a:pPr indent="0" marL="0">
              <a:buNone/>
            </a:pPr>
            <a:r>
              <a:rPr lang="en-US" sz="1900" dirty="0">
                <a:solidFill>
                  <a:srgbClr val="203449"/>
                </a:solidFill>
                <a:latin typeface="Arial" pitchFamily="34" charset="0"/>
                <a:ea typeface="Arial" pitchFamily="34" charset="-122"/>
                <a:cs typeface="Arial" pitchFamily="34" charset="-120"/>
              </a:rPr>
              <a:t>versus cumulative cost</a:t>
            </a:r>
            <a:endParaRPr lang="en-US" sz="1900" dirty="0"/>
          </a:p>
        </p:txBody>
      </p:sp>
      <p:sp>
        <p:nvSpPr>
          <p:cNvPr id="14" name="Shape 10"/>
          <p:cNvSpPr/>
          <p:nvPr/>
        </p:nvSpPr>
        <p:spPr>
          <a:xfrm>
            <a:off x="6236208" y="3026664"/>
            <a:ext cx="5394960" cy="1618488"/>
          </a:xfrm>
          <a:prstGeom prst="roundRect">
            <a:avLst>
              <a:gd name="adj" fmla="val 5650"/>
            </a:avLst>
          </a:prstGeom>
          <a:solidFill>
            <a:srgbClr val="EEF6F6"/>
          </a:solidFill>
          <a:ln w="12700">
            <a:solidFill>
              <a:srgbClr val="EEF6F6">
                <a:alpha val="0"/>
              </a:srgbClr>
            </a:solidFill>
            <a:prstDash val="solid"/>
          </a:ln>
        </p:spPr>
      </p:sp>
      <p:sp>
        <p:nvSpPr>
          <p:cNvPr id="15" name="Text 11"/>
          <p:cNvSpPr/>
          <p:nvPr/>
        </p:nvSpPr>
        <p:spPr>
          <a:xfrm>
            <a:off x="6446520" y="317296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SECOND FIGURE</a:t>
            </a:r>
            <a:endParaRPr lang="en-US" sz="1800" dirty="0"/>
          </a:p>
        </p:txBody>
      </p:sp>
      <p:sp>
        <p:nvSpPr>
          <p:cNvPr id="16" name="Text 12"/>
          <p:cNvSpPr/>
          <p:nvPr/>
        </p:nvSpPr>
        <p:spPr>
          <a:xfrm>
            <a:off x="6446520" y="3621024"/>
            <a:ext cx="4974336" cy="923544"/>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Success probability</a:t>
            </a:r>
            <a:endParaRPr lang="en-US" sz="1900" dirty="0"/>
          </a:p>
          <a:p>
            <a:pPr indent="0" marL="0">
              <a:buNone/>
            </a:pPr>
            <a:r>
              <a:rPr lang="en-US" sz="1900" dirty="0">
                <a:solidFill>
                  <a:srgbClr val="203449"/>
                </a:solidFill>
                <a:latin typeface="Arial" pitchFamily="34" charset="0"/>
                <a:ea typeface="Arial" pitchFamily="34" charset="-122"/>
                <a:cs typeface="Arial" pitchFamily="34" charset="-120"/>
              </a:rPr>
              <a:t>versus a fixed resource budget</a:t>
            </a:r>
            <a:endParaRPr lang="en-US" sz="1900" dirty="0"/>
          </a:p>
        </p:txBody>
      </p:sp>
      <p:sp>
        <p:nvSpPr>
          <p:cNvPr id="17" name="Shape 13"/>
          <p:cNvSpPr/>
          <p:nvPr/>
        </p:nvSpPr>
        <p:spPr>
          <a:xfrm>
            <a:off x="548640" y="5212080"/>
            <a:ext cx="11091672" cy="539496"/>
          </a:xfrm>
          <a:prstGeom prst="roundRect">
            <a:avLst>
              <a:gd name="adj" fmla="val 16949"/>
            </a:avLst>
          </a:prstGeom>
          <a:solidFill>
            <a:srgbClr val="FFF3DD"/>
          </a:solidFill>
          <a:ln w="12700">
            <a:solidFill>
              <a:srgbClr val="FFF3DD">
                <a:alpha val="0"/>
              </a:srgbClr>
            </a:solidFill>
            <a:prstDash val="solid"/>
          </a:ln>
        </p:spPr>
      </p:sp>
      <p:sp>
        <p:nvSpPr>
          <p:cNvPr id="18" name="Text 14"/>
          <p:cNvSpPr/>
          <p:nvPr/>
        </p:nvSpPr>
        <p:spPr>
          <a:xfrm>
            <a:off x="749808" y="5285232"/>
            <a:ext cx="10680192" cy="393192"/>
          </a:xfrm>
          <a:prstGeom prst="rect">
            <a:avLst/>
          </a:prstGeom>
          <a:noFill/>
          <a:ln/>
        </p:spPr>
        <p:txBody>
          <a:bodyPr wrap="square" lIns="0" tIns="0" rIns="0" bIns="0" rtlCol="0" anchor="ctr">
            <a:normAutofit/>
          </a:bodyPr>
          <a:lstStyle/>
          <a:p>
            <a:pPr indent="0" marL="0">
              <a:buNone/>
            </a:pPr>
            <a:r>
              <a:rPr lang="en-US" sz="2000" dirty="0">
                <a:solidFill>
                  <a:srgbClr val="203449"/>
                </a:solidFill>
                <a:latin typeface="Arial" pitchFamily="34" charset="0"/>
                <a:ea typeface="Arial" pitchFamily="34" charset="-122"/>
                <a:cs typeface="Arial" pitchFamily="34" charset="-120"/>
              </a:rPr>
              <a:t>H₂ is a validation case. Add geometries and larger active spaces before claiming scaling.</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MISCONCEPTIONS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Four shortcuts that lead to wrong conclusions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37</a:t>
            </a:r>
            <a:endParaRPr lang="en-US" sz="1100" dirty="0"/>
          </a:p>
        </p:txBody>
      </p:sp>
      <p:sp>
        <p:nvSpPr>
          <p:cNvPr id="10" name="Shape 7"/>
          <p:cNvSpPr/>
          <p:nvPr/>
        </p:nvSpPr>
        <p:spPr>
          <a:xfrm>
            <a:off x="548640" y="1792224"/>
            <a:ext cx="5394960" cy="1600200"/>
          </a:xfrm>
          <a:prstGeom prst="roundRect">
            <a:avLst>
              <a:gd name="adj" fmla="val 5714"/>
            </a:avLst>
          </a:prstGeom>
          <a:solidFill>
            <a:srgbClr val="FFF3DD"/>
          </a:solidFill>
          <a:ln w="12700">
            <a:solidFill>
              <a:srgbClr val="FFF3DD">
                <a:alpha val="0"/>
              </a:srgbClr>
            </a:solidFill>
            <a:prstDash val="solid"/>
          </a:ln>
        </p:spPr>
      </p:sp>
      <p:sp>
        <p:nvSpPr>
          <p:cNvPr id="11" name="Text 8"/>
          <p:cNvSpPr/>
          <p:nvPr/>
        </p:nvSpPr>
        <p:spPr>
          <a:xfrm>
            <a:off x="758952" y="193852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“NO NORMALIZATION NEEDED”</a:t>
            </a:r>
            <a:endParaRPr lang="en-US" sz="1800" dirty="0"/>
          </a:p>
        </p:txBody>
      </p:sp>
      <p:sp>
        <p:nvSpPr>
          <p:cNvPr id="12" name="Text 9"/>
          <p:cNvSpPr/>
          <p:nvPr/>
        </p:nvSpPr>
        <p:spPr>
          <a:xfrm>
            <a:off x="758952" y="2386584"/>
            <a:ext cx="4974336" cy="905256"/>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The unnormalized vector can grow or vanish.</a:t>
            </a:r>
            <a:endParaRPr lang="en-US" sz="1900" dirty="0"/>
          </a:p>
        </p:txBody>
      </p:sp>
      <p:sp>
        <p:nvSpPr>
          <p:cNvPr id="13" name="Shape 10"/>
          <p:cNvSpPr/>
          <p:nvPr/>
        </p:nvSpPr>
        <p:spPr>
          <a:xfrm>
            <a:off x="6236208" y="1792224"/>
            <a:ext cx="5394960" cy="1600200"/>
          </a:xfrm>
          <a:prstGeom prst="roundRect">
            <a:avLst>
              <a:gd name="adj" fmla="val 5714"/>
            </a:avLst>
          </a:prstGeom>
          <a:solidFill>
            <a:srgbClr val="FFF3DD"/>
          </a:solidFill>
          <a:ln w="12700">
            <a:solidFill>
              <a:srgbClr val="FFF3DD">
                <a:alpha val="0"/>
              </a:srgbClr>
            </a:solidFill>
            <a:prstDash val="solid"/>
          </a:ln>
        </p:spPr>
      </p:sp>
      <p:sp>
        <p:nvSpPr>
          <p:cNvPr id="14" name="Text 11"/>
          <p:cNvSpPr/>
          <p:nvPr/>
        </p:nvSpPr>
        <p:spPr>
          <a:xfrm>
            <a:off x="6446520" y="193852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“A PLATEAU MEANS SUCCESS”</a:t>
            </a:r>
            <a:endParaRPr lang="en-US" sz="1800" dirty="0"/>
          </a:p>
        </p:txBody>
      </p:sp>
      <p:sp>
        <p:nvSpPr>
          <p:cNvPr id="15" name="Text 12"/>
          <p:cNvSpPr/>
          <p:nvPr/>
        </p:nvSpPr>
        <p:spPr>
          <a:xfrm>
            <a:off x="6446520" y="2386584"/>
            <a:ext cx="4974336" cy="905256"/>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A wrong sector or restricted pool can also stall.</a:t>
            </a:r>
            <a:endParaRPr lang="en-US" sz="1900" dirty="0"/>
          </a:p>
        </p:txBody>
      </p:sp>
      <p:sp>
        <p:nvSpPr>
          <p:cNvPr id="16" name="Shape 13"/>
          <p:cNvSpPr/>
          <p:nvPr/>
        </p:nvSpPr>
        <p:spPr>
          <a:xfrm>
            <a:off x="548640" y="3675888"/>
            <a:ext cx="5394960" cy="1600200"/>
          </a:xfrm>
          <a:prstGeom prst="roundRect">
            <a:avLst>
              <a:gd name="adj" fmla="val 5714"/>
            </a:avLst>
          </a:prstGeom>
          <a:solidFill>
            <a:srgbClr val="FFF3DD"/>
          </a:solidFill>
          <a:ln w="12700">
            <a:solidFill>
              <a:srgbClr val="FFF3DD">
                <a:alpha val="0"/>
              </a:srgbClr>
            </a:solidFill>
            <a:prstDash val="solid"/>
          </a:ln>
        </p:spPr>
      </p:sp>
      <p:sp>
        <p:nvSpPr>
          <p:cNvPr id="17" name="Text 14"/>
          <p:cNvSpPr/>
          <p:nvPr/>
        </p:nvSpPr>
        <p:spPr>
          <a:xfrm>
            <a:off x="758952" y="3822192"/>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“LOCAL MEANS SHALLOW”</a:t>
            </a:r>
            <a:endParaRPr lang="en-US" sz="1800" dirty="0"/>
          </a:p>
        </p:txBody>
      </p:sp>
      <p:sp>
        <p:nvSpPr>
          <p:cNvPr id="18" name="Text 15"/>
          <p:cNvSpPr/>
          <p:nvPr/>
        </p:nvSpPr>
        <p:spPr>
          <a:xfrm>
            <a:off x="758952" y="4270248"/>
            <a:ext cx="4974336" cy="905256"/>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The full preparation circuit usually accumulates.</a:t>
            </a:r>
            <a:endParaRPr lang="en-US" sz="1900" dirty="0"/>
          </a:p>
        </p:txBody>
      </p:sp>
      <p:sp>
        <p:nvSpPr>
          <p:cNvPr id="19" name="Shape 16"/>
          <p:cNvSpPr/>
          <p:nvPr/>
        </p:nvSpPr>
        <p:spPr>
          <a:xfrm>
            <a:off x="6236208" y="3675888"/>
            <a:ext cx="5394960" cy="1600200"/>
          </a:xfrm>
          <a:prstGeom prst="roundRect">
            <a:avLst>
              <a:gd name="adj" fmla="val 5714"/>
            </a:avLst>
          </a:prstGeom>
          <a:solidFill>
            <a:srgbClr val="FFF3DD"/>
          </a:solidFill>
          <a:ln w="12700">
            <a:solidFill>
              <a:srgbClr val="FFF3DD">
                <a:alpha val="0"/>
              </a:srgbClr>
            </a:solidFill>
            <a:prstDash val="solid"/>
          </a:ln>
        </p:spPr>
      </p:sp>
      <p:sp>
        <p:nvSpPr>
          <p:cNvPr id="20" name="Text 17"/>
          <p:cNvSpPr/>
          <p:nvPr/>
        </p:nvSpPr>
        <p:spPr>
          <a:xfrm>
            <a:off x="6446520" y="3822192"/>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“BELOW FCI MEANS BETTER”</a:t>
            </a:r>
            <a:endParaRPr lang="en-US" sz="1800" dirty="0"/>
          </a:p>
        </p:txBody>
      </p:sp>
      <p:sp>
        <p:nvSpPr>
          <p:cNvPr id="21" name="Text 18"/>
          <p:cNvSpPr/>
          <p:nvPr/>
        </p:nvSpPr>
        <p:spPr>
          <a:xfrm>
            <a:off x="6446520" y="4270248"/>
            <a:ext cx="4974336" cy="905256"/>
          </a:xfrm>
          <a:prstGeom prst="rect">
            <a:avLst/>
          </a:prstGeom>
          <a:noFill/>
          <a:ln/>
        </p:spPr>
        <p:txBody>
          <a:bodyPr wrap="square" lIns="0" tIns="0" rIns="0" bIns="0" rtlCol="0" anchor="t">
            <a:normAutofit/>
          </a:bodyPr>
          <a:lstStyle/>
          <a:p>
            <a:pPr indent="0" marL="0">
              <a:buNone/>
            </a:pPr>
            <a:r>
              <a:rPr lang="en-US" sz="1900" dirty="0">
                <a:solidFill>
                  <a:srgbClr val="203449"/>
                </a:solidFill>
                <a:latin typeface="Arial" pitchFamily="34" charset="0"/>
                <a:ea typeface="Arial" pitchFamily="34" charset="-122"/>
                <a:cs typeface="Arial" pitchFamily="34" charset="-120"/>
              </a:rPr>
              <a:t>Check noise, conditioning, and the reference model.</a:t>
            </a:r>
            <a:endParaRPr lang="en-US" sz="1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SELF-TEST</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Three checks before you move on</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38</a:t>
            </a:r>
            <a:endParaRPr lang="en-US" sz="1100" dirty="0"/>
          </a:p>
        </p:txBody>
      </p:sp>
      <p:sp>
        <p:nvSpPr>
          <p:cNvPr id="10" name="Shape 7"/>
          <p:cNvSpPr/>
          <p:nvPr/>
        </p:nvSpPr>
        <p:spPr>
          <a:xfrm>
            <a:off x="548640" y="1792224"/>
            <a:ext cx="11091672" cy="1170432"/>
          </a:xfrm>
          <a:prstGeom prst="roundRect">
            <a:avLst>
              <a:gd name="adj" fmla="val 7813"/>
            </a:avLst>
          </a:prstGeom>
          <a:solidFill>
            <a:srgbClr val="EEF6F6"/>
          </a:solidFill>
          <a:ln w="12700">
            <a:solidFill>
              <a:srgbClr val="EEF6F6">
                <a:alpha val="0"/>
              </a:srgbClr>
            </a:solidFill>
            <a:prstDash val="solid"/>
          </a:ln>
        </p:spPr>
      </p:sp>
      <p:sp>
        <p:nvSpPr>
          <p:cNvPr id="11" name="Text 8"/>
          <p:cNvSpPr/>
          <p:nvPr/>
        </p:nvSpPr>
        <p:spPr>
          <a:xfrm>
            <a:off x="731520" y="1938528"/>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01</a:t>
            </a:r>
            <a:endParaRPr lang="en-US" sz="2200" dirty="0"/>
          </a:p>
        </p:txBody>
      </p:sp>
      <p:sp>
        <p:nvSpPr>
          <p:cNvPr id="12" name="Text 9"/>
          <p:cNvSpPr/>
          <p:nvPr/>
        </p:nvSpPr>
        <p:spPr>
          <a:xfrm>
            <a:off x="1307592" y="1929384"/>
            <a:ext cx="10177272"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Explain</a:t>
            </a:r>
            <a:endParaRPr lang="en-US" sz="2200" dirty="0"/>
          </a:p>
        </p:txBody>
      </p:sp>
      <p:sp>
        <p:nvSpPr>
          <p:cNvPr id="13" name="Text 10"/>
          <p:cNvSpPr/>
          <p:nvPr/>
        </p:nvSpPr>
        <p:spPr>
          <a:xfrm>
            <a:off x="758952" y="2404872"/>
            <a:ext cx="10671048" cy="457200"/>
          </a:xfrm>
          <a:prstGeom prst="rect">
            <a:avLst/>
          </a:prstGeom>
          <a:noFill/>
          <a:ln/>
        </p:spPr>
        <p:txBody>
          <a:bodyPr wrap="square" lIns="0" tIns="0" rIns="0" bIns="0" rtlCol="0" anchor="t">
            <a:normAutofit/>
          </a:bodyPr>
          <a:lstStyle/>
          <a:p>
            <a:pPr indent="0" marL="0">
              <a:buNone/>
            </a:pPr>
            <a:r>
              <a:rPr lang="en-US" sz="1800" dirty="0">
                <a:solidFill>
                  <a:srgbClr val="203449"/>
                </a:solidFill>
                <a:latin typeface="Arial" pitchFamily="34" charset="0"/>
                <a:ea typeface="Arial" pitchFamily="34" charset="-122"/>
                <a:cs typeface="Arial" pitchFamily="34" charset="-120"/>
              </a:rPr>
              <a:t>Why can negative energies give growing amplitudes while filtering still works?</a:t>
            </a:r>
            <a:endParaRPr lang="en-US" sz="1800" dirty="0"/>
          </a:p>
        </p:txBody>
      </p:sp>
      <p:sp>
        <p:nvSpPr>
          <p:cNvPr id="14" name="Shape 11"/>
          <p:cNvSpPr/>
          <p:nvPr/>
        </p:nvSpPr>
        <p:spPr>
          <a:xfrm>
            <a:off x="548640" y="3218688"/>
            <a:ext cx="11091672" cy="1170432"/>
          </a:xfrm>
          <a:prstGeom prst="roundRect">
            <a:avLst>
              <a:gd name="adj" fmla="val 7813"/>
            </a:avLst>
          </a:prstGeom>
          <a:solidFill>
            <a:srgbClr val="EEF6F6"/>
          </a:solidFill>
          <a:ln w="12700">
            <a:solidFill>
              <a:srgbClr val="EEF6F6">
                <a:alpha val="0"/>
              </a:srgbClr>
            </a:solidFill>
            <a:prstDash val="solid"/>
          </a:ln>
        </p:spPr>
      </p:sp>
      <p:sp>
        <p:nvSpPr>
          <p:cNvPr id="15" name="Text 12"/>
          <p:cNvSpPr/>
          <p:nvPr/>
        </p:nvSpPr>
        <p:spPr>
          <a:xfrm>
            <a:off x="731520" y="3364992"/>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02</a:t>
            </a:r>
            <a:endParaRPr lang="en-US" sz="2200" dirty="0"/>
          </a:p>
        </p:txBody>
      </p:sp>
      <p:sp>
        <p:nvSpPr>
          <p:cNvPr id="16" name="Text 13"/>
          <p:cNvSpPr/>
          <p:nvPr/>
        </p:nvSpPr>
        <p:spPr>
          <a:xfrm>
            <a:off x="1307592" y="3355848"/>
            <a:ext cx="10177272"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Predict</a:t>
            </a:r>
            <a:endParaRPr lang="en-US" sz="2200" dirty="0"/>
          </a:p>
        </p:txBody>
      </p:sp>
      <p:sp>
        <p:nvSpPr>
          <p:cNvPr id="17" name="Text 14"/>
          <p:cNvSpPr/>
          <p:nvPr/>
        </p:nvSpPr>
        <p:spPr>
          <a:xfrm>
            <a:off x="758952" y="3831336"/>
            <a:ext cx="10671048" cy="457200"/>
          </a:xfrm>
          <a:prstGeom prst="rect">
            <a:avLst/>
          </a:prstGeom>
          <a:noFill/>
          <a:ln/>
        </p:spPr>
        <p:txBody>
          <a:bodyPr wrap="square" lIns="0" tIns="0" rIns="0" bIns="0" rtlCol="0" anchor="t">
            <a:normAutofit/>
          </a:bodyPr>
          <a:lstStyle/>
          <a:p>
            <a:pPr indent="0" marL="0">
              <a:buNone/>
            </a:pPr>
            <a:r>
              <a:rPr lang="en-US" sz="1800" dirty="0">
                <a:solidFill>
                  <a:srgbClr val="203449"/>
                </a:solidFill>
                <a:latin typeface="Arial" pitchFamily="34" charset="0"/>
                <a:ea typeface="Arial" pitchFamily="34" charset="-122"/>
                <a:cs typeface="Arial" pitchFamily="34" charset="-120"/>
              </a:rPr>
              <a:t>For H = Z and |+⟩, what happens when the pool contains only Z?</a:t>
            </a:r>
            <a:endParaRPr lang="en-US" sz="1800" dirty="0"/>
          </a:p>
        </p:txBody>
      </p:sp>
      <p:sp>
        <p:nvSpPr>
          <p:cNvPr id="18" name="Shape 15"/>
          <p:cNvSpPr/>
          <p:nvPr/>
        </p:nvSpPr>
        <p:spPr>
          <a:xfrm>
            <a:off x="548640" y="4645152"/>
            <a:ext cx="11091672" cy="1170432"/>
          </a:xfrm>
          <a:prstGeom prst="roundRect">
            <a:avLst>
              <a:gd name="adj" fmla="val 7813"/>
            </a:avLst>
          </a:prstGeom>
          <a:solidFill>
            <a:srgbClr val="EEF6F6"/>
          </a:solidFill>
          <a:ln w="12700">
            <a:solidFill>
              <a:srgbClr val="EEF6F6">
                <a:alpha val="0"/>
              </a:srgbClr>
            </a:solidFill>
            <a:prstDash val="solid"/>
          </a:ln>
        </p:spPr>
      </p:sp>
      <p:sp>
        <p:nvSpPr>
          <p:cNvPr id="19" name="Text 16"/>
          <p:cNvSpPr/>
          <p:nvPr/>
        </p:nvSpPr>
        <p:spPr>
          <a:xfrm>
            <a:off x="731520" y="4791456"/>
            <a:ext cx="457200" cy="411480"/>
          </a:xfrm>
          <a:prstGeom prst="rect">
            <a:avLst/>
          </a:prstGeom>
          <a:noFill/>
          <a:ln/>
        </p:spPr>
        <p:txBody>
          <a:bodyPr wrap="square" lIns="0" tIns="0" rIns="0" bIns="0" rtlCol="0" anchor="ctr">
            <a:normAutofit/>
          </a:bodyPr>
          <a:lstStyle/>
          <a:p>
            <a:pPr indent="0" marL="0">
              <a:buNone/>
            </a:pPr>
            <a:r>
              <a:rPr lang="en-US" sz="2200" b="1" dirty="0">
                <a:solidFill>
                  <a:srgbClr val="007F86"/>
                </a:solidFill>
                <a:latin typeface="Arial" pitchFamily="34" charset="0"/>
                <a:ea typeface="Arial" pitchFamily="34" charset="-122"/>
                <a:cs typeface="Arial" pitchFamily="34" charset="-120"/>
              </a:rPr>
              <a:t>03</a:t>
            </a:r>
            <a:endParaRPr lang="en-US" sz="2200" dirty="0"/>
          </a:p>
        </p:txBody>
      </p:sp>
      <p:sp>
        <p:nvSpPr>
          <p:cNvPr id="20" name="Text 17"/>
          <p:cNvSpPr/>
          <p:nvPr/>
        </p:nvSpPr>
        <p:spPr>
          <a:xfrm>
            <a:off x="1307592" y="4782312"/>
            <a:ext cx="10177272" cy="429768"/>
          </a:xfrm>
          <a:prstGeom prst="rect">
            <a:avLst/>
          </a:prstGeom>
          <a:noFill/>
          <a:ln/>
        </p:spPr>
        <p:txBody>
          <a:bodyPr wrap="square" lIns="0" tIns="0" rIns="0" bIns="0" rtlCol="0" anchor="ctr">
            <a:normAutofit/>
          </a:bodyPr>
          <a:lstStyle/>
          <a:p>
            <a:pPr indent="0" marL="0">
              <a:buNone/>
            </a:pPr>
            <a:r>
              <a:rPr lang="en-US" sz="2200" b="1" dirty="0">
                <a:solidFill>
                  <a:srgbClr val="142C46"/>
                </a:solidFill>
                <a:latin typeface="Arial" pitchFamily="34" charset="0"/>
                <a:ea typeface="Arial" pitchFamily="34" charset="-122"/>
                <a:cs typeface="Arial" pitchFamily="34" charset="-120"/>
              </a:rPr>
              <a:t>Audit</a:t>
            </a:r>
            <a:endParaRPr lang="en-US" sz="2200" dirty="0"/>
          </a:p>
        </p:txBody>
      </p:sp>
      <p:sp>
        <p:nvSpPr>
          <p:cNvPr id="21" name="Text 18"/>
          <p:cNvSpPr/>
          <p:nvPr/>
        </p:nvSpPr>
        <p:spPr>
          <a:xfrm>
            <a:off x="758952" y="5257800"/>
            <a:ext cx="10671048" cy="457200"/>
          </a:xfrm>
          <a:prstGeom prst="rect">
            <a:avLst/>
          </a:prstGeom>
          <a:noFill/>
          <a:ln/>
        </p:spPr>
        <p:txBody>
          <a:bodyPr wrap="square" lIns="0" tIns="0" rIns="0" bIns="0" rtlCol="0" anchor="t">
            <a:normAutofit/>
          </a:bodyPr>
          <a:lstStyle/>
          <a:p>
            <a:pPr indent="0" marL="0">
              <a:buNone/>
            </a:pPr>
            <a:r>
              <a:rPr lang="en-US" sz="1800" dirty="0">
                <a:solidFill>
                  <a:srgbClr val="203449"/>
                </a:solidFill>
                <a:latin typeface="Arial" pitchFamily="34" charset="0"/>
                <a:ea typeface="Arial" pitchFamily="34" charset="-122"/>
                <a:cs typeface="Arial" pitchFamily="34" charset="-120"/>
              </a:rPr>
              <a:t>One method uses fewer shots but deeper circuits. Which resource comparison is missing?</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TAKE-HOME</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The mental model to keep</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39</a:t>
            </a:r>
            <a:endParaRPr lang="en-US" sz="1100" dirty="0"/>
          </a:p>
        </p:txBody>
      </p:sp>
      <p:sp>
        <p:nvSpPr>
          <p:cNvPr id="10" name="Text 7"/>
          <p:cNvSpPr/>
          <p:nvPr/>
        </p:nvSpPr>
        <p:spPr>
          <a:xfrm>
            <a:off x="777240" y="1773936"/>
            <a:ext cx="667512" cy="438912"/>
          </a:xfrm>
          <a:prstGeom prst="rect">
            <a:avLst/>
          </a:prstGeom>
          <a:noFill/>
          <a:ln/>
        </p:spPr>
        <p:txBody>
          <a:bodyPr wrap="square" lIns="0" tIns="0" rIns="0" bIns="0" rtlCol="0" anchor="ctr">
            <a:normAutofit/>
          </a:bodyPr>
          <a:lstStyle/>
          <a:p>
            <a:pPr indent="0" marL="0">
              <a:buNone/>
            </a:pPr>
            <a:r>
              <a:rPr lang="en-US" sz="2400" b="1" dirty="0">
                <a:solidFill>
                  <a:srgbClr val="007F86"/>
                </a:solidFill>
                <a:latin typeface="Arial" pitchFamily="34" charset="0"/>
                <a:ea typeface="Arial" pitchFamily="34" charset="-122"/>
                <a:cs typeface="Arial" pitchFamily="34" charset="-120"/>
              </a:rPr>
              <a:t>01</a:t>
            </a:r>
            <a:endParaRPr lang="en-US" sz="2400" dirty="0"/>
          </a:p>
        </p:txBody>
      </p:sp>
      <p:sp>
        <p:nvSpPr>
          <p:cNvPr id="11" name="Text 8"/>
          <p:cNvSpPr/>
          <p:nvPr/>
        </p:nvSpPr>
        <p:spPr>
          <a:xfrm>
            <a:off x="1691640" y="1773936"/>
            <a:ext cx="9464040" cy="438912"/>
          </a:xfrm>
          <a:prstGeom prst="rect">
            <a:avLst/>
          </a:prstGeom>
          <a:noFill/>
          <a:ln/>
        </p:spPr>
        <p:txBody>
          <a:bodyPr wrap="square" lIns="0" tIns="0" rIns="0" bIns="0" rtlCol="0" anchor="ctr">
            <a:normAutofit/>
          </a:bodyPr>
          <a:lstStyle/>
          <a:p>
            <a:pPr indent="0" marL="0">
              <a:buNone/>
            </a:pPr>
            <a:r>
              <a:rPr lang="en-US" sz="2500" dirty="0">
                <a:solidFill>
                  <a:srgbClr val="142C46"/>
                </a:solidFill>
                <a:latin typeface="Arial" pitchFamily="34" charset="0"/>
                <a:ea typeface="Arial" pitchFamily="34" charset="-122"/>
                <a:cs typeface="Arial" pitchFamily="34" charset="-120"/>
              </a:rPr>
              <a:t>The filter supplies the target direction.</a:t>
            </a:r>
            <a:endParaRPr lang="en-US" sz="2500" dirty="0"/>
          </a:p>
        </p:txBody>
      </p:sp>
      <p:sp>
        <p:nvSpPr>
          <p:cNvPr id="12" name="Shape 9"/>
          <p:cNvSpPr/>
          <p:nvPr/>
        </p:nvSpPr>
        <p:spPr>
          <a:xfrm>
            <a:off x="1682496" y="2395728"/>
            <a:ext cx="9381744" cy="0"/>
          </a:xfrm>
          <a:prstGeom prst="line">
            <a:avLst/>
          </a:prstGeom>
          <a:noFill/>
          <a:ln w="12700">
            <a:solidFill>
              <a:srgbClr val="DCE6EC"/>
            </a:solidFill>
            <a:prstDash val="solid"/>
          </a:ln>
        </p:spPr>
      </p:sp>
      <p:sp>
        <p:nvSpPr>
          <p:cNvPr id="13" name="Text 10"/>
          <p:cNvSpPr/>
          <p:nvPr/>
        </p:nvSpPr>
        <p:spPr>
          <a:xfrm>
            <a:off x="777240" y="2505456"/>
            <a:ext cx="667512" cy="438912"/>
          </a:xfrm>
          <a:prstGeom prst="rect">
            <a:avLst/>
          </a:prstGeom>
          <a:noFill/>
          <a:ln/>
        </p:spPr>
        <p:txBody>
          <a:bodyPr wrap="square" lIns="0" tIns="0" rIns="0" bIns="0" rtlCol="0" anchor="ctr">
            <a:normAutofit/>
          </a:bodyPr>
          <a:lstStyle/>
          <a:p>
            <a:pPr indent="0" marL="0">
              <a:buNone/>
            </a:pPr>
            <a:r>
              <a:rPr lang="en-US" sz="2400" b="1" dirty="0">
                <a:solidFill>
                  <a:srgbClr val="007F86"/>
                </a:solidFill>
                <a:latin typeface="Arial" pitchFamily="34" charset="0"/>
                <a:ea typeface="Arial" pitchFamily="34" charset="-122"/>
                <a:cs typeface="Arial" pitchFamily="34" charset="-120"/>
              </a:rPr>
              <a:t>02</a:t>
            </a:r>
            <a:endParaRPr lang="en-US" sz="2400" dirty="0"/>
          </a:p>
        </p:txBody>
      </p:sp>
      <p:sp>
        <p:nvSpPr>
          <p:cNvPr id="14" name="Text 11"/>
          <p:cNvSpPr/>
          <p:nvPr/>
        </p:nvSpPr>
        <p:spPr>
          <a:xfrm>
            <a:off x="1691640" y="2505456"/>
            <a:ext cx="9464040" cy="438912"/>
          </a:xfrm>
          <a:prstGeom prst="rect">
            <a:avLst/>
          </a:prstGeom>
          <a:noFill/>
          <a:ln/>
        </p:spPr>
        <p:txBody>
          <a:bodyPr wrap="square" lIns="0" tIns="0" rIns="0" bIns="0" rtlCol="0" anchor="ctr">
            <a:normAutofit/>
          </a:bodyPr>
          <a:lstStyle/>
          <a:p>
            <a:pPr indent="0" marL="0">
              <a:buNone/>
            </a:pPr>
            <a:r>
              <a:rPr lang="en-US" sz="2500" dirty="0">
                <a:solidFill>
                  <a:srgbClr val="142C46"/>
                </a:solidFill>
                <a:latin typeface="Arial" pitchFamily="34" charset="0"/>
                <a:ea typeface="Arial" pitchFamily="34" charset="-122"/>
                <a:cs typeface="Arial" pitchFamily="34" charset="-120"/>
              </a:rPr>
              <a:t>The pool limits the available directions.</a:t>
            </a:r>
            <a:endParaRPr lang="en-US" sz="2500" dirty="0"/>
          </a:p>
        </p:txBody>
      </p:sp>
      <p:sp>
        <p:nvSpPr>
          <p:cNvPr id="15" name="Shape 12"/>
          <p:cNvSpPr/>
          <p:nvPr/>
        </p:nvSpPr>
        <p:spPr>
          <a:xfrm>
            <a:off x="1682496" y="3127248"/>
            <a:ext cx="9381744" cy="0"/>
          </a:xfrm>
          <a:prstGeom prst="line">
            <a:avLst/>
          </a:prstGeom>
          <a:noFill/>
          <a:ln w="12700">
            <a:solidFill>
              <a:srgbClr val="DCE6EC"/>
            </a:solidFill>
            <a:prstDash val="solid"/>
          </a:ln>
        </p:spPr>
      </p:sp>
      <p:sp>
        <p:nvSpPr>
          <p:cNvPr id="16" name="Text 13"/>
          <p:cNvSpPr/>
          <p:nvPr/>
        </p:nvSpPr>
        <p:spPr>
          <a:xfrm>
            <a:off x="777240" y="3236976"/>
            <a:ext cx="667512" cy="438912"/>
          </a:xfrm>
          <a:prstGeom prst="rect">
            <a:avLst/>
          </a:prstGeom>
          <a:noFill/>
          <a:ln/>
        </p:spPr>
        <p:txBody>
          <a:bodyPr wrap="square" lIns="0" tIns="0" rIns="0" bIns="0" rtlCol="0" anchor="ctr">
            <a:normAutofit/>
          </a:bodyPr>
          <a:lstStyle/>
          <a:p>
            <a:pPr indent="0" marL="0">
              <a:buNone/>
            </a:pPr>
            <a:r>
              <a:rPr lang="en-US" sz="2400" b="1" dirty="0">
                <a:solidFill>
                  <a:srgbClr val="007F86"/>
                </a:solidFill>
                <a:latin typeface="Arial" pitchFamily="34" charset="0"/>
                <a:ea typeface="Arial" pitchFamily="34" charset="-122"/>
                <a:cs typeface="Arial" pitchFamily="34" charset="-120"/>
              </a:rPr>
              <a:t>03</a:t>
            </a:r>
            <a:endParaRPr lang="en-US" sz="2400" dirty="0"/>
          </a:p>
        </p:txBody>
      </p:sp>
      <p:sp>
        <p:nvSpPr>
          <p:cNvPr id="17" name="Text 14"/>
          <p:cNvSpPr/>
          <p:nvPr/>
        </p:nvSpPr>
        <p:spPr>
          <a:xfrm>
            <a:off x="1691640" y="3236976"/>
            <a:ext cx="9464040" cy="438912"/>
          </a:xfrm>
          <a:prstGeom prst="rect">
            <a:avLst/>
          </a:prstGeom>
          <a:noFill/>
          <a:ln/>
        </p:spPr>
        <p:txBody>
          <a:bodyPr wrap="square" lIns="0" tIns="0" rIns="0" bIns="0" rtlCol="0" anchor="ctr">
            <a:normAutofit/>
          </a:bodyPr>
          <a:lstStyle/>
          <a:p>
            <a:pPr indent="0" marL="0">
              <a:buNone/>
            </a:pPr>
            <a:r>
              <a:rPr lang="en-US" sz="2500" dirty="0">
                <a:solidFill>
                  <a:srgbClr val="142C46"/>
                </a:solidFill>
                <a:latin typeface="Arial" pitchFamily="34" charset="0"/>
                <a:ea typeface="Arial" pitchFamily="34" charset="-122"/>
                <a:cs typeface="Arial" pitchFamily="34" charset="-120"/>
              </a:rPr>
              <a:t>Measurements estimate a Gram system.</a:t>
            </a:r>
            <a:endParaRPr lang="en-US" sz="2500" dirty="0"/>
          </a:p>
        </p:txBody>
      </p:sp>
      <p:sp>
        <p:nvSpPr>
          <p:cNvPr id="18" name="Shape 15"/>
          <p:cNvSpPr/>
          <p:nvPr/>
        </p:nvSpPr>
        <p:spPr>
          <a:xfrm>
            <a:off x="1682496" y="3858768"/>
            <a:ext cx="9381744" cy="0"/>
          </a:xfrm>
          <a:prstGeom prst="line">
            <a:avLst/>
          </a:prstGeom>
          <a:noFill/>
          <a:ln w="12700">
            <a:solidFill>
              <a:srgbClr val="DCE6EC"/>
            </a:solidFill>
            <a:prstDash val="solid"/>
          </a:ln>
        </p:spPr>
      </p:sp>
      <p:sp>
        <p:nvSpPr>
          <p:cNvPr id="19" name="Text 16"/>
          <p:cNvSpPr/>
          <p:nvPr/>
        </p:nvSpPr>
        <p:spPr>
          <a:xfrm>
            <a:off x="777240" y="3968496"/>
            <a:ext cx="667512" cy="438912"/>
          </a:xfrm>
          <a:prstGeom prst="rect">
            <a:avLst/>
          </a:prstGeom>
          <a:noFill/>
          <a:ln/>
        </p:spPr>
        <p:txBody>
          <a:bodyPr wrap="square" lIns="0" tIns="0" rIns="0" bIns="0" rtlCol="0" anchor="ctr">
            <a:normAutofit/>
          </a:bodyPr>
          <a:lstStyle/>
          <a:p>
            <a:pPr indent="0" marL="0">
              <a:buNone/>
            </a:pPr>
            <a:r>
              <a:rPr lang="en-US" sz="2400" b="1" dirty="0">
                <a:solidFill>
                  <a:srgbClr val="007F86"/>
                </a:solidFill>
                <a:latin typeface="Arial" pitchFamily="34" charset="0"/>
                <a:ea typeface="Arial" pitchFamily="34" charset="-122"/>
                <a:cs typeface="Arial" pitchFamily="34" charset="-120"/>
              </a:rPr>
              <a:t>04</a:t>
            </a:r>
            <a:endParaRPr lang="en-US" sz="2400" dirty="0"/>
          </a:p>
        </p:txBody>
      </p:sp>
      <p:sp>
        <p:nvSpPr>
          <p:cNvPr id="20" name="Text 17"/>
          <p:cNvSpPr/>
          <p:nvPr/>
        </p:nvSpPr>
        <p:spPr>
          <a:xfrm>
            <a:off x="1691640" y="3968496"/>
            <a:ext cx="9464040" cy="438912"/>
          </a:xfrm>
          <a:prstGeom prst="rect">
            <a:avLst/>
          </a:prstGeom>
          <a:noFill/>
          <a:ln/>
        </p:spPr>
        <p:txBody>
          <a:bodyPr wrap="square" lIns="0" tIns="0" rIns="0" bIns="0" rtlCol="0" anchor="ctr">
            <a:normAutofit/>
          </a:bodyPr>
          <a:lstStyle/>
          <a:p>
            <a:pPr indent="0" marL="0">
              <a:buNone/>
            </a:pPr>
            <a:r>
              <a:rPr lang="en-US" sz="2500" dirty="0">
                <a:solidFill>
                  <a:srgbClr val="142C46"/>
                </a:solidFill>
                <a:latin typeface="Arial" pitchFamily="34" charset="0"/>
                <a:ea typeface="Arial" pitchFamily="34" charset="-122"/>
                <a:cs typeface="Arial" pitchFamily="34" charset="-120"/>
              </a:rPr>
              <a:t>A classical solve chooses the unitary update.</a:t>
            </a:r>
            <a:endParaRPr lang="en-US" sz="2500" dirty="0"/>
          </a:p>
        </p:txBody>
      </p:sp>
      <p:sp>
        <p:nvSpPr>
          <p:cNvPr id="21" name="Shape 18"/>
          <p:cNvSpPr/>
          <p:nvPr/>
        </p:nvSpPr>
        <p:spPr>
          <a:xfrm>
            <a:off x="1682496" y="4590288"/>
            <a:ext cx="9381744" cy="0"/>
          </a:xfrm>
          <a:prstGeom prst="line">
            <a:avLst/>
          </a:prstGeom>
          <a:noFill/>
          <a:ln w="12700">
            <a:solidFill>
              <a:srgbClr val="DCE6EC"/>
            </a:solidFill>
            <a:prstDash val="solid"/>
          </a:ln>
        </p:spPr>
      </p:sp>
      <p:sp>
        <p:nvSpPr>
          <p:cNvPr id="22" name="Text 19"/>
          <p:cNvSpPr/>
          <p:nvPr/>
        </p:nvSpPr>
        <p:spPr>
          <a:xfrm>
            <a:off x="777240" y="4700016"/>
            <a:ext cx="667512" cy="438912"/>
          </a:xfrm>
          <a:prstGeom prst="rect">
            <a:avLst/>
          </a:prstGeom>
          <a:noFill/>
          <a:ln/>
        </p:spPr>
        <p:txBody>
          <a:bodyPr wrap="square" lIns="0" tIns="0" rIns="0" bIns="0" rtlCol="0" anchor="ctr">
            <a:normAutofit/>
          </a:bodyPr>
          <a:lstStyle/>
          <a:p>
            <a:pPr indent="0" marL="0">
              <a:buNone/>
            </a:pPr>
            <a:r>
              <a:rPr lang="en-US" sz="2400" b="1" dirty="0">
                <a:solidFill>
                  <a:srgbClr val="007F86"/>
                </a:solidFill>
                <a:latin typeface="Arial" pitchFamily="34" charset="0"/>
                <a:ea typeface="Arial" pitchFamily="34" charset="-122"/>
                <a:cs typeface="Arial" pitchFamily="34" charset="-120"/>
              </a:rPr>
              <a:t>05</a:t>
            </a:r>
            <a:endParaRPr lang="en-US" sz="2400" dirty="0"/>
          </a:p>
        </p:txBody>
      </p:sp>
      <p:sp>
        <p:nvSpPr>
          <p:cNvPr id="23" name="Text 20"/>
          <p:cNvSpPr/>
          <p:nvPr/>
        </p:nvSpPr>
        <p:spPr>
          <a:xfrm>
            <a:off x="1691640" y="4700016"/>
            <a:ext cx="9464040" cy="438912"/>
          </a:xfrm>
          <a:prstGeom prst="rect">
            <a:avLst/>
          </a:prstGeom>
          <a:noFill/>
          <a:ln/>
        </p:spPr>
        <p:txBody>
          <a:bodyPr wrap="square" lIns="0" tIns="0" rIns="0" bIns="0" rtlCol="0" anchor="ctr">
            <a:normAutofit/>
          </a:bodyPr>
          <a:lstStyle/>
          <a:p>
            <a:pPr indent="0" marL="0">
              <a:buNone/>
            </a:pPr>
            <a:r>
              <a:rPr lang="en-US" sz="2500" b="1" dirty="0">
                <a:solidFill>
                  <a:srgbClr val="142C46"/>
                </a:solidFill>
                <a:latin typeface="Arial" pitchFamily="34" charset="0"/>
                <a:ea typeface="Arial" pitchFamily="34" charset="-122"/>
                <a:cs typeface="Arial" pitchFamily="34" charset="-120"/>
              </a:rPr>
              <a:t>The full circuit and every measurement have a cost.</a:t>
            </a:r>
            <a:endParaRPr lang="en-US" sz="2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REFERENCES / FOUNDATIONS</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Primary papers: read with a purpose</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40</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[1] Motta et al.  |  [2] McArdle et al.</a:t>
            </a:r>
            <a:endParaRPr lang="en-US" sz="920" dirty="0"/>
          </a:p>
        </p:txBody>
      </p:sp>
      <p:sp>
        <p:nvSpPr>
          <p:cNvPr id="11" name="Text 8"/>
          <p:cNvSpPr/>
          <p:nvPr/>
        </p:nvSpPr>
        <p:spPr>
          <a:xfrm>
            <a:off x="713232" y="1719072"/>
            <a:ext cx="10789920" cy="292608"/>
          </a:xfrm>
          <a:prstGeom prst="rect">
            <a:avLst/>
          </a:prstGeom>
          <a:noFill/>
          <a:ln/>
        </p:spPr>
        <p:txBody>
          <a:bodyPr wrap="square" lIns="0" tIns="0" rIns="0" bIns="0" rtlCol="0" anchor="ctr">
            <a:normAutofit/>
          </a:bodyPr>
          <a:lstStyle/>
          <a:p>
            <a:pPr indent="0" marL="0">
              <a:buNone/>
            </a:pPr>
            <a:r>
              <a:rPr lang="en-US" sz="2000" b="1" dirty="0">
                <a:solidFill>
                  <a:srgbClr val="007F86"/>
                </a:solidFill>
                <a:latin typeface="Arial" pitchFamily="34" charset="0"/>
                <a:ea typeface="Arial" pitchFamily="34" charset="-122"/>
                <a:cs typeface="Arial" pitchFamily="34" charset="-120"/>
              </a:rPr>
              <a:t>[1]  Motta et al.</a:t>
            </a:r>
            <a:endParaRPr lang="en-US" sz="2000" dirty="0"/>
          </a:p>
        </p:txBody>
      </p:sp>
      <p:sp>
        <p:nvSpPr>
          <p:cNvPr id="12" name="Text 9"/>
          <p:cNvSpPr/>
          <p:nvPr/>
        </p:nvSpPr>
        <p:spPr>
          <a:xfrm>
            <a:off x="713232" y="2075688"/>
            <a:ext cx="10789920" cy="256032"/>
          </a:xfrm>
          <a:prstGeom prst="rect">
            <a:avLst/>
          </a:prstGeom>
          <a:noFill/>
          <a:ln/>
        </p:spPr>
        <p:txBody>
          <a:bodyPr wrap="square" lIns="0" tIns="0" rIns="0" bIns="0" rtlCol="0" anchor="ctr">
            <a:normAutofit/>
          </a:bodyPr>
          <a:lstStyle/>
          <a:p>
            <a:pPr indent="0" marL="0">
              <a:buNone/>
            </a:pPr>
            <a:r>
              <a:rPr lang="en-US" sz="1700" dirty="0">
                <a:solidFill>
                  <a:srgbClr val="203449"/>
                </a:solidFill>
                <a:latin typeface="Arial" pitchFamily="34" charset="0"/>
                <a:ea typeface="Arial" pitchFamily="34" charset="-122"/>
                <a:cs typeface="Arial" pitchFamily="34" charset="-120"/>
              </a:rPr>
              <a:t>Local-unitary QITE and quantum Lanczos. Nature Physics 16, 205–210 (2020).</a:t>
            </a:r>
            <a:endParaRPr lang="en-US" sz="1700" dirty="0"/>
          </a:p>
        </p:txBody>
      </p:sp>
      <p:sp>
        <p:nvSpPr>
          <p:cNvPr id="13" name="Text 10"/>
          <p:cNvSpPr/>
          <p:nvPr/>
        </p:nvSpPr>
        <p:spPr>
          <a:xfrm>
            <a:off x="713232" y="2414016"/>
            <a:ext cx="10789920" cy="201168"/>
          </a:xfrm>
          <a:prstGeom prst="rect">
            <a:avLst/>
          </a:prstGeom>
          <a:noFill/>
          <a:ln/>
        </p:spPr>
        <p:txBody>
          <a:bodyPr wrap="square" lIns="0" tIns="0" rIns="0" bIns="0" rtlCol="0" anchor="ctr">
            <a:normAutofit/>
          </a:bodyPr>
          <a:lstStyle/>
          <a:p>
            <a:pPr indent="0" marL="0">
              <a:buNone/>
            </a:pPr>
            <a:r>
              <a:rPr lang="en-US" sz="1300" dirty="0">
                <a:solidFill>
                  <a:srgbClr val="576775"/>
                </a:solidFill>
                <a:latin typeface="Arial" pitchFamily="34" charset="0"/>
                <a:ea typeface="Arial" pitchFamily="34" charset="-122"/>
                <a:cs typeface="Arial" pitchFamily="34" charset="-120"/>
              </a:rPr>
              <a:t>arXiv:1901.07653</a:t>
            </a:r>
            <a:endParaRPr lang="en-US" sz="1300" dirty="0"/>
          </a:p>
        </p:txBody>
      </p:sp>
      <p:sp>
        <p:nvSpPr>
          <p:cNvPr id="14" name="Text 11"/>
          <p:cNvSpPr/>
          <p:nvPr/>
        </p:nvSpPr>
        <p:spPr>
          <a:xfrm>
            <a:off x="713232" y="2752344"/>
            <a:ext cx="10789920" cy="292608"/>
          </a:xfrm>
          <a:prstGeom prst="rect">
            <a:avLst/>
          </a:prstGeom>
          <a:noFill/>
          <a:ln/>
        </p:spPr>
        <p:txBody>
          <a:bodyPr wrap="square" lIns="0" tIns="0" rIns="0" bIns="0" rtlCol="0" anchor="ctr">
            <a:normAutofit/>
          </a:bodyPr>
          <a:lstStyle/>
          <a:p>
            <a:pPr indent="0" marL="0">
              <a:buNone/>
            </a:pPr>
            <a:r>
              <a:rPr lang="en-US" sz="2000" b="1" dirty="0">
                <a:solidFill>
                  <a:srgbClr val="007F86"/>
                </a:solidFill>
                <a:latin typeface="Arial" pitchFamily="34" charset="0"/>
                <a:ea typeface="Arial" pitchFamily="34" charset="-122"/>
                <a:cs typeface="Arial" pitchFamily="34" charset="-120"/>
              </a:rPr>
              <a:t>[2–3]  McArdle et al.; Yuan et al.</a:t>
            </a:r>
            <a:endParaRPr lang="en-US" sz="2000" dirty="0"/>
          </a:p>
        </p:txBody>
      </p:sp>
      <p:sp>
        <p:nvSpPr>
          <p:cNvPr id="15" name="Text 12"/>
          <p:cNvSpPr/>
          <p:nvPr/>
        </p:nvSpPr>
        <p:spPr>
          <a:xfrm>
            <a:off x="713232" y="3108960"/>
            <a:ext cx="10789920" cy="256032"/>
          </a:xfrm>
          <a:prstGeom prst="rect">
            <a:avLst/>
          </a:prstGeom>
          <a:noFill/>
          <a:ln/>
        </p:spPr>
        <p:txBody>
          <a:bodyPr wrap="square" lIns="0" tIns="0" rIns="0" bIns="0" rtlCol="0" anchor="ctr">
            <a:normAutofit/>
          </a:bodyPr>
          <a:lstStyle/>
          <a:p>
            <a:pPr indent="0" marL="0">
              <a:buNone/>
            </a:pPr>
            <a:r>
              <a:rPr lang="en-US" sz="1700" dirty="0">
                <a:solidFill>
                  <a:srgbClr val="203449"/>
                </a:solidFill>
                <a:latin typeface="Arial" pitchFamily="34" charset="0"/>
                <a:ea typeface="Arial" pitchFamily="34" charset="-122"/>
                <a:cs typeface="Arial" pitchFamily="34" charset="-120"/>
              </a:rPr>
              <a:t>Variational imaginary-time evolution and its broader theory.</a:t>
            </a:r>
            <a:endParaRPr lang="en-US" sz="1700" dirty="0"/>
          </a:p>
        </p:txBody>
      </p:sp>
      <p:sp>
        <p:nvSpPr>
          <p:cNvPr id="16" name="Text 13"/>
          <p:cNvSpPr/>
          <p:nvPr/>
        </p:nvSpPr>
        <p:spPr>
          <a:xfrm>
            <a:off x="713232" y="3447288"/>
            <a:ext cx="10789920" cy="201168"/>
          </a:xfrm>
          <a:prstGeom prst="rect">
            <a:avLst/>
          </a:prstGeom>
          <a:noFill/>
          <a:ln/>
        </p:spPr>
        <p:txBody>
          <a:bodyPr wrap="square" lIns="0" tIns="0" rIns="0" bIns="0" rtlCol="0" anchor="ctr">
            <a:normAutofit/>
          </a:bodyPr>
          <a:lstStyle/>
          <a:p>
            <a:pPr indent="0" marL="0">
              <a:buNone/>
            </a:pPr>
            <a:r>
              <a:rPr lang="en-US" sz="1300" dirty="0">
                <a:solidFill>
                  <a:srgbClr val="576775"/>
                </a:solidFill>
                <a:latin typeface="Arial" pitchFamily="34" charset="0"/>
                <a:ea typeface="Arial" pitchFamily="34" charset="-122"/>
                <a:cs typeface="Arial" pitchFamily="34" charset="-120"/>
              </a:rPr>
              <a:t>arXiv:1804.03023; Quantum 3, 191 (2019)</a:t>
            </a:r>
            <a:endParaRPr lang="en-US" sz="1300" dirty="0"/>
          </a:p>
        </p:txBody>
      </p:sp>
      <p:sp>
        <p:nvSpPr>
          <p:cNvPr id="17" name="Text 14"/>
          <p:cNvSpPr/>
          <p:nvPr/>
        </p:nvSpPr>
        <p:spPr>
          <a:xfrm>
            <a:off x="713232" y="3785616"/>
            <a:ext cx="10789920" cy="292608"/>
          </a:xfrm>
          <a:prstGeom prst="rect">
            <a:avLst/>
          </a:prstGeom>
          <a:noFill/>
          <a:ln/>
        </p:spPr>
        <p:txBody>
          <a:bodyPr wrap="square" lIns="0" tIns="0" rIns="0" bIns="0" rtlCol="0" anchor="ctr">
            <a:normAutofit/>
          </a:bodyPr>
          <a:lstStyle/>
          <a:p>
            <a:pPr indent="0" marL="0">
              <a:buNone/>
            </a:pPr>
            <a:r>
              <a:rPr lang="en-US" sz="2000" b="1" dirty="0">
                <a:solidFill>
                  <a:srgbClr val="007F86"/>
                </a:solidFill>
                <a:latin typeface="Arial" pitchFamily="34" charset="0"/>
                <a:ea typeface="Arial" pitchFamily="34" charset="-122"/>
                <a:cs typeface="Arial" pitchFamily="34" charset="-120"/>
              </a:rPr>
              <a:t>[4]  Cortes &amp; Gray</a:t>
            </a:r>
            <a:endParaRPr lang="en-US" sz="2000" dirty="0"/>
          </a:p>
        </p:txBody>
      </p:sp>
      <p:sp>
        <p:nvSpPr>
          <p:cNvPr id="18" name="Text 15"/>
          <p:cNvSpPr/>
          <p:nvPr/>
        </p:nvSpPr>
        <p:spPr>
          <a:xfrm>
            <a:off x="713232" y="4142232"/>
            <a:ext cx="10789920" cy="256032"/>
          </a:xfrm>
          <a:prstGeom prst="rect">
            <a:avLst/>
          </a:prstGeom>
          <a:noFill/>
          <a:ln/>
        </p:spPr>
        <p:txBody>
          <a:bodyPr wrap="square" lIns="0" tIns="0" rIns="0" bIns="0" rtlCol="0" anchor="ctr">
            <a:normAutofit/>
          </a:bodyPr>
          <a:lstStyle/>
          <a:p>
            <a:pPr indent="0" marL="0">
              <a:buNone/>
            </a:pPr>
            <a:r>
              <a:rPr lang="en-US" sz="1700" dirty="0">
                <a:solidFill>
                  <a:srgbClr val="203449"/>
                </a:solidFill>
                <a:latin typeface="Arial" pitchFamily="34" charset="0"/>
                <a:ea typeface="Arial" pitchFamily="34" charset="-122"/>
                <a:cs typeface="Arial" pitchFamily="34" charset="-120"/>
              </a:rPr>
              <a:t>Quantum Krylov subspace algorithms for energy estimation.</a:t>
            </a:r>
            <a:endParaRPr lang="en-US" sz="1700" dirty="0"/>
          </a:p>
        </p:txBody>
      </p:sp>
      <p:sp>
        <p:nvSpPr>
          <p:cNvPr id="19" name="Text 16"/>
          <p:cNvSpPr/>
          <p:nvPr/>
        </p:nvSpPr>
        <p:spPr>
          <a:xfrm>
            <a:off x="713232" y="4480560"/>
            <a:ext cx="10789920" cy="201168"/>
          </a:xfrm>
          <a:prstGeom prst="rect">
            <a:avLst/>
          </a:prstGeom>
          <a:noFill/>
          <a:ln/>
        </p:spPr>
        <p:txBody>
          <a:bodyPr wrap="square" lIns="0" tIns="0" rIns="0" bIns="0" rtlCol="0" anchor="ctr">
            <a:normAutofit/>
          </a:bodyPr>
          <a:lstStyle/>
          <a:p>
            <a:pPr indent="0" marL="0">
              <a:buNone/>
            </a:pPr>
            <a:r>
              <a:rPr lang="en-US" sz="1300" dirty="0">
                <a:solidFill>
                  <a:srgbClr val="576775"/>
                </a:solidFill>
                <a:latin typeface="Arial" pitchFamily="34" charset="0"/>
                <a:ea typeface="Arial" pitchFamily="34" charset="-122"/>
                <a:cs typeface="Arial" pitchFamily="34" charset="-120"/>
              </a:rPr>
              <a:t>arXiv:2109.06868</a:t>
            </a:r>
            <a:endParaRPr lang="en-US" sz="1300" dirty="0"/>
          </a:p>
        </p:txBody>
      </p:sp>
      <p:sp>
        <p:nvSpPr>
          <p:cNvPr id="20" name="Text 17"/>
          <p:cNvSpPr/>
          <p:nvPr/>
        </p:nvSpPr>
        <p:spPr>
          <a:xfrm>
            <a:off x="713232" y="4818888"/>
            <a:ext cx="10789920" cy="292608"/>
          </a:xfrm>
          <a:prstGeom prst="rect">
            <a:avLst/>
          </a:prstGeom>
          <a:noFill/>
          <a:ln/>
        </p:spPr>
        <p:txBody>
          <a:bodyPr wrap="square" lIns="0" tIns="0" rIns="0" bIns="0" rtlCol="0" anchor="ctr">
            <a:normAutofit/>
          </a:bodyPr>
          <a:lstStyle/>
          <a:p>
            <a:pPr indent="0" marL="0">
              <a:buNone/>
            </a:pPr>
            <a:r>
              <a:rPr lang="en-US" sz="2000" b="1" dirty="0">
                <a:solidFill>
                  <a:srgbClr val="007F86"/>
                </a:solidFill>
                <a:latin typeface="Arial" pitchFamily="34" charset="0"/>
                <a:ea typeface="Arial" pitchFamily="34" charset="-122"/>
                <a:cs typeface="Arial" pitchFamily="34" charset="-120"/>
              </a:rPr>
              <a:t>[5]  Epperly, Lin &amp; Nakatsukasa</a:t>
            </a:r>
            <a:endParaRPr lang="en-US" sz="2000" dirty="0"/>
          </a:p>
        </p:txBody>
      </p:sp>
      <p:sp>
        <p:nvSpPr>
          <p:cNvPr id="21" name="Text 18"/>
          <p:cNvSpPr/>
          <p:nvPr/>
        </p:nvSpPr>
        <p:spPr>
          <a:xfrm>
            <a:off x="713232" y="5175504"/>
            <a:ext cx="10789920" cy="256032"/>
          </a:xfrm>
          <a:prstGeom prst="rect">
            <a:avLst/>
          </a:prstGeom>
          <a:noFill/>
          <a:ln/>
        </p:spPr>
        <p:txBody>
          <a:bodyPr wrap="square" lIns="0" tIns="0" rIns="0" bIns="0" rtlCol="0" anchor="ctr">
            <a:normAutofit/>
          </a:bodyPr>
          <a:lstStyle/>
          <a:p>
            <a:pPr indent="0" marL="0">
              <a:buNone/>
            </a:pPr>
            <a:r>
              <a:rPr lang="en-US" sz="1700" dirty="0">
                <a:solidFill>
                  <a:srgbClr val="203449"/>
                </a:solidFill>
                <a:latin typeface="Arial" pitchFamily="34" charset="0"/>
                <a:ea typeface="Arial" pitchFamily="34" charset="-122"/>
                <a:cs typeface="Arial" pitchFamily="34" charset="-120"/>
              </a:rPr>
              <a:t>Conditioning and thresholding in quantum subspace diagonalization.</a:t>
            </a:r>
            <a:endParaRPr lang="en-US" sz="1700" dirty="0"/>
          </a:p>
        </p:txBody>
      </p:sp>
      <p:sp>
        <p:nvSpPr>
          <p:cNvPr id="22" name="Text 19"/>
          <p:cNvSpPr/>
          <p:nvPr/>
        </p:nvSpPr>
        <p:spPr>
          <a:xfrm>
            <a:off x="713232" y="5513832"/>
            <a:ext cx="10789920" cy="201168"/>
          </a:xfrm>
          <a:prstGeom prst="rect">
            <a:avLst/>
          </a:prstGeom>
          <a:noFill/>
          <a:ln/>
        </p:spPr>
        <p:txBody>
          <a:bodyPr wrap="square" lIns="0" tIns="0" rIns="0" bIns="0" rtlCol="0" anchor="ctr">
            <a:normAutofit/>
          </a:bodyPr>
          <a:lstStyle/>
          <a:p>
            <a:pPr indent="0" marL="0">
              <a:buNone/>
            </a:pPr>
            <a:r>
              <a:rPr lang="en-US" sz="1300" dirty="0">
                <a:solidFill>
                  <a:srgbClr val="576775"/>
                </a:solidFill>
                <a:latin typeface="Arial" pitchFamily="34" charset="0"/>
                <a:ea typeface="Arial" pitchFamily="34" charset="-122"/>
                <a:cs typeface="Arial" pitchFamily="34" charset="-120"/>
              </a:rPr>
              <a:t>arXiv:2110.07492</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
          </a:xfrm>
          <a:prstGeom prst="rect">
            <a:avLst/>
          </a:prstGeom>
          <a:solidFill>
            <a:srgbClr val="007F86"/>
          </a:solidFill>
          <a:ln w="12700">
            <a:solidFill>
              <a:srgbClr val="333333">
                <a:alpha val="0"/>
              </a:srgbClr>
            </a:solidFill>
            <a:prstDash val="solid"/>
          </a:ln>
        </p:spPr>
      </p:sp>
      <p:sp>
        <p:nvSpPr>
          <p:cNvPr id="3" name="Text 1"/>
          <p:cNvSpPr/>
          <p:nvPr/>
        </p:nvSpPr>
        <p:spPr>
          <a:xfrm>
            <a:off x="548640" y="256032"/>
            <a:ext cx="10972800" cy="228600"/>
          </a:xfrm>
          <a:prstGeom prst="rect">
            <a:avLst/>
          </a:prstGeom>
          <a:noFill/>
          <a:ln/>
        </p:spPr>
        <p:txBody>
          <a:bodyPr wrap="square" lIns="0" tIns="0" rIns="0" bIns="0" rtlCol="0" anchor="ctr">
            <a:normAutofit/>
          </a:bodyPr>
          <a:lstStyle/>
          <a:p>
            <a:pPr indent="0" marL="0">
              <a:buNone/>
            </a:pPr>
            <a:r>
              <a:rPr lang="en-US" sz="1080" b="1" spc="170" kern="0" dirty="0">
                <a:solidFill>
                  <a:srgbClr val="007F86"/>
                </a:solidFill>
                <a:latin typeface="Arial" pitchFamily="34" charset="0"/>
                <a:ea typeface="Arial" pitchFamily="34" charset="-122"/>
                <a:cs typeface="Arial" pitchFamily="34" charset="-120"/>
              </a:rPr>
              <a:t>REFERENCES / PRACTICE</a:t>
            </a:r>
            <a:endParaRPr lang="en-US" sz="1080" dirty="0"/>
          </a:p>
        </p:txBody>
      </p:sp>
      <p:sp>
        <p:nvSpPr>
          <p:cNvPr id="4" name="Text 2"/>
          <p:cNvSpPr/>
          <p:nvPr/>
        </p:nvSpPr>
        <p:spPr>
          <a:xfrm>
            <a:off x="548640" y="722376"/>
            <a:ext cx="11091672" cy="585216"/>
          </a:xfrm>
          <a:prstGeom prst="rect">
            <a:avLst/>
          </a:prstGeom>
          <a:noFill/>
          <a:ln/>
        </p:spPr>
        <p:txBody>
          <a:bodyPr wrap="square" lIns="0" tIns="0" rIns="0" bIns="0" rtlCol="0" anchor="ctr">
            <a:normAutofit/>
          </a:bodyPr>
          <a:lstStyle/>
          <a:p>
            <a:pPr indent="0" marL="0">
              <a:buNone/>
            </a:pPr>
            <a:r>
              <a:rPr lang="en-US" sz="3300" b="1" dirty="0">
                <a:solidFill>
                  <a:srgbClr val="142C46"/>
                </a:solidFill>
                <a:latin typeface="Arial" pitchFamily="34" charset="0"/>
                <a:ea typeface="Arial" pitchFamily="34" charset="-122"/>
                <a:cs typeface="Arial" pitchFamily="34" charset="-120"/>
              </a:rPr>
              <a:t>Documentation and reproducible learning files</a:t>
            </a:r>
            <a:endParaRPr lang="en-US" sz="3300" dirty="0"/>
          </a:p>
        </p:txBody>
      </p:sp>
      <p:sp>
        <p:nvSpPr>
          <p:cNvPr id="5" name="Shape 3"/>
          <p:cNvSpPr/>
          <p:nvPr/>
        </p:nvSpPr>
        <p:spPr>
          <a:xfrm>
            <a:off x="548640" y="1417320"/>
            <a:ext cx="11091672" cy="0"/>
          </a:xfrm>
          <a:prstGeom prst="line">
            <a:avLst/>
          </a:prstGeom>
          <a:noFill/>
          <a:ln w="12700">
            <a:solidFill>
              <a:srgbClr val="DCE6EC"/>
            </a:solidFill>
            <a:prstDash val="solid"/>
          </a:ln>
        </p:spPr>
      </p:sp>
      <p:sp>
        <p:nvSpPr>
          <p:cNvPr id="6" name="Shape 4"/>
          <p:cNvSpPr/>
          <p:nvPr/>
        </p:nvSpPr>
        <p:spPr>
          <a:xfrm>
            <a:off x="548640" y="6318504"/>
            <a:ext cx="11091672" cy="0"/>
          </a:xfrm>
          <a:prstGeom prst="line">
            <a:avLst/>
          </a:prstGeom>
          <a:noFill/>
          <a:ln w="12700">
            <a:solidFill>
              <a:srgbClr val="DCE6EC"/>
            </a:solidFill>
            <a:prstDash val="solid"/>
          </a:ln>
        </p:spPr>
      </p:sp>
      <p:sp>
        <p:nvSpPr>
          <p:cNvPr id="7" name="Text 5"/>
          <p:cNvSpPr/>
          <p:nvPr/>
        </p:nvSpPr>
        <p:spPr>
          <a:xfrm>
            <a:off x="548640" y="6437376"/>
            <a:ext cx="8229600" cy="173736"/>
          </a:xfrm>
          <a:prstGeom prst="rect">
            <a:avLst/>
          </a:prstGeom>
          <a:noFill/>
          <a:ln/>
        </p:spPr>
        <p:txBody>
          <a:bodyPr wrap="square" lIns="0" tIns="0" rIns="0" bIns="0" rtlCol="0" anchor="ctr">
            <a:normAutofit/>
          </a:bodyPr>
          <a:lstStyle/>
          <a:p>
            <a:pPr indent="0" marL="0">
              <a:buNone/>
            </a:pPr>
            <a:r>
              <a:rPr lang="en-US" sz="950" spc="80" kern="0" dirty="0">
                <a:solidFill>
                  <a:srgbClr val="576775"/>
                </a:solidFill>
                <a:latin typeface="Arial" pitchFamily="34" charset="0"/>
                <a:ea typeface="Arial" pitchFamily="34" charset="-122"/>
                <a:cs typeface="Arial" pitchFamily="34" charset="-120"/>
              </a:rPr>
              <a:t>QITE  /  A LEARNING GUIDE</a:t>
            </a:r>
            <a:endParaRPr lang="en-US" sz="950" dirty="0"/>
          </a:p>
        </p:txBody>
      </p:sp>
      <p:sp>
        <p:nvSpPr>
          <p:cNvPr id="8" name="Text 6"/>
          <p:cNvSpPr/>
          <p:nvPr/>
        </p:nvSpPr>
        <p:spPr>
          <a:xfrm>
            <a:off x="11155680" y="6409944"/>
            <a:ext cx="475488" cy="228600"/>
          </a:xfrm>
          <a:prstGeom prst="rect">
            <a:avLst/>
          </a:prstGeom>
          <a:noFill/>
          <a:ln/>
        </p:spPr>
        <p:txBody>
          <a:bodyPr wrap="square" lIns="0" tIns="0" rIns="0" bIns="0" rtlCol="0" anchor="ctr">
            <a:normAutofit/>
          </a:bodyPr>
          <a:lstStyle/>
          <a:p>
            <a:pPr algn="r" indent="0" marL="0">
              <a:buNone/>
            </a:pPr>
            <a:r>
              <a:rPr lang="en-US" sz="1100" dirty="0">
                <a:solidFill>
                  <a:srgbClr val="576775"/>
                </a:solidFill>
                <a:latin typeface="Arial" pitchFamily="34" charset="0"/>
                <a:ea typeface="Arial" pitchFamily="34" charset="-122"/>
                <a:cs typeface="Arial" pitchFamily="34" charset="-120"/>
              </a:rPr>
              <a:t>41</a:t>
            </a:r>
            <a:endParaRPr lang="en-US" sz="1100" dirty="0"/>
          </a:p>
        </p:txBody>
      </p:sp>
      <p:sp>
        <p:nvSpPr>
          <p:cNvPr id="9" name="Text 7"/>
          <p:cNvSpPr/>
          <p:nvPr/>
        </p:nvSpPr>
        <p:spPr>
          <a:xfrm>
            <a:off x="548640" y="6071616"/>
            <a:ext cx="11091672" cy="201168"/>
          </a:xfrm>
          <a:prstGeom prst="rect">
            <a:avLst/>
          </a:prstGeom>
          <a:noFill/>
          <a:ln/>
        </p:spPr>
        <p:txBody>
          <a:bodyPr wrap="square" lIns="0" tIns="0" rIns="0" bIns="0" rtlCol="0" anchor="ctr">
            <a:normAutofit/>
          </a:bodyPr>
          <a:lstStyle/>
          <a:p>
            <a:pPr indent="0" marL="0">
              <a:buNone/>
            </a:pPr>
            <a:r>
              <a:rPr lang="en-US" sz="920" dirty="0">
                <a:solidFill>
                  <a:srgbClr val="576775"/>
                </a:solidFill>
                <a:latin typeface="Arial" pitchFamily="34" charset="0"/>
                <a:ea typeface="Arial" pitchFamily="34" charset="-122"/>
                <a:cs typeface="Arial" pitchFamily="34" charset="-120"/>
              </a:rPr>
              <a:t>[6] OpenFermion  |  [7] Qiskit Algorithms  |  [8–9] Quantinuum documentation</a:t>
            </a:r>
            <a:endParaRPr lang="en-US" sz="920" dirty="0"/>
          </a:p>
        </p:txBody>
      </p:sp>
      <p:sp>
        <p:nvSpPr>
          <p:cNvPr id="11" name="Shape 8"/>
          <p:cNvSpPr/>
          <p:nvPr/>
        </p:nvSpPr>
        <p:spPr>
          <a:xfrm>
            <a:off x="548640" y="1792224"/>
            <a:ext cx="5394960" cy="1764792"/>
          </a:xfrm>
          <a:prstGeom prst="roundRect">
            <a:avLst>
              <a:gd name="adj" fmla="val 5181"/>
            </a:avLst>
          </a:prstGeom>
          <a:solidFill>
            <a:srgbClr val="EEF6F6"/>
          </a:solidFill>
          <a:ln w="12700">
            <a:solidFill>
              <a:srgbClr val="EEF6F6">
                <a:alpha val="0"/>
              </a:srgbClr>
            </a:solidFill>
            <a:prstDash val="solid"/>
          </a:ln>
        </p:spPr>
      </p:sp>
      <p:sp>
        <p:nvSpPr>
          <p:cNvPr id="12" name="Text 9"/>
          <p:cNvSpPr/>
          <p:nvPr/>
        </p:nvSpPr>
        <p:spPr>
          <a:xfrm>
            <a:off x="758952" y="193852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[6]  OPENFERMION</a:t>
            </a:r>
            <a:endParaRPr lang="en-US" sz="1800" dirty="0"/>
          </a:p>
        </p:txBody>
      </p:sp>
      <p:sp>
        <p:nvSpPr>
          <p:cNvPr id="13" name="Text 10"/>
          <p:cNvSpPr/>
          <p:nvPr/>
        </p:nvSpPr>
        <p:spPr>
          <a:xfrm>
            <a:off x="758952" y="2386584"/>
            <a:ext cx="4974336" cy="1069848"/>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Electronic-structure tutorial</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Explicit H₂ Hamiltonian and conventions</a:t>
            </a:r>
            <a:endParaRPr lang="en-US" sz="2100" dirty="0"/>
          </a:p>
        </p:txBody>
      </p:sp>
      <p:sp>
        <p:nvSpPr>
          <p:cNvPr id="14" name="Shape 11"/>
          <p:cNvSpPr/>
          <p:nvPr/>
        </p:nvSpPr>
        <p:spPr>
          <a:xfrm>
            <a:off x="6236208" y="1792224"/>
            <a:ext cx="5394960" cy="1764792"/>
          </a:xfrm>
          <a:prstGeom prst="roundRect">
            <a:avLst>
              <a:gd name="adj" fmla="val 5181"/>
            </a:avLst>
          </a:prstGeom>
          <a:solidFill>
            <a:srgbClr val="EEF6F6"/>
          </a:solidFill>
          <a:ln w="12700">
            <a:solidFill>
              <a:srgbClr val="EEF6F6">
                <a:alpha val="0"/>
              </a:srgbClr>
            </a:solidFill>
            <a:prstDash val="solid"/>
          </a:ln>
        </p:spPr>
      </p:sp>
      <p:sp>
        <p:nvSpPr>
          <p:cNvPr id="15" name="Text 12"/>
          <p:cNvSpPr/>
          <p:nvPr/>
        </p:nvSpPr>
        <p:spPr>
          <a:xfrm>
            <a:off x="6446520" y="1938528"/>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[7]  QISKIT ALGORITHMS</a:t>
            </a:r>
            <a:endParaRPr lang="en-US" sz="1800" dirty="0"/>
          </a:p>
        </p:txBody>
      </p:sp>
      <p:sp>
        <p:nvSpPr>
          <p:cNvPr id="16" name="Text 13"/>
          <p:cNvSpPr/>
          <p:nvPr/>
        </p:nvSpPr>
        <p:spPr>
          <a:xfrm>
            <a:off x="6446520" y="2386584"/>
            <a:ext cx="4974336" cy="1069848"/>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Variational time-evolution tutorial</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A separate ansatz-based formulation</a:t>
            </a:r>
            <a:endParaRPr lang="en-US" sz="2100" dirty="0"/>
          </a:p>
        </p:txBody>
      </p:sp>
      <p:sp>
        <p:nvSpPr>
          <p:cNvPr id="17" name="Shape 14"/>
          <p:cNvSpPr/>
          <p:nvPr/>
        </p:nvSpPr>
        <p:spPr>
          <a:xfrm>
            <a:off x="548640" y="3822192"/>
            <a:ext cx="5394960" cy="1764792"/>
          </a:xfrm>
          <a:prstGeom prst="roundRect">
            <a:avLst>
              <a:gd name="adj" fmla="val 5181"/>
            </a:avLst>
          </a:prstGeom>
          <a:solidFill>
            <a:srgbClr val="EEF6F6"/>
          </a:solidFill>
          <a:ln w="12700">
            <a:solidFill>
              <a:srgbClr val="EEF6F6">
                <a:alpha val="0"/>
              </a:srgbClr>
            </a:solidFill>
            <a:prstDash val="solid"/>
          </a:ln>
        </p:spPr>
      </p:sp>
      <p:sp>
        <p:nvSpPr>
          <p:cNvPr id="18" name="Text 15"/>
          <p:cNvSpPr/>
          <p:nvPr/>
        </p:nvSpPr>
        <p:spPr>
          <a:xfrm>
            <a:off x="758952" y="3968496"/>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[8–9]  QUANTINUUM</a:t>
            </a:r>
            <a:endParaRPr lang="en-US" sz="1800" dirty="0"/>
          </a:p>
        </p:txBody>
      </p:sp>
      <p:sp>
        <p:nvSpPr>
          <p:cNvPr id="19" name="Text 16"/>
          <p:cNvSpPr/>
          <p:nvPr/>
        </p:nvSpPr>
        <p:spPr>
          <a:xfrm>
            <a:off x="758952" y="4416552"/>
            <a:ext cx="4974336" cy="1069848"/>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Selected-system workflow and costing</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Verify device and software versions</a:t>
            </a:r>
            <a:endParaRPr lang="en-US" sz="2100" dirty="0"/>
          </a:p>
        </p:txBody>
      </p:sp>
      <p:sp>
        <p:nvSpPr>
          <p:cNvPr id="20" name="Shape 17"/>
          <p:cNvSpPr/>
          <p:nvPr/>
        </p:nvSpPr>
        <p:spPr>
          <a:xfrm>
            <a:off x="6236208" y="3822192"/>
            <a:ext cx="5394960" cy="1764792"/>
          </a:xfrm>
          <a:prstGeom prst="roundRect">
            <a:avLst>
              <a:gd name="adj" fmla="val 5181"/>
            </a:avLst>
          </a:prstGeom>
          <a:solidFill>
            <a:srgbClr val="FFF3DD"/>
          </a:solidFill>
          <a:ln w="12700">
            <a:solidFill>
              <a:srgbClr val="FFF3DD">
                <a:alpha val="0"/>
              </a:srgbClr>
            </a:solidFill>
            <a:prstDash val="solid"/>
          </a:ln>
        </p:spPr>
      </p:sp>
      <p:sp>
        <p:nvSpPr>
          <p:cNvPr id="21" name="Text 18"/>
          <p:cNvSpPr/>
          <p:nvPr/>
        </p:nvSpPr>
        <p:spPr>
          <a:xfrm>
            <a:off x="6446520" y="3968496"/>
            <a:ext cx="4974336" cy="320040"/>
          </a:xfrm>
          <a:prstGeom prst="rect">
            <a:avLst/>
          </a:prstGeom>
          <a:noFill/>
          <a:ln/>
        </p:spPr>
        <p:txBody>
          <a:bodyPr wrap="square" lIns="0" tIns="0" rIns="0" bIns="0" rtlCol="0" anchor="ctr">
            <a:normAutofit/>
          </a:bodyPr>
          <a:lstStyle/>
          <a:p>
            <a:pPr indent="0" marL="0">
              <a:buNone/>
            </a:pPr>
            <a:r>
              <a:rPr lang="en-US" sz="1800" b="1" dirty="0">
                <a:solidFill>
                  <a:srgbClr val="007F86"/>
                </a:solidFill>
                <a:latin typeface="Arial" pitchFamily="34" charset="0"/>
                <a:ea typeface="Arial" pitchFamily="34" charset="-122"/>
                <a:cs typeface="Arial" pitchFamily="34" charset="-120"/>
              </a:rPr>
              <a:t>YOUR COMPANION MATERIALS</a:t>
            </a:r>
            <a:endParaRPr lang="en-US" sz="1800" dirty="0"/>
          </a:p>
        </p:txBody>
      </p:sp>
      <p:sp>
        <p:nvSpPr>
          <p:cNvPr id="22" name="Text 19"/>
          <p:cNvSpPr/>
          <p:nvPr/>
        </p:nvSpPr>
        <p:spPr>
          <a:xfrm>
            <a:off x="6446520" y="4416552"/>
            <a:ext cx="4974336" cy="1069848"/>
          </a:xfrm>
          <a:prstGeom prst="rect">
            <a:avLst/>
          </a:prstGeom>
          <a:noFill/>
          <a:ln/>
        </p:spPr>
        <p:txBody>
          <a:bodyPr wrap="square" lIns="0" tIns="0" rIns="0" bIns="0" rtlCol="0" anchor="t">
            <a:normAutofit/>
          </a:bodyPr>
          <a:lstStyle/>
          <a:p>
            <a:pPr indent="0" marL="0">
              <a:buNone/>
            </a:pPr>
            <a:r>
              <a:rPr lang="en-US" sz="2100" dirty="0">
                <a:solidFill>
                  <a:srgbClr val="203449"/>
                </a:solidFill>
                <a:latin typeface="Arial" pitchFamily="34" charset="0"/>
                <a:ea typeface="Arial" pitchFamily="34" charset="-122"/>
                <a:cs typeface="Arial" pitchFamily="34" charset="-120"/>
              </a:rPr>
              <a:t>PDF + self-contained LaTeX</a:t>
            </a:r>
            <a:endParaRPr lang="en-US" sz="2100" dirty="0"/>
          </a:p>
          <a:p>
            <a:pPr indent="0" marL="0">
              <a:buNone/>
            </a:pPr>
            <a:r>
              <a:rPr lang="en-US" sz="2100" dirty="0">
                <a:solidFill>
                  <a:srgbClr val="203449"/>
                </a:solidFill>
                <a:latin typeface="Arial" pitchFamily="34" charset="0"/>
                <a:ea typeface="Arial" pitchFamily="34" charset="-122"/>
                <a:cs typeface="Arial" pitchFamily="34" charset="-120"/>
              </a:rPr>
              <a:t>Python tests, figures, and raw CSV data</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Learning materials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Imaginary-Time Evolution (QITE)</dc:title>
  <dc:subject>Quantum Imaginary-Time Evolution: a teaching deck</dc:subject>
  <dc:creator>OpenAI</dc:creator>
  <cp:lastModifiedBy>OpenAI</cp:lastModifiedBy>
  <cp:revision>1</cp:revision>
  <dcterms:created xsi:type="dcterms:W3CDTF">2026-10-08T10:03:46Z</dcterms:created>
  <dcterms:modified xsi:type="dcterms:W3CDTF">2026-10-08T10:03:46Z</dcterms:modified>
</cp:coreProperties>
</file>