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Quantum Imaginary-Time Evolution (QITE)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8D6F0"/>
                </a:solidFill>
                <a:latin typeface="Calibri"/>
              </a:rPr>
              <a:t>Ground-state energies on a quantum computer — and how to benchmark it against Quantum Krylov on Quantinuum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8D6F0"/>
                </a:solidFill>
                <a:latin typeface="Calibri"/>
              </a:rPr>
              <a:t>Prajjwal · 2026-10-08 · companion to quantum-imaginary-time-evolution.pdf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Goal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200" b="0">
                <a:solidFill>
                  <a:srgbClr val="0B1F3A"/>
                </a:solidFill>
                <a:latin typeface="Calibri"/>
              </a:rPr>
              <a:t>•  Goal: find the molecular ground-state energy  E₀ = min ⟨ψ|H|ψ⟩</a:t>
            </a:r>
          </a:p>
          <a:p>
            <a:pPr algn="l">
              <a:spcAft>
                <a:spcPts val="900"/>
              </a:spcAft>
            </a:pPr>
            <a:r>
              <a:rPr sz="2200" b="0">
                <a:solidFill>
                  <a:srgbClr val="0B1F3A"/>
                </a:solidFill>
                <a:latin typeface="Calibri"/>
              </a:rPr>
              <a:t>•  Idea: evolve in imaginary time, e^{−τH}, which filters out excited states</a:t>
            </a:r>
          </a:p>
          <a:p>
            <a:pPr algn="l">
              <a:spcAft>
                <a:spcPts val="900"/>
              </a:spcAft>
            </a:pPr>
            <a:r>
              <a:rPr sz="2200" b="0">
                <a:solidFill>
                  <a:srgbClr val="0B1F3A"/>
                </a:solidFill>
                <a:latin typeface="Calibri"/>
              </a:rPr>
              <a:t>•  Obstacle: e^{−τH} is not unitary, so it is not a circuit</a:t>
            </a:r>
          </a:p>
          <a:p>
            <a:pPr algn="l">
              <a:spcAft>
                <a:spcPts val="900"/>
              </a:spcAft>
            </a:pPr>
            <a:r>
              <a:rPr sz="2200" b="0">
                <a:solidFill>
                  <a:srgbClr val="0B1F3A"/>
                </a:solidFill>
                <a:latin typeface="Calibri"/>
              </a:rPr>
              <a:t>•  QITE: replace each small step by a unitary e^{−iΔτA}, with A fitted from measured Pauli expectation values</a:t>
            </a:r>
          </a:p>
          <a:p>
            <a:pPr algn="l">
              <a:spcAft>
                <a:spcPts val="900"/>
              </a:spcAft>
            </a:pPr>
            <a:r>
              <a:rPr sz="2200" b="0">
                <a:solidFill>
                  <a:srgbClr val="0B1F3A"/>
                </a:solidFill>
                <a:latin typeface="Calibri"/>
              </a:rPr>
              <a:t>•  Then: cost, pitfalls, comparison with Quantum Krylov, a worked H₂ check, and a benchmark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Why imaginary time finds the ground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675120" cy="9144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675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03399"/>
                </a:solidFill>
                <a:latin typeface="Cambria Math"/>
              </a:rPr>
              <a:t>|ψ(τ)⟩ ∝ e^{−τH}|ψ₀⟩ = e^{−τE₀}[ c₀|E₀⟩ + Σₙ&gt;₀ cₙ e^{−τ(Eₙ−E₀)} |Eₙ⟩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66751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Excited weight decays like e^{−2τ(Eₙ−E₀)}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Needs overlap c₀ ≠ 0 (HF: |c₀|² ≈ 0.99 for H₂)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E(τ) − E₀ = O(e^{−2τΔ}): the gap Δ sets the cost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Only the gap within the starting symmetry sector matters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Continuous power iteration</a:t>
            </a:r>
          </a:p>
        </p:txBody>
      </p:sp>
      <p:pic>
        <p:nvPicPr>
          <p:cNvPr id="8" name="Picture 7" descr="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63040"/>
            <a:ext cx="4480560" cy="29252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energy only goes down (exact ITE)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8229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>
                <a:solidFill>
                  <a:srgbClr val="003399"/>
                </a:solidFill>
                <a:latin typeface="Cambria Math"/>
              </a:rPr>
              <a:t>d|ψ⟩/dτ = −(H − E)|ψ⟩          dE/dτ = −2 Var_ψ(H) ≤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Proof: dE/dτ = 2 Re⟨ψ|H|ψ̇⟩ = −2 Re⟨ψ|H(H−E)|ψ⟩ = −2(⟨H²⟩ − ⟨H⟩²)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Monotone descent, stationary only at eigenstates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Practical diagnostic: if measured E rises, suspect domain size, Δτ, ill-conditioned S, or noise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Var(H) → 0 certifies an eigenstate: an eigenvalue lies within √Var of 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Why we cannot just run e^{−τH}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200" b="0">
                <a:solidFill>
                  <a:srgbClr val="0B1F3A"/>
                </a:solidFill>
                <a:latin typeface="Calibri"/>
              </a:rPr>
              <a:t>•  A circuit implements a unitary: U†U = I</a:t>
            </a:r>
          </a:p>
          <a:p>
            <a:pPr algn="l">
              <a:spcAft>
                <a:spcPts val="900"/>
              </a:spcAft>
            </a:pPr>
            <a:r>
              <a:rPr sz="2200" b="0">
                <a:solidFill>
                  <a:srgbClr val="0B1F3A"/>
                </a:solidFill>
                <a:latin typeface="Calibri"/>
              </a:rPr>
              <a:t>•  (e^{−τH})† e^{−τH} = e^{−2τH} ≠ I — it rescales each eigencomponent by e^{−τEₙ}</a:t>
            </a:r>
          </a:p>
          <a:p>
            <a:pPr algn="l">
              <a:spcAft>
                <a:spcPts val="900"/>
              </a:spcAft>
            </a:pPr>
            <a:r>
              <a:rPr sz="2200" b="0">
                <a:solidFill>
                  <a:srgbClr val="0B1F3A"/>
                </a:solidFill>
                <a:latin typeface="Calibri"/>
              </a:rPr>
              <a:t>•  Three workarounds: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555555"/>
                </a:solidFill>
                <a:latin typeface="Calibri"/>
              </a:rPr>
              <a:t>      – QITE: local unitary surrogate fitted to the current state (Motta et al. 2020)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555555"/>
                </a:solidFill>
                <a:latin typeface="Calibri"/>
              </a:rPr>
              <a:t>      – VarQITE: parametrised ansatz + McLachlan ODE for the parameters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555555"/>
                </a:solidFill>
                <a:latin typeface="Calibri"/>
              </a:rPr>
              <a:t>      – Probabilistic / block-encoding: ancilla + post-selection, success decays like e^{−τ}</a:t>
            </a:r>
          </a:p>
          <a:p>
            <a:pPr algn="l">
              <a:spcAft>
                <a:spcPts val="900"/>
              </a:spcAft>
            </a:pPr>
            <a:r>
              <a:rPr sz="2200" b="0">
                <a:solidFill>
                  <a:srgbClr val="0B1F3A"/>
                </a:solidFill>
                <a:latin typeface="Calibri"/>
              </a:rPr>
              <a:t>•  QITE and VarQITE are the NISQ-friendly options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QITE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003399"/>
                </a:solidFill>
                <a:latin typeface="Cambria Math"/>
              </a:rPr>
              <a:t>e^{−Δτ H} ≈ Π_m e^{−Δτ h_m}        e^{−Δτ h_m}|ψ⟩ / √c_m  ≈  e^{−iΔτ A_m}|ψ⟩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H = Σ_m h_m, with h_m = α_m P_m a Pauli string: e^{−Δτ h_m} = cosh(Δτα_m) − sinh(Δτα_m) P_m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c_m = ⟨ψ|e^{−2Δτ h_m}|ψ⟩ is the norm that is lost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A_m = Σ_μ a_μ σ_μ over a domain of Pauli strings near the support of h_m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Unitary step: e^{−iΔτ A_m} = product of Pauli rotations (CNOT ladder + R_z, or native ZZ gates)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Repeat over all terms m, then over steps, until E converges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Deriving the linear system for the coefficients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Expand to first order:  −iA|ψ⟩ ≈ |d⟩ := (|ψ′⟩ − |ψ⟩)/Δτ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Minimise ‖ −iA|ψ⟩ − |d⟩ ‖² over real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>
                <a:solidFill>
                  <a:srgbClr val="003399"/>
                </a:solidFill>
                <a:latin typeface="Cambria Math"/>
              </a:rPr>
              <a:t>S a = b      S_μν = Re⟨ψ|σ_μ σ_ν|ψ⟩      b_μ = −Im⟨ψ|σ_μ|d⟩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749039"/>
            <a:ext cx="8503920" cy="8229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749039"/>
            <a:ext cx="8503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003399"/>
                </a:solidFill>
                <a:latin typeface="Cambria Math"/>
              </a:rPr>
              <a:t>b_μ = sinh(Δτ α_m) / (Δτ √c_m) · Im⟨ψ|σ_μ P_m|ψ⟩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Nonzero only when σ_μ anticommutes with P_m  ⇒  each entry is one Pauli expectation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Only basis rotations + Z-measurements: no ancillas, no Hadamard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algorithm (one imaginary-time 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200" b="0">
                <a:solidFill>
                  <a:srgbClr val="0B1F3A"/>
                </a:solidFill>
                <a:latin typeface="Calibri"/>
              </a:rPr>
              <a:t>•  1.  Prepare |ψ⟩ = U_k ⋯ U₁ |ψ₀⟩   (all previous unitaries)</a:t>
            </a:r>
          </a:p>
          <a:p>
            <a:pPr algn="l">
              <a:spcAft>
                <a:spcPts val="900"/>
              </a:spcAft>
            </a:pPr>
            <a:r>
              <a:rPr sz="2200" b="0">
                <a:solidFill>
                  <a:srgbClr val="0B1F3A"/>
                </a:solidFill>
                <a:latin typeface="Calibri"/>
              </a:rPr>
              <a:t>•  2.  For each Hamiltonian term m: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555555"/>
                </a:solidFill>
                <a:latin typeface="Calibri"/>
              </a:rPr>
              <a:t>      – choose domain D_m; measure ⟨h_m⟩, S_μν, b_μ on the device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555555"/>
                </a:solidFill>
                <a:latin typeface="Calibri"/>
              </a:rPr>
              <a:t>      – solve S a = b (regularised least squares, classical)</a:t>
            </a:r>
          </a:p>
          <a:p>
            <a:pPr algn="l">
              <a:spcAft>
                <a:spcPts val="400"/>
              </a:spcAft>
            </a:pPr>
            <a:r>
              <a:rPr sz="1900" b="0">
                <a:solidFill>
                  <a:srgbClr val="555555"/>
                </a:solidFill>
                <a:latin typeface="Calibri"/>
              </a:rPr>
              <a:t>      – append U = exp(−iΔτ Σ a_μ σ_μ) to the circuit</a:t>
            </a:r>
          </a:p>
          <a:p>
            <a:pPr algn="l">
              <a:spcAft>
                <a:spcPts val="900"/>
              </a:spcAft>
            </a:pPr>
            <a:r>
              <a:rPr sz="2200" b="0">
                <a:solidFill>
                  <a:srgbClr val="0B1F3A"/>
                </a:solidFill>
                <a:latin typeface="Calibri"/>
              </a:rPr>
              <a:t>•  3.  Measure E = ⟨H⟩ and Var(H); stop when converged</a:t>
            </a:r>
          </a:p>
          <a:p>
            <a:pPr algn="l">
              <a:spcAft>
                <a:spcPts val="900"/>
              </a:spcAft>
            </a:pPr>
            <a:r>
              <a:rPr sz="2200" b="0">
                <a:solidFill>
                  <a:srgbClr val="0B1F3A"/>
                </a:solidFill>
                <a:latin typeface="Calibri"/>
              </a:rPr>
              <a:t>•  Quantum device: measurements + state prep.   Classical computer: small linear solves.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Cost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100" b="0">
                <a:solidFill>
                  <a:srgbClr val="0B1F3A"/>
                </a:solidFill>
                <a:latin typeface="Calibri"/>
              </a:rPr>
              <a:t>•  Circuit depth grows linearly with the number of steps: step k runs U_k ⋯ U₁|ψ₀⟩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      – each step is shallow, the total is not — re-preparing the prefix is part of the cost</a:t>
            </a:r>
          </a:p>
          <a:p>
            <a:pPr algn="l">
              <a:spcAft>
                <a:spcPts val="900"/>
              </a:spcAft>
            </a:pPr>
            <a:r>
              <a:rPr sz="2100" b="0">
                <a:solidFill>
                  <a:srgbClr val="0B1F3A"/>
                </a:solidFill>
                <a:latin typeface="Calibri"/>
              </a:rPr>
              <a:t>•  Domain size D: strings grow like 4^D; error falls like e^{−D/ξ} only for finite correlation length ξ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      – molecules after fermion→qubit maps are non-local: domain can be exponential</a:t>
            </a:r>
          </a:p>
          <a:p>
            <a:pPr algn="l">
              <a:spcAft>
                <a:spcPts val="900"/>
              </a:spcAft>
            </a:pPr>
            <a:r>
              <a:rPr sz="2100" b="0">
                <a:solidFill>
                  <a:srgbClr val="0B1F3A"/>
                </a:solidFill>
                <a:latin typeface="Calibri"/>
              </a:rPr>
              <a:t>•  S becomes singular near the ground state; shot noise is amplified by cond(S)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      – regularise / truncated SVD; adaptive Δτ</a:t>
            </a:r>
          </a:p>
          <a:p>
            <a:pPr algn="l">
              <a:spcAft>
                <a:spcPts val="900"/>
              </a:spcAft>
            </a:pPr>
            <a:r>
              <a:rPr sz="2100" b="0">
                <a:solidFill>
                  <a:srgbClr val="0B1F3A"/>
                </a:solidFill>
                <a:latin typeface="Calibri"/>
              </a:rPr>
              <a:t>•  Δτ: too large → Trotter and first-order error; too small → many noisy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Related: variational QITE (McLachlan)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8229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>
                <a:solidFill>
                  <a:srgbClr val="003399"/>
                </a:solidFill>
                <a:latin typeface="Cambria Math"/>
              </a:rPr>
              <a:t>Σ_j M_ij θ̇_j = −C_i      M_ij = Re⟨∂ᵢψ|∂ⱼψ⟩      C_i = ½ ∂ᵢE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100" b="0">
                <a:solidFill>
                  <a:srgbClr val="0B1F3A"/>
                </a:solidFill>
                <a:latin typeface="Calibri"/>
              </a:rPr>
              <a:t>•  Equivalent to natural-gradient descent on E(θ)</a:t>
            </a:r>
          </a:p>
          <a:p>
            <a:pPr algn="l">
              <a:spcAft>
                <a:spcPts val="900"/>
              </a:spcAft>
            </a:pPr>
            <a:r>
              <a:rPr sz="2100" b="0">
                <a:solidFill>
                  <a:srgbClr val="0B1F3A"/>
                </a:solidFill>
                <a:latin typeface="Calibri"/>
              </a:rPr>
              <a:t>•  Fixed circuit depth (set by the ansatz) but limited by ansatz expressibility and local minima</a:t>
            </a:r>
          </a:p>
          <a:p>
            <a:pPr algn="l">
              <a:spcAft>
                <a:spcPts val="900"/>
              </a:spcAft>
            </a:pPr>
            <a:r>
              <a:rPr sz="2100" b="0">
                <a:solidFill>
                  <a:srgbClr val="0B1F3A"/>
                </a:solidFill>
                <a:latin typeface="Calibri"/>
              </a:rPr>
              <a:t>•  QITE has no ansatz but a growing circuit — a growing-ansatz version of the same linear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QITE vs Quantum Krylov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754880"/>
                <a:gridCol w="4480560"/>
              </a:tblGrid>
              <a:tr h="640079">
                <a:tc>
                  <a:txBody>
                    <a:bodyPr/>
                    <a:lstStyle/>
                    <a:p/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Quantum Krylov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QITE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Idea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Build subspace, solve eigenproblem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Drive state toward E₀ step by step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Quantum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Overlaps ⟨ψ₀|e^{−iHt}|ψ₀⟩, ⟨ψ₀|H e^{−iHt}|ψ₀⟩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Pauli expectations S, b at every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Circuit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Fixed e^{−iHt} (Trotter), depth ∝ t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Prefix grows with step number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Classical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One small generalised eigenproblem H C = E S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Least-squares solve per term per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Main error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Trotter; ill-conditioned 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Domain, first-order Δτ, ill-conditioned 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64008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Enters overlaps; threshold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Accumulates in the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Worked check: H₂ (STO-3G, 0.735 Å, 2 qubits)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  <p:pic>
        <p:nvPicPr>
          <p:cNvPr id="5" name="Picture 4" descr="h2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680960" cy="29016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188720"/>
            <a:ext cx="38404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•  E_FCI = −1.857275 Ha; HF error 20.3 mHa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•  Exact S, b: chemical accuracy in 7 steps; best error 3×10⁻⁸ at τ=1.6, then settles at 1.3×10⁻⁴: Trotter error, ∝ Δτ²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•  10³ shots/entry: error ≈0.15 Ha, worse than HF; ridge ≫ noise fixes it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•  10⁵ shots/entry: ≈2×10⁻³ Ha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•  Krylov exact at K=2: H₂ is a 2×2 sector, so it tests correctness, not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74980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00000"/>
                </a:solidFill>
                <a:latin typeface="Calibri"/>
              </a:rPr>
              <a:t>Shot noise, not algorithmic error, dominates; use ≥ 4-qubit systems (LiH, H₄) to discriminate methods.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Benchmark design on Quantinuum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|E − E_FCI| (mHa), Var(H) if available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Shots / circuits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Totals over ALL circuits incl. S, b, overlaps; distinct executions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Depth, 2Q gates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Max depth and total N₂q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Qubits,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F3A"/>
                          </a:solidFill>
                          <a:latin typeface="Calibri"/>
                        </a:rPr>
                        <a:t>N_q (+ancilla); wall time, queue separately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2336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A  ideal simulation   B  shared noisy simulation   C  Quantinuum hardware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D  fixed budget (shots / N₂q)  →  compare accuracy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E  scaling: |E − E_FCI| vs hardware cost, vary K (Krylov) and steps N (QITE)  ← central figure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Fair-comparison rules and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Same HF start, mapping, tapering, Hamiltonian grouping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Count every circuit, including repeated QITE prefixes and Hadamard-test ancillas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Tune hyper-parameters (Δτ, domain, regularisation; δt, K, threshold) on a noisy simulator, then freeze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Repeat over seeds; add HF and fixed-ansatz VQE baselines</a:t>
            </a:r>
          </a:p>
          <a:p>
            <a:pPr algn="l">
              <a:spcAft>
                <a:spcPts val="900"/>
              </a:spcAft>
            </a:pPr>
            <a:r>
              <a:rPr sz="2000" b="0">
                <a:solidFill>
                  <a:srgbClr val="0B1F3A"/>
                </a:solidFill>
                <a:latin typeface="Calibri"/>
              </a:rPr>
              <a:t>•  QITE is not better just because it is another ground-state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3399"/>
                </a:solidFill>
                <a:latin typeface="Calibri"/>
              </a:rPr>
              <a:t>Research question: under identical Quantinuum resource constraints, how do QITE and Quantum Krylov trade accuracy, circuit depth, measurements and robustness?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References (check before citing)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Motta et al., Nature Physics 16, 205 (2020) — QITE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McArdle et al., npj Quantum Information 5, 75 (2019) — variational ITE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Parrish &amp; McMahon, arXiv:1909.08925 — quantum filter diagonalisation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Stair, Huang, Evangelista, JCTC 16, 2236 (2020) — multireference quantum Krylov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Epperly, Lin, Nakatsukasa, SIMAX 43, 1263 (2022) — theory of quantum subspace diagonalisation</a:t>
            </a:r>
          </a:p>
          <a:p>
            <a:pPr algn="l">
              <a:spcAft>
                <a:spcPts val="9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•  Companion notes and code: quantum-imaginary-time-evolution.pdf, code/qite_h2.py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